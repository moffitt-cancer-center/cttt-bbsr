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2" r:id="rId2"/>
    <p:sldId id="279" r:id="rId3"/>
    <p:sldId id="280" r:id="rId4"/>
    <p:sldId id="284" r:id="rId5"/>
    <p:sldId id="283" r:id="rId6"/>
    <p:sldId id="256" r:id="rId7"/>
    <p:sldId id="261" r:id="rId8"/>
    <p:sldId id="264" r:id="rId9"/>
    <p:sldId id="265" r:id="rId10"/>
    <p:sldId id="269" r:id="rId11"/>
    <p:sldId id="270" r:id="rId12"/>
    <p:sldId id="271" r:id="rId13"/>
    <p:sldId id="272" r:id="rId14"/>
    <p:sldId id="266" r:id="rId15"/>
    <p:sldId id="275" r:id="rId16"/>
    <p:sldId id="258" r:id="rId17"/>
    <p:sldId id="259" r:id="rId18"/>
    <p:sldId id="268" r:id="rId19"/>
    <p:sldId id="273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BDEF63-FF2E-4A29-88CB-FE4CD85572E2}" v="1" dt="2025-11-20T15:51:28.519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571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o, Biwei" userId="33c17ba9-c33a-4614-bacb-966eb41f919b" providerId="ADAL" clId="{831218B6-89D9-4716-9A0B-872A9C8C3756}"/>
    <pc:docChg chg="custSel addSld modSld">
      <pc:chgData name="Cao, Biwei" userId="33c17ba9-c33a-4614-bacb-966eb41f919b" providerId="ADAL" clId="{831218B6-89D9-4716-9A0B-872A9C8C3756}" dt="2025-11-20T15:53:13.860" v="81" actId="22"/>
      <pc:docMkLst>
        <pc:docMk/>
      </pc:docMkLst>
      <pc:sldChg chg="addSp new mod">
        <pc:chgData name="Cao, Biwei" userId="33c17ba9-c33a-4614-bacb-966eb41f919b" providerId="ADAL" clId="{831218B6-89D9-4716-9A0B-872A9C8C3756}" dt="2025-11-20T15:49:25.367" v="1" actId="22"/>
        <pc:sldMkLst>
          <pc:docMk/>
          <pc:sldMk cId="2102135206" sldId="279"/>
        </pc:sldMkLst>
        <pc:picChg chg="add">
          <ac:chgData name="Cao, Biwei" userId="33c17ba9-c33a-4614-bacb-966eb41f919b" providerId="ADAL" clId="{831218B6-89D9-4716-9A0B-872A9C8C3756}" dt="2025-11-20T15:49:25.367" v="1" actId="22"/>
          <ac:picMkLst>
            <pc:docMk/>
            <pc:sldMk cId="2102135206" sldId="279"/>
            <ac:picMk id="3" creationId="{E1F1A5BA-A275-2EB0-96DE-B7E98B73BB85}"/>
          </ac:picMkLst>
        </pc:picChg>
      </pc:sldChg>
      <pc:sldChg chg="addSp new mod">
        <pc:chgData name="Cao, Biwei" userId="33c17ba9-c33a-4614-bacb-966eb41f919b" providerId="ADAL" clId="{831218B6-89D9-4716-9A0B-872A9C8C3756}" dt="2025-11-20T15:50:09.651" v="3" actId="22"/>
        <pc:sldMkLst>
          <pc:docMk/>
          <pc:sldMk cId="1737004855" sldId="280"/>
        </pc:sldMkLst>
        <pc:picChg chg="add">
          <ac:chgData name="Cao, Biwei" userId="33c17ba9-c33a-4614-bacb-966eb41f919b" providerId="ADAL" clId="{831218B6-89D9-4716-9A0B-872A9C8C3756}" dt="2025-11-20T15:50:09.651" v="3" actId="22"/>
          <ac:picMkLst>
            <pc:docMk/>
            <pc:sldMk cId="1737004855" sldId="280"/>
            <ac:picMk id="3" creationId="{F14561AB-66E6-1848-C200-D20CE0C233DA}"/>
          </ac:picMkLst>
        </pc:picChg>
      </pc:sldChg>
      <pc:sldChg chg="addSp modSp new mod">
        <pc:chgData name="Cao, Biwei" userId="33c17ba9-c33a-4614-bacb-966eb41f919b" providerId="ADAL" clId="{831218B6-89D9-4716-9A0B-872A9C8C3756}" dt="2025-11-20T15:50:57.147" v="8" actId="14100"/>
        <pc:sldMkLst>
          <pc:docMk/>
          <pc:sldMk cId="2386532980" sldId="281"/>
        </pc:sldMkLst>
        <pc:picChg chg="add mod">
          <ac:chgData name="Cao, Biwei" userId="33c17ba9-c33a-4614-bacb-966eb41f919b" providerId="ADAL" clId="{831218B6-89D9-4716-9A0B-872A9C8C3756}" dt="2025-11-20T15:50:57.147" v="8" actId="14100"/>
          <ac:picMkLst>
            <pc:docMk/>
            <pc:sldMk cId="2386532980" sldId="281"/>
            <ac:picMk id="3" creationId="{23FF7CBB-9729-35D9-501A-642085817F9E}"/>
          </ac:picMkLst>
        </pc:picChg>
      </pc:sldChg>
      <pc:sldChg chg="modSp new mod">
        <pc:chgData name="Cao, Biwei" userId="33c17ba9-c33a-4614-bacb-966eb41f919b" providerId="ADAL" clId="{831218B6-89D9-4716-9A0B-872A9C8C3756}" dt="2025-11-20T15:52:03.014" v="79" actId="20577"/>
        <pc:sldMkLst>
          <pc:docMk/>
          <pc:sldMk cId="26521524" sldId="282"/>
        </pc:sldMkLst>
        <pc:spChg chg="mod">
          <ac:chgData name="Cao, Biwei" userId="33c17ba9-c33a-4614-bacb-966eb41f919b" providerId="ADAL" clId="{831218B6-89D9-4716-9A0B-872A9C8C3756}" dt="2025-11-20T15:51:28.647" v="11" actId="27636"/>
          <ac:spMkLst>
            <pc:docMk/>
            <pc:sldMk cId="26521524" sldId="282"/>
            <ac:spMk id="2" creationId="{568590F7-AD1E-F90C-5DCE-2FC04A036062}"/>
          </ac:spMkLst>
        </pc:spChg>
        <pc:spChg chg="mod">
          <ac:chgData name="Cao, Biwei" userId="33c17ba9-c33a-4614-bacb-966eb41f919b" providerId="ADAL" clId="{831218B6-89D9-4716-9A0B-872A9C8C3756}" dt="2025-11-20T15:52:03.014" v="79" actId="20577"/>
          <ac:spMkLst>
            <pc:docMk/>
            <pc:sldMk cId="26521524" sldId="282"/>
            <ac:spMk id="3" creationId="{3B3E5851-0DD0-ADAB-FA1F-3BD361E2F5D4}"/>
          </ac:spMkLst>
        </pc:spChg>
      </pc:sldChg>
      <pc:sldChg chg="addSp new mod">
        <pc:chgData name="Cao, Biwei" userId="33c17ba9-c33a-4614-bacb-966eb41f919b" providerId="ADAL" clId="{831218B6-89D9-4716-9A0B-872A9C8C3756}" dt="2025-11-20T15:53:13.860" v="81" actId="22"/>
        <pc:sldMkLst>
          <pc:docMk/>
          <pc:sldMk cId="1356851037" sldId="283"/>
        </pc:sldMkLst>
        <pc:picChg chg="add">
          <ac:chgData name="Cao, Biwei" userId="33c17ba9-c33a-4614-bacb-966eb41f919b" providerId="ADAL" clId="{831218B6-89D9-4716-9A0B-872A9C8C3756}" dt="2025-11-20T15:53:13.860" v="81" actId="22"/>
          <ac:picMkLst>
            <pc:docMk/>
            <pc:sldMk cId="1356851037" sldId="283"/>
            <ac:picMk id="3" creationId="{1B55FD45-448E-6BC7-51D5-A43504CC3BB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8F2649-FD1A-41A4-80C5-26720579531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D2E27F-09BC-4F0F-9907-216CBAB4F283}">
      <dgm:prSet/>
      <dgm:spPr/>
      <dgm:t>
        <a:bodyPr/>
        <a:lstStyle/>
        <a:p>
          <a:r>
            <a:rPr lang="en-US"/>
            <a:t>No unmeasured confounding</a:t>
          </a:r>
        </a:p>
      </dgm:t>
    </dgm:pt>
    <dgm:pt modelId="{58F7A028-F816-4D99-B75B-A468F055E2C0}" type="parTrans" cxnId="{CCFDFC63-0D37-4805-A96F-C8ABE3B34931}">
      <dgm:prSet/>
      <dgm:spPr/>
      <dgm:t>
        <a:bodyPr/>
        <a:lstStyle/>
        <a:p>
          <a:endParaRPr lang="en-US"/>
        </a:p>
      </dgm:t>
    </dgm:pt>
    <dgm:pt modelId="{CFB67696-5ADF-488B-AB76-8C916481EAC9}" type="sibTrans" cxnId="{CCFDFC63-0D37-4805-A96F-C8ABE3B34931}">
      <dgm:prSet/>
      <dgm:spPr/>
      <dgm:t>
        <a:bodyPr/>
        <a:lstStyle/>
        <a:p>
          <a:endParaRPr lang="en-US"/>
        </a:p>
      </dgm:t>
    </dgm:pt>
    <dgm:pt modelId="{17CCC948-CDFE-4260-AB37-1DFE58399BA0}">
      <dgm:prSet/>
      <dgm:spPr/>
      <dgm:t>
        <a:bodyPr/>
        <a:lstStyle/>
        <a:p>
          <a:r>
            <a:rPr lang="en-US"/>
            <a:t>Means: all the variables that influence both </a:t>
          </a:r>
          <a:r>
            <a:rPr lang="en-US" b="1"/>
            <a:t>treatment decisions</a:t>
          </a:r>
          <a:r>
            <a:rPr lang="en-US"/>
            <a:t> (e.g., switching) </a:t>
          </a:r>
          <a:r>
            <a:rPr lang="en-US" b="1"/>
            <a:t>and</a:t>
          </a:r>
          <a:r>
            <a:rPr lang="en-US"/>
            <a:t> </a:t>
          </a:r>
          <a:r>
            <a:rPr lang="en-US" b="1"/>
            <a:t>outcomes</a:t>
          </a:r>
          <a:r>
            <a:rPr lang="en-US"/>
            <a:t> (e.g., survival) are </a:t>
          </a:r>
          <a:r>
            <a:rPr lang="en-US" b="1"/>
            <a:t>observed</a:t>
          </a:r>
          <a:r>
            <a:rPr lang="en-US"/>
            <a:t> and </a:t>
          </a:r>
          <a:r>
            <a:rPr lang="en-US" b="1"/>
            <a:t>included</a:t>
          </a:r>
          <a:r>
            <a:rPr lang="en-US"/>
            <a:t> in the analysis</a:t>
          </a:r>
        </a:p>
      </dgm:t>
    </dgm:pt>
    <dgm:pt modelId="{83CB8990-43B6-4A21-959F-63809636615D}" type="parTrans" cxnId="{9B90C1EA-D448-4170-A6F6-0B3D53C73F52}">
      <dgm:prSet/>
      <dgm:spPr/>
      <dgm:t>
        <a:bodyPr/>
        <a:lstStyle/>
        <a:p>
          <a:endParaRPr lang="en-US"/>
        </a:p>
      </dgm:t>
    </dgm:pt>
    <dgm:pt modelId="{5EB4EE67-A332-4004-90F3-D0B4215383B8}" type="sibTrans" cxnId="{9B90C1EA-D448-4170-A6F6-0B3D53C73F52}">
      <dgm:prSet/>
      <dgm:spPr/>
      <dgm:t>
        <a:bodyPr/>
        <a:lstStyle/>
        <a:p>
          <a:endParaRPr lang="en-US"/>
        </a:p>
      </dgm:t>
    </dgm:pt>
    <dgm:pt modelId="{2AD62590-34B4-4452-A92D-28C5D5FE044E}">
      <dgm:prSet/>
      <dgm:spPr/>
      <dgm:t>
        <a:bodyPr/>
        <a:lstStyle/>
        <a:p>
          <a:r>
            <a:rPr lang="en-US"/>
            <a:t>Cannot be directly tested. In RCTs, reduce by </a:t>
          </a:r>
          <a:r>
            <a:rPr lang="en-US" b="1"/>
            <a:t>collecting all major prognostic factors</a:t>
          </a:r>
          <a:r>
            <a:rPr lang="en-US"/>
            <a:t> at trial-planning stage.</a:t>
          </a:r>
        </a:p>
      </dgm:t>
    </dgm:pt>
    <dgm:pt modelId="{3D9130EA-95C9-4EA5-8212-D0989B6ADB7E}" type="parTrans" cxnId="{7198EAEC-6285-4C85-BABA-7EB45452C63E}">
      <dgm:prSet/>
      <dgm:spPr/>
      <dgm:t>
        <a:bodyPr/>
        <a:lstStyle/>
        <a:p>
          <a:endParaRPr lang="en-US"/>
        </a:p>
      </dgm:t>
    </dgm:pt>
    <dgm:pt modelId="{952E603C-6D6C-46CE-8707-9E438F4C361C}" type="sibTrans" cxnId="{7198EAEC-6285-4C85-BABA-7EB45452C63E}">
      <dgm:prSet/>
      <dgm:spPr/>
      <dgm:t>
        <a:bodyPr/>
        <a:lstStyle/>
        <a:p>
          <a:endParaRPr lang="en-US"/>
        </a:p>
      </dgm:t>
    </dgm:pt>
    <dgm:pt modelId="{6F27F133-2565-4633-B284-B09A014ADDD8}">
      <dgm:prSet/>
      <dgm:spPr/>
      <dgm:t>
        <a:bodyPr/>
        <a:lstStyle/>
        <a:p>
          <a:r>
            <a:rPr lang="en-US"/>
            <a:t>Positivity (non-zero treatment probability)</a:t>
          </a:r>
        </a:p>
      </dgm:t>
    </dgm:pt>
    <dgm:pt modelId="{C8E515E9-891F-4741-9D59-E1E78679FAAD}" type="parTrans" cxnId="{71A4569B-09EB-448E-B3DA-4E07A9AE4DAA}">
      <dgm:prSet/>
      <dgm:spPr/>
      <dgm:t>
        <a:bodyPr/>
        <a:lstStyle/>
        <a:p>
          <a:endParaRPr lang="en-US"/>
        </a:p>
      </dgm:t>
    </dgm:pt>
    <dgm:pt modelId="{650E813A-1536-4FFB-90AC-A0AB96452D44}" type="sibTrans" cxnId="{71A4569B-09EB-448E-B3DA-4E07A9AE4DAA}">
      <dgm:prSet/>
      <dgm:spPr/>
      <dgm:t>
        <a:bodyPr/>
        <a:lstStyle/>
        <a:p>
          <a:endParaRPr lang="en-US"/>
        </a:p>
      </dgm:t>
    </dgm:pt>
    <dgm:pt modelId="{C668C6CD-2538-4F5E-856B-FDFE08F502E5}">
      <dgm:prSet/>
      <dgm:spPr/>
      <dgm:t>
        <a:bodyPr/>
        <a:lstStyle/>
        <a:p>
          <a:r>
            <a:rPr lang="en-US" dirty="0"/>
            <a:t>Means: Each patient must have a </a:t>
          </a:r>
          <a:r>
            <a:rPr lang="en-US" b="1" dirty="0"/>
            <a:t>positive probability of switching and not switching</a:t>
          </a:r>
          <a:r>
            <a:rPr lang="en-US" dirty="0"/>
            <a:t> for any confounder pattern</a:t>
          </a:r>
        </a:p>
      </dgm:t>
    </dgm:pt>
    <dgm:pt modelId="{A44730E4-8F78-4842-93F5-E35A68F48CCF}" type="parTrans" cxnId="{CE7BD303-DE20-4600-A63C-B58630E2C50B}">
      <dgm:prSet/>
      <dgm:spPr/>
      <dgm:t>
        <a:bodyPr/>
        <a:lstStyle/>
        <a:p>
          <a:endParaRPr lang="en-US"/>
        </a:p>
      </dgm:t>
    </dgm:pt>
    <dgm:pt modelId="{FBED14B7-73A1-4FC6-BAD0-DE7BD0924AA3}" type="sibTrans" cxnId="{CE7BD303-DE20-4600-A63C-B58630E2C50B}">
      <dgm:prSet/>
      <dgm:spPr/>
      <dgm:t>
        <a:bodyPr/>
        <a:lstStyle/>
        <a:p>
          <a:endParaRPr lang="en-US"/>
        </a:p>
      </dgm:t>
    </dgm:pt>
    <dgm:pt modelId="{D84C6FA3-50E2-4D74-9566-C0AAB9D6AB2A}">
      <dgm:prSet/>
      <dgm:spPr/>
      <dgm:t>
        <a:bodyPr/>
        <a:lstStyle/>
        <a:p>
          <a:r>
            <a:rPr lang="en-US" b="1"/>
            <a:t>Structural non-positivity:</a:t>
          </a:r>
          <a:r>
            <a:rPr lang="en-US"/>
            <a:t> e.g., only control-arm patients can switch </a:t>
          </a:r>
        </a:p>
      </dgm:t>
    </dgm:pt>
    <dgm:pt modelId="{0277E7A5-F25E-44D7-B3F2-2BB8E2CE21A9}" type="parTrans" cxnId="{DA3FE7C4-55D9-4FC1-BCE2-E0499D69BE9A}">
      <dgm:prSet/>
      <dgm:spPr/>
      <dgm:t>
        <a:bodyPr/>
        <a:lstStyle/>
        <a:p>
          <a:endParaRPr lang="en-US"/>
        </a:p>
      </dgm:t>
    </dgm:pt>
    <dgm:pt modelId="{77181D07-991A-4419-ABEF-A57EF0438707}" type="sibTrans" cxnId="{DA3FE7C4-55D9-4FC1-BCE2-E0499D69BE9A}">
      <dgm:prSet/>
      <dgm:spPr/>
      <dgm:t>
        <a:bodyPr/>
        <a:lstStyle/>
        <a:p>
          <a:endParaRPr lang="en-US"/>
        </a:p>
      </dgm:t>
    </dgm:pt>
    <dgm:pt modelId="{3E7C6E99-F4BE-4FD7-AA5F-8E67A337FF5C}">
      <dgm:prSet/>
      <dgm:spPr/>
      <dgm:t>
        <a:bodyPr/>
        <a:lstStyle/>
        <a:p>
          <a:r>
            <a:rPr lang="en-US" b="1"/>
            <a:t>Random non-positivity:</a:t>
          </a:r>
          <a:r>
            <a:rPr lang="en-US"/>
            <a:t> small N, too many weak covariates, or sparse data late in follow-up.</a:t>
          </a:r>
        </a:p>
      </dgm:t>
    </dgm:pt>
    <dgm:pt modelId="{C7C83FCD-282D-4494-9461-FAAA5A8A1CF4}" type="parTrans" cxnId="{1E913E0D-83FD-4C2E-991B-96EC81C0F5D3}">
      <dgm:prSet/>
      <dgm:spPr/>
      <dgm:t>
        <a:bodyPr/>
        <a:lstStyle/>
        <a:p>
          <a:endParaRPr lang="en-US"/>
        </a:p>
      </dgm:t>
    </dgm:pt>
    <dgm:pt modelId="{90D1E221-2B69-4938-998B-61AE89284449}" type="sibTrans" cxnId="{1E913E0D-83FD-4C2E-991B-96EC81C0F5D3}">
      <dgm:prSet/>
      <dgm:spPr/>
      <dgm:t>
        <a:bodyPr/>
        <a:lstStyle/>
        <a:p>
          <a:endParaRPr lang="en-US"/>
        </a:p>
      </dgm:t>
    </dgm:pt>
    <dgm:pt modelId="{137579F7-C675-40FF-B810-5C75884353FC}" type="pres">
      <dgm:prSet presAssocID="{D98F2649-FD1A-41A4-80C5-267205795317}" presName="linear" presStyleCnt="0">
        <dgm:presLayoutVars>
          <dgm:dir/>
          <dgm:animLvl val="lvl"/>
          <dgm:resizeHandles val="exact"/>
        </dgm:presLayoutVars>
      </dgm:prSet>
      <dgm:spPr/>
    </dgm:pt>
    <dgm:pt modelId="{45A5A8C3-5F42-422D-984F-62D972E9B8E7}" type="pres">
      <dgm:prSet presAssocID="{47D2E27F-09BC-4F0F-9907-216CBAB4F283}" presName="parentLin" presStyleCnt="0"/>
      <dgm:spPr/>
    </dgm:pt>
    <dgm:pt modelId="{09A09F37-18B8-484B-B84C-758F389A9A80}" type="pres">
      <dgm:prSet presAssocID="{47D2E27F-09BC-4F0F-9907-216CBAB4F283}" presName="parentLeftMargin" presStyleLbl="node1" presStyleIdx="0" presStyleCnt="2"/>
      <dgm:spPr/>
    </dgm:pt>
    <dgm:pt modelId="{C5B13E29-1F10-4368-8F31-45625286BB24}" type="pres">
      <dgm:prSet presAssocID="{47D2E27F-09BC-4F0F-9907-216CBAB4F28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93469B5-F942-43B1-BB33-3598357F7C8F}" type="pres">
      <dgm:prSet presAssocID="{47D2E27F-09BC-4F0F-9907-216CBAB4F283}" presName="negativeSpace" presStyleCnt="0"/>
      <dgm:spPr/>
    </dgm:pt>
    <dgm:pt modelId="{7673A4E8-BB66-45B4-BC05-365B95CAC5AE}" type="pres">
      <dgm:prSet presAssocID="{47D2E27F-09BC-4F0F-9907-216CBAB4F283}" presName="childText" presStyleLbl="conFgAcc1" presStyleIdx="0" presStyleCnt="2">
        <dgm:presLayoutVars>
          <dgm:bulletEnabled val="1"/>
        </dgm:presLayoutVars>
      </dgm:prSet>
      <dgm:spPr/>
    </dgm:pt>
    <dgm:pt modelId="{D3DB3A51-1099-4E66-8ADE-EAA5BBA3CD08}" type="pres">
      <dgm:prSet presAssocID="{CFB67696-5ADF-488B-AB76-8C916481EAC9}" presName="spaceBetweenRectangles" presStyleCnt="0"/>
      <dgm:spPr/>
    </dgm:pt>
    <dgm:pt modelId="{D49C4FF3-E74F-4F84-BAE0-11287514AA7A}" type="pres">
      <dgm:prSet presAssocID="{6F27F133-2565-4633-B284-B09A014ADDD8}" presName="parentLin" presStyleCnt="0"/>
      <dgm:spPr/>
    </dgm:pt>
    <dgm:pt modelId="{ACC3FCEF-F4C0-44AC-B6A3-C2FC08C6A02D}" type="pres">
      <dgm:prSet presAssocID="{6F27F133-2565-4633-B284-B09A014ADDD8}" presName="parentLeftMargin" presStyleLbl="node1" presStyleIdx="0" presStyleCnt="2"/>
      <dgm:spPr/>
    </dgm:pt>
    <dgm:pt modelId="{D9333225-DA27-4F9E-951A-07081106DB78}" type="pres">
      <dgm:prSet presAssocID="{6F27F133-2565-4633-B284-B09A014ADDD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1541705-2954-4085-8F29-8D74BB116D20}" type="pres">
      <dgm:prSet presAssocID="{6F27F133-2565-4633-B284-B09A014ADDD8}" presName="negativeSpace" presStyleCnt="0"/>
      <dgm:spPr/>
    </dgm:pt>
    <dgm:pt modelId="{98A5A978-CA9A-49C9-A56E-B8C70D2EDEF9}" type="pres">
      <dgm:prSet presAssocID="{6F27F133-2565-4633-B284-B09A014ADDD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E7BD303-DE20-4600-A63C-B58630E2C50B}" srcId="{6F27F133-2565-4633-B284-B09A014ADDD8}" destId="{C668C6CD-2538-4F5E-856B-FDFE08F502E5}" srcOrd="0" destOrd="0" parTransId="{A44730E4-8F78-4842-93F5-E35A68F48CCF}" sibTransId="{FBED14B7-73A1-4FC6-BAD0-DE7BD0924AA3}"/>
    <dgm:cxn modelId="{1E913E0D-83FD-4C2E-991B-96EC81C0F5D3}" srcId="{6F27F133-2565-4633-B284-B09A014ADDD8}" destId="{3E7C6E99-F4BE-4FD7-AA5F-8E67A337FF5C}" srcOrd="2" destOrd="0" parTransId="{C7C83FCD-282D-4494-9461-FAAA5A8A1CF4}" sibTransId="{90D1E221-2B69-4938-998B-61AE89284449}"/>
    <dgm:cxn modelId="{B4365736-4D49-429D-B8A3-7049F8EE1771}" type="presOf" srcId="{47D2E27F-09BC-4F0F-9907-216CBAB4F283}" destId="{09A09F37-18B8-484B-B84C-758F389A9A80}" srcOrd="0" destOrd="0" presId="urn:microsoft.com/office/officeart/2005/8/layout/list1"/>
    <dgm:cxn modelId="{CCFDFC63-0D37-4805-A96F-C8ABE3B34931}" srcId="{D98F2649-FD1A-41A4-80C5-267205795317}" destId="{47D2E27F-09BC-4F0F-9907-216CBAB4F283}" srcOrd="0" destOrd="0" parTransId="{58F7A028-F816-4D99-B75B-A468F055E2C0}" sibTransId="{CFB67696-5ADF-488B-AB76-8C916481EAC9}"/>
    <dgm:cxn modelId="{3671134A-DF9C-4777-A28D-0F52758DA72B}" type="presOf" srcId="{6F27F133-2565-4633-B284-B09A014ADDD8}" destId="{ACC3FCEF-F4C0-44AC-B6A3-C2FC08C6A02D}" srcOrd="0" destOrd="0" presId="urn:microsoft.com/office/officeart/2005/8/layout/list1"/>
    <dgm:cxn modelId="{4925F752-A9EB-473B-82D6-984A77AF0892}" type="presOf" srcId="{6F27F133-2565-4633-B284-B09A014ADDD8}" destId="{D9333225-DA27-4F9E-951A-07081106DB78}" srcOrd="1" destOrd="0" presId="urn:microsoft.com/office/officeart/2005/8/layout/list1"/>
    <dgm:cxn modelId="{3A026A7E-01B7-453F-ACB0-E5CA25120CEE}" type="presOf" srcId="{3E7C6E99-F4BE-4FD7-AA5F-8E67A337FF5C}" destId="{98A5A978-CA9A-49C9-A56E-B8C70D2EDEF9}" srcOrd="0" destOrd="2" presId="urn:microsoft.com/office/officeart/2005/8/layout/list1"/>
    <dgm:cxn modelId="{71A4569B-09EB-448E-B3DA-4E07A9AE4DAA}" srcId="{D98F2649-FD1A-41A4-80C5-267205795317}" destId="{6F27F133-2565-4633-B284-B09A014ADDD8}" srcOrd="1" destOrd="0" parTransId="{C8E515E9-891F-4741-9D59-E1E78679FAAD}" sibTransId="{650E813A-1536-4FFB-90AC-A0AB96452D44}"/>
    <dgm:cxn modelId="{7337CF9E-A05C-4BAB-B804-DFA26E7BD0E9}" type="presOf" srcId="{47D2E27F-09BC-4F0F-9907-216CBAB4F283}" destId="{C5B13E29-1F10-4368-8F31-45625286BB24}" srcOrd="1" destOrd="0" presId="urn:microsoft.com/office/officeart/2005/8/layout/list1"/>
    <dgm:cxn modelId="{776C03AC-7901-4B3B-8923-B46A8D84AAEC}" type="presOf" srcId="{2AD62590-34B4-4452-A92D-28C5D5FE044E}" destId="{7673A4E8-BB66-45B4-BC05-365B95CAC5AE}" srcOrd="0" destOrd="1" presId="urn:microsoft.com/office/officeart/2005/8/layout/list1"/>
    <dgm:cxn modelId="{DECD2AAF-D80D-4437-BA1A-D1CB75F7A167}" type="presOf" srcId="{D98F2649-FD1A-41A4-80C5-267205795317}" destId="{137579F7-C675-40FF-B810-5C75884353FC}" srcOrd="0" destOrd="0" presId="urn:microsoft.com/office/officeart/2005/8/layout/list1"/>
    <dgm:cxn modelId="{48F88CBD-FC80-4CE1-A001-BE7F75BAD110}" type="presOf" srcId="{C668C6CD-2538-4F5E-856B-FDFE08F502E5}" destId="{98A5A978-CA9A-49C9-A56E-B8C70D2EDEF9}" srcOrd="0" destOrd="0" presId="urn:microsoft.com/office/officeart/2005/8/layout/list1"/>
    <dgm:cxn modelId="{DA3FE7C4-55D9-4FC1-BCE2-E0499D69BE9A}" srcId="{6F27F133-2565-4633-B284-B09A014ADDD8}" destId="{D84C6FA3-50E2-4D74-9566-C0AAB9D6AB2A}" srcOrd="1" destOrd="0" parTransId="{0277E7A5-F25E-44D7-B3F2-2BB8E2CE21A9}" sibTransId="{77181D07-991A-4419-ABEF-A57EF0438707}"/>
    <dgm:cxn modelId="{7FC15DD1-D58F-4370-9DCF-F31E70EB459C}" type="presOf" srcId="{17CCC948-CDFE-4260-AB37-1DFE58399BA0}" destId="{7673A4E8-BB66-45B4-BC05-365B95CAC5AE}" srcOrd="0" destOrd="0" presId="urn:microsoft.com/office/officeart/2005/8/layout/list1"/>
    <dgm:cxn modelId="{FA205ED5-3527-46F2-876C-327C6CFC0B72}" type="presOf" srcId="{D84C6FA3-50E2-4D74-9566-C0AAB9D6AB2A}" destId="{98A5A978-CA9A-49C9-A56E-B8C70D2EDEF9}" srcOrd="0" destOrd="1" presId="urn:microsoft.com/office/officeart/2005/8/layout/list1"/>
    <dgm:cxn modelId="{9B90C1EA-D448-4170-A6F6-0B3D53C73F52}" srcId="{47D2E27F-09BC-4F0F-9907-216CBAB4F283}" destId="{17CCC948-CDFE-4260-AB37-1DFE58399BA0}" srcOrd="0" destOrd="0" parTransId="{83CB8990-43B6-4A21-959F-63809636615D}" sibTransId="{5EB4EE67-A332-4004-90F3-D0B4215383B8}"/>
    <dgm:cxn modelId="{7198EAEC-6285-4C85-BABA-7EB45452C63E}" srcId="{47D2E27F-09BC-4F0F-9907-216CBAB4F283}" destId="{2AD62590-34B4-4452-A92D-28C5D5FE044E}" srcOrd="1" destOrd="0" parTransId="{3D9130EA-95C9-4EA5-8212-D0989B6ADB7E}" sibTransId="{952E603C-6D6C-46CE-8707-9E438F4C361C}"/>
    <dgm:cxn modelId="{FCBAD382-4FEB-485A-A175-79D059FF71E5}" type="presParOf" srcId="{137579F7-C675-40FF-B810-5C75884353FC}" destId="{45A5A8C3-5F42-422D-984F-62D972E9B8E7}" srcOrd="0" destOrd="0" presId="urn:microsoft.com/office/officeart/2005/8/layout/list1"/>
    <dgm:cxn modelId="{4B2B5CCC-3D42-4875-84C0-7E6B8E3D9EF3}" type="presParOf" srcId="{45A5A8C3-5F42-422D-984F-62D972E9B8E7}" destId="{09A09F37-18B8-484B-B84C-758F389A9A80}" srcOrd="0" destOrd="0" presId="urn:microsoft.com/office/officeart/2005/8/layout/list1"/>
    <dgm:cxn modelId="{3111D05B-C781-40FF-9721-DA40A9830388}" type="presParOf" srcId="{45A5A8C3-5F42-422D-984F-62D972E9B8E7}" destId="{C5B13E29-1F10-4368-8F31-45625286BB24}" srcOrd="1" destOrd="0" presId="urn:microsoft.com/office/officeart/2005/8/layout/list1"/>
    <dgm:cxn modelId="{51AE2E0F-4B79-4A80-A8DE-3B2797A3FDFD}" type="presParOf" srcId="{137579F7-C675-40FF-B810-5C75884353FC}" destId="{893469B5-F942-43B1-BB33-3598357F7C8F}" srcOrd="1" destOrd="0" presId="urn:microsoft.com/office/officeart/2005/8/layout/list1"/>
    <dgm:cxn modelId="{7AC0A886-914B-45B4-AFCA-C431C5E9A8C2}" type="presParOf" srcId="{137579F7-C675-40FF-B810-5C75884353FC}" destId="{7673A4E8-BB66-45B4-BC05-365B95CAC5AE}" srcOrd="2" destOrd="0" presId="urn:microsoft.com/office/officeart/2005/8/layout/list1"/>
    <dgm:cxn modelId="{F89222F5-941B-46AB-B7B8-7D43533331B6}" type="presParOf" srcId="{137579F7-C675-40FF-B810-5C75884353FC}" destId="{D3DB3A51-1099-4E66-8ADE-EAA5BBA3CD08}" srcOrd="3" destOrd="0" presId="urn:microsoft.com/office/officeart/2005/8/layout/list1"/>
    <dgm:cxn modelId="{6ADBC83C-90CB-4681-A74A-9CFE99D6767A}" type="presParOf" srcId="{137579F7-C675-40FF-B810-5C75884353FC}" destId="{D49C4FF3-E74F-4F84-BAE0-11287514AA7A}" srcOrd="4" destOrd="0" presId="urn:microsoft.com/office/officeart/2005/8/layout/list1"/>
    <dgm:cxn modelId="{16069348-9348-43C7-81E8-F1BBB1920193}" type="presParOf" srcId="{D49C4FF3-E74F-4F84-BAE0-11287514AA7A}" destId="{ACC3FCEF-F4C0-44AC-B6A3-C2FC08C6A02D}" srcOrd="0" destOrd="0" presId="urn:microsoft.com/office/officeart/2005/8/layout/list1"/>
    <dgm:cxn modelId="{29E36646-FB7B-4100-BA8E-EFD7CDBCAC37}" type="presParOf" srcId="{D49C4FF3-E74F-4F84-BAE0-11287514AA7A}" destId="{D9333225-DA27-4F9E-951A-07081106DB78}" srcOrd="1" destOrd="0" presId="urn:microsoft.com/office/officeart/2005/8/layout/list1"/>
    <dgm:cxn modelId="{28B18308-2987-4E13-99C0-A2AD699644F2}" type="presParOf" srcId="{137579F7-C675-40FF-B810-5C75884353FC}" destId="{41541705-2954-4085-8F29-8D74BB116D20}" srcOrd="5" destOrd="0" presId="urn:microsoft.com/office/officeart/2005/8/layout/list1"/>
    <dgm:cxn modelId="{92332895-F964-43FC-A6D2-E019CFC6B9D5}" type="presParOf" srcId="{137579F7-C675-40FF-B810-5C75884353FC}" destId="{98A5A978-CA9A-49C9-A56E-B8C70D2EDEF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7AC8D4-DD35-4BCC-B337-ED0FA4297B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56A892-7168-4D4C-B47D-C143D61F3D8C}">
      <dgm:prSet/>
      <dgm:spPr/>
      <dgm:t>
        <a:bodyPr/>
        <a:lstStyle/>
        <a:p>
          <a:r>
            <a:rPr lang="en-US" b="1" dirty="0"/>
            <a:t>Strong positivity requirement for treatment assignment</a:t>
          </a:r>
          <a:br>
            <a:rPr lang="en-US" dirty="0"/>
          </a:br>
          <a:r>
            <a:rPr lang="en-US" dirty="0"/>
            <a:t>If certain covariate patterns </a:t>
          </a:r>
          <a:r>
            <a:rPr lang="en-US" i="1" dirty="0"/>
            <a:t>determine</a:t>
          </a:r>
          <a:r>
            <a:rPr lang="en-US" dirty="0"/>
            <a:t> treatment (prob = 0 or 1),</a:t>
          </a:r>
          <a:br>
            <a:rPr lang="en-US" dirty="0"/>
          </a:br>
          <a:r>
            <a:rPr lang="en-US" dirty="0"/>
            <a:t>IPTW cannot be constructed → bias.</a:t>
          </a:r>
        </a:p>
      </dgm:t>
    </dgm:pt>
    <dgm:pt modelId="{BD1A2E7F-9D88-4C8B-B41E-E4B06C35C8EC}" type="parTrans" cxnId="{ED1AA2B9-A759-43FA-B706-11D6FAA43D1F}">
      <dgm:prSet/>
      <dgm:spPr/>
      <dgm:t>
        <a:bodyPr/>
        <a:lstStyle/>
        <a:p>
          <a:endParaRPr lang="en-US"/>
        </a:p>
      </dgm:t>
    </dgm:pt>
    <dgm:pt modelId="{4F32A972-2479-4B82-AC63-CAF5C52A8CA4}" type="sibTrans" cxnId="{ED1AA2B9-A759-43FA-B706-11D6FAA43D1F}">
      <dgm:prSet/>
      <dgm:spPr/>
      <dgm:t>
        <a:bodyPr/>
        <a:lstStyle/>
        <a:p>
          <a:endParaRPr lang="en-US"/>
        </a:p>
      </dgm:t>
    </dgm:pt>
    <dgm:pt modelId="{2F76BE39-89C0-40DF-8B37-5D3BA3AF9799}">
      <dgm:prSet/>
      <dgm:spPr/>
      <dgm:t>
        <a:bodyPr/>
        <a:lstStyle/>
        <a:p>
          <a:r>
            <a:rPr lang="en-US" b="1" dirty="0"/>
            <a:t>Requires Rich, Fully Observed Time-varying Covariates</a:t>
          </a:r>
          <a:br>
            <a:rPr lang="en-US" dirty="0"/>
          </a:br>
          <a:r>
            <a:rPr lang="en-US" dirty="0"/>
            <a:t>Missing or unmeasured prognostic factors → biased causal inference.</a:t>
          </a:r>
        </a:p>
      </dgm:t>
    </dgm:pt>
    <dgm:pt modelId="{C4664EB0-F604-4679-9F98-A59A3FA188A8}" type="parTrans" cxnId="{2F65758E-B700-45AD-AF26-3B7D17E34C7E}">
      <dgm:prSet/>
      <dgm:spPr/>
      <dgm:t>
        <a:bodyPr/>
        <a:lstStyle/>
        <a:p>
          <a:endParaRPr lang="en-US"/>
        </a:p>
      </dgm:t>
    </dgm:pt>
    <dgm:pt modelId="{E219344B-5064-45DF-A4FB-38832C76D1C1}" type="sibTrans" cxnId="{2F65758E-B700-45AD-AF26-3B7D17E34C7E}">
      <dgm:prSet/>
      <dgm:spPr/>
      <dgm:t>
        <a:bodyPr/>
        <a:lstStyle/>
        <a:p>
          <a:endParaRPr lang="en-US"/>
        </a:p>
      </dgm:t>
    </dgm:pt>
    <dgm:pt modelId="{E68BD236-6739-466E-A094-E728AC151E01}">
      <dgm:prSet/>
      <dgm:spPr/>
      <dgm:t>
        <a:bodyPr/>
        <a:lstStyle/>
        <a:p>
          <a:r>
            <a:rPr lang="en-US" b="1"/>
            <a:t>Special complications in RCT switching</a:t>
          </a:r>
          <a:br>
            <a:rPr lang="en-US"/>
          </a:br>
          <a:r>
            <a:rPr lang="en-US"/>
            <a:t>MSM requires including </a:t>
          </a:r>
          <a:r>
            <a:rPr lang="en-US" b="1"/>
            <a:t>R × A(t)</a:t>
          </a:r>
          <a:r>
            <a:rPr lang="en-US"/>
            <a:t> interaction by default;</a:t>
          </a:r>
          <a:br>
            <a:rPr lang="en-US"/>
          </a:br>
          <a:r>
            <a:rPr lang="en-US"/>
            <a:t>curves may cross → median survival hard to interpret.</a:t>
          </a:r>
        </a:p>
      </dgm:t>
    </dgm:pt>
    <dgm:pt modelId="{F3203D50-096E-4A69-B37C-B386645C7046}" type="parTrans" cxnId="{DF896487-BB5F-4A28-8F05-738A208D6C50}">
      <dgm:prSet/>
      <dgm:spPr/>
      <dgm:t>
        <a:bodyPr/>
        <a:lstStyle/>
        <a:p>
          <a:endParaRPr lang="en-US"/>
        </a:p>
      </dgm:t>
    </dgm:pt>
    <dgm:pt modelId="{2C3B5595-0DA4-4EF1-9B40-57577BF99FBD}" type="sibTrans" cxnId="{DF896487-BB5F-4A28-8F05-738A208D6C50}">
      <dgm:prSet/>
      <dgm:spPr/>
      <dgm:t>
        <a:bodyPr/>
        <a:lstStyle/>
        <a:p>
          <a:endParaRPr lang="en-US"/>
        </a:p>
      </dgm:t>
    </dgm:pt>
    <dgm:pt modelId="{A49A1F36-B641-4855-99B0-77E414433E78}" type="pres">
      <dgm:prSet presAssocID="{E37AC8D4-DD35-4BCC-B337-ED0FA4297B02}" presName="linear" presStyleCnt="0">
        <dgm:presLayoutVars>
          <dgm:animLvl val="lvl"/>
          <dgm:resizeHandles val="exact"/>
        </dgm:presLayoutVars>
      </dgm:prSet>
      <dgm:spPr/>
    </dgm:pt>
    <dgm:pt modelId="{5289831F-6547-46D7-8CB0-1285E96E2CE2}" type="pres">
      <dgm:prSet presAssocID="{D456A892-7168-4D4C-B47D-C143D61F3D8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930213C-155D-4FA6-B4C9-E8C51E7ABEF2}" type="pres">
      <dgm:prSet presAssocID="{4F32A972-2479-4B82-AC63-CAF5C52A8CA4}" presName="spacer" presStyleCnt="0"/>
      <dgm:spPr/>
    </dgm:pt>
    <dgm:pt modelId="{6F56004A-AC9F-4891-A069-1DFEBECE7364}" type="pres">
      <dgm:prSet presAssocID="{2F76BE39-89C0-40DF-8B37-5D3BA3AF979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7661D7-FD82-4CAD-867D-0DDA22878A26}" type="pres">
      <dgm:prSet presAssocID="{E219344B-5064-45DF-A4FB-38832C76D1C1}" presName="spacer" presStyleCnt="0"/>
      <dgm:spPr/>
    </dgm:pt>
    <dgm:pt modelId="{26FBD135-CEFD-49EE-9E9E-B983E7364275}" type="pres">
      <dgm:prSet presAssocID="{E68BD236-6739-466E-A094-E728AC151E0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F45D41D-C4C3-47DC-86D5-7E79F25DBA40}" type="presOf" srcId="{D456A892-7168-4D4C-B47D-C143D61F3D8C}" destId="{5289831F-6547-46D7-8CB0-1285E96E2CE2}" srcOrd="0" destOrd="0" presId="urn:microsoft.com/office/officeart/2005/8/layout/vList2"/>
    <dgm:cxn modelId="{8502144F-8CFC-4470-9B0F-D4335E557923}" type="presOf" srcId="{2F76BE39-89C0-40DF-8B37-5D3BA3AF9799}" destId="{6F56004A-AC9F-4891-A069-1DFEBECE7364}" srcOrd="0" destOrd="0" presId="urn:microsoft.com/office/officeart/2005/8/layout/vList2"/>
    <dgm:cxn modelId="{DF896487-BB5F-4A28-8F05-738A208D6C50}" srcId="{E37AC8D4-DD35-4BCC-B337-ED0FA4297B02}" destId="{E68BD236-6739-466E-A094-E728AC151E01}" srcOrd="2" destOrd="0" parTransId="{F3203D50-096E-4A69-B37C-B386645C7046}" sibTransId="{2C3B5595-0DA4-4EF1-9B40-57577BF99FBD}"/>
    <dgm:cxn modelId="{2F65758E-B700-45AD-AF26-3B7D17E34C7E}" srcId="{E37AC8D4-DD35-4BCC-B337-ED0FA4297B02}" destId="{2F76BE39-89C0-40DF-8B37-5D3BA3AF9799}" srcOrd="1" destOrd="0" parTransId="{C4664EB0-F604-4679-9F98-A59A3FA188A8}" sibTransId="{E219344B-5064-45DF-A4FB-38832C76D1C1}"/>
    <dgm:cxn modelId="{ED1AA2B9-A759-43FA-B706-11D6FAA43D1F}" srcId="{E37AC8D4-DD35-4BCC-B337-ED0FA4297B02}" destId="{D456A892-7168-4D4C-B47D-C143D61F3D8C}" srcOrd="0" destOrd="0" parTransId="{BD1A2E7F-9D88-4C8B-B41E-E4B06C35C8EC}" sibTransId="{4F32A972-2479-4B82-AC63-CAF5C52A8CA4}"/>
    <dgm:cxn modelId="{D94EEDC9-D620-4E0F-819F-230A647AF122}" type="presOf" srcId="{E37AC8D4-DD35-4BCC-B337-ED0FA4297B02}" destId="{A49A1F36-B641-4855-99B0-77E414433E78}" srcOrd="0" destOrd="0" presId="urn:microsoft.com/office/officeart/2005/8/layout/vList2"/>
    <dgm:cxn modelId="{7D403CCA-C38B-4C8C-8981-0887C366D6CC}" type="presOf" srcId="{E68BD236-6739-466E-A094-E728AC151E01}" destId="{26FBD135-CEFD-49EE-9E9E-B983E7364275}" srcOrd="0" destOrd="0" presId="urn:microsoft.com/office/officeart/2005/8/layout/vList2"/>
    <dgm:cxn modelId="{7A9CE551-0AA8-40B1-9596-74E016512578}" type="presParOf" srcId="{A49A1F36-B641-4855-99B0-77E414433E78}" destId="{5289831F-6547-46D7-8CB0-1285E96E2CE2}" srcOrd="0" destOrd="0" presId="urn:microsoft.com/office/officeart/2005/8/layout/vList2"/>
    <dgm:cxn modelId="{163D3346-0CE0-45FC-A235-FB76B8AEF7A2}" type="presParOf" srcId="{A49A1F36-B641-4855-99B0-77E414433E78}" destId="{E930213C-155D-4FA6-B4C9-E8C51E7ABEF2}" srcOrd="1" destOrd="0" presId="urn:microsoft.com/office/officeart/2005/8/layout/vList2"/>
    <dgm:cxn modelId="{3416AF8A-76C7-4316-B474-72798516F8D5}" type="presParOf" srcId="{A49A1F36-B641-4855-99B0-77E414433E78}" destId="{6F56004A-AC9F-4891-A069-1DFEBECE7364}" srcOrd="2" destOrd="0" presId="urn:microsoft.com/office/officeart/2005/8/layout/vList2"/>
    <dgm:cxn modelId="{251BD6BE-8B38-4B10-B6F9-3F43C53B946A}" type="presParOf" srcId="{A49A1F36-B641-4855-99B0-77E414433E78}" destId="{5E7661D7-FD82-4CAD-867D-0DDA22878A26}" srcOrd="3" destOrd="0" presId="urn:microsoft.com/office/officeart/2005/8/layout/vList2"/>
    <dgm:cxn modelId="{9AF18138-0AA6-40DE-92E0-F3605267414E}" type="presParOf" srcId="{A49A1F36-B641-4855-99B0-77E414433E78}" destId="{26FBD135-CEFD-49EE-9E9E-B983E736427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19F099-64DF-4C5C-9E4F-586AF45ACB0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A211447-9EA8-45F3-9989-D2239AD016CE}">
      <dgm:prSet/>
      <dgm:spPr/>
      <dgm:t>
        <a:bodyPr/>
        <a:lstStyle/>
        <a:p>
          <a:r>
            <a:rPr lang="en-US" dirty="0"/>
            <a:t>1️⃣Estimate the probability of remaining uncensored: </a:t>
          </a:r>
        </a:p>
        <a:p>
          <a:r>
            <a:rPr lang="en-US" dirty="0"/>
            <a:t>Using pooled logistic regression to compute </a:t>
          </a:r>
          <a:r>
            <a:rPr lang="en-US" b="1" dirty="0"/>
            <a:t>the probability of staying uncensored</a:t>
          </a:r>
          <a:endParaRPr lang="en-US" dirty="0"/>
        </a:p>
      </dgm:t>
    </dgm:pt>
    <dgm:pt modelId="{10C1BEBE-0E07-4C71-AB28-9D669698AFE2}" type="parTrans" cxnId="{0A901EF3-B3FE-4A18-B211-E41EBD5DC09B}">
      <dgm:prSet/>
      <dgm:spPr/>
      <dgm:t>
        <a:bodyPr/>
        <a:lstStyle/>
        <a:p>
          <a:endParaRPr lang="en-US"/>
        </a:p>
      </dgm:t>
    </dgm:pt>
    <dgm:pt modelId="{ED9392F7-E632-41E9-B007-9D482EB97946}" type="sibTrans" cxnId="{0A901EF3-B3FE-4A18-B211-E41EBD5DC09B}">
      <dgm:prSet/>
      <dgm:spPr/>
      <dgm:t>
        <a:bodyPr/>
        <a:lstStyle/>
        <a:p>
          <a:endParaRPr lang="en-US"/>
        </a:p>
      </dgm:t>
    </dgm:pt>
    <dgm:pt modelId="{6D24DF59-2D62-40F2-9E73-494E0DF3D8F2}">
      <dgm:prSet/>
      <dgm:spPr/>
      <dgm:t>
        <a:bodyPr/>
        <a:lstStyle/>
        <a:p>
          <a:r>
            <a:rPr lang="en-US"/>
            <a:t>2️⃣ Compute IPCW </a:t>
          </a:r>
          <a:r>
            <a:rPr lang="en-US" b="1"/>
            <a:t>= inverse of the probability of staying uncensored</a:t>
          </a:r>
          <a:endParaRPr lang="en-US"/>
        </a:p>
      </dgm:t>
    </dgm:pt>
    <dgm:pt modelId="{6AD2BB94-697C-40F5-8FFE-0FBEB5757D7F}" type="parTrans" cxnId="{E9D5C08F-2D17-4F75-8A81-4F6BB0E60427}">
      <dgm:prSet/>
      <dgm:spPr/>
      <dgm:t>
        <a:bodyPr/>
        <a:lstStyle/>
        <a:p>
          <a:endParaRPr lang="en-US"/>
        </a:p>
      </dgm:t>
    </dgm:pt>
    <dgm:pt modelId="{0C8BFFA2-0538-47BC-B952-E5484BF0477A}" type="sibTrans" cxnId="{E9D5C08F-2D17-4F75-8A81-4F6BB0E60427}">
      <dgm:prSet/>
      <dgm:spPr/>
      <dgm:t>
        <a:bodyPr/>
        <a:lstStyle/>
        <a:p>
          <a:endParaRPr lang="en-US"/>
        </a:p>
      </dgm:t>
    </dgm:pt>
    <dgm:pt modelId="{F4FAF1D3-08A9-4F7A-A5A3-E846C0E77F62}">
      <dgm:prSet/>
      <dgm:spPr/>
      <dgm:t>
        <a:bodyPr/>
        <a:lstStyle/>
        <a:p>
          <a:r>
            <a:rPr lang="en-US"/>
            <a:t>3️⃣ Derive </a:t>
          </a:r>
          <a:r>
            <a:rPr lang="en-US" b="1"/>
            <a:t>stabilized weights</a:t>
          </a:r>
          <a:r>
            <a:rPr lang="en-US"/>
            <a:t> to prevent large variability </a:t>
          </a:r>
        </a:p>
      </dgm:t>
    </dgm:pt>
    <dgm:pt modelId="{0FB613A5-AA72-4ACE-B339-3B359B34331C}" type="parTrans" cxnId="{112137C7-3F33-490E-98A6-AD09AB3A136C}">
      <dgm:prSet/>
      <dgm:spPr/>
      <dgm:t>
        <a:bodyPr/>
        <a:lstStyle/>
        <a:p>
          <a:endParaRPr lang="en-US"/>
        </a:p>
      </dgm:t>
    </dgm:pt>
    <dgm:pt modelId="{F34FDEC7-667B-44FC-BAA8-D804AD44245A}" type="sibTrans" cxnId="{112137C7-3F33-490E-98A6-AD09AB3A136C}">
      <dgm:prSet/>
      <dgm:spPr/>
      <dgm:t>
        <a:bodyPr/>
        <a:lstStyle/>
        <a:p>
          <a:endParaRPr lang="en-US"/>
        </a:p>
      </dgm:t>
    </dgm:pt>
    <dgm:pt modelId="{CFF347A7-AD0E-4BAB-8A4A-1909E0CD191C}">
      <dgm:prSet/>
      <dgm:spPr/>
      <dgm:t>
        <a:bodyPr/>
        <a:lstStyle/>
        <a:p>
          <a:r>
            <a:rPr lang="en-US"/>
            <a:t>After reweighting, the uncensored patients are weighted to represent the full study population that would have been observed if censoring were random, thereby reducing bias from informative censoring</a:t>
          </a:r>
        </a:p>
      </dgm:t>
    </dgm:pt>
    <dgm:pt modelId="{2C578632-E3DA-442C-B48F-080926E0838C}" type="parTrans" cxnId="{EEA21768-F715-4CF5-8BB2-626B455FE1BA}">
      <dgm:prSet/>
      <dgm:spPr/>
      <dgm:t>
        <a:bodyPr/>
        <a:lstStyle/>
        <a:p>
          <a:endParaRPr lang="en-US"/>
        </a:p>
      </dgm:t>
    </dgm:pt>
    <dgm:pt modelId="{1E58E556-87EF-42BC-9014-6813A0799848}" type="sibTrans" cxnId="{EEA21768-F715-4CF5-8BB2-626B455FE1BA}">
      <dgm:prSet/>
      <dgm:spPr/>
      <dgm:t>
        <a:bodyPr/>
        <a:lstStyle/>
        <a:p>
          <a:endParaRPr lang="en-US"/>
        </a:p>
      </dgm:t>
    </dgm:pt>
    <dgm:pt modelId="{ADF1CF9A-8077-4035-8C73-421B4BD6B701}" type="pres">
      <dgm:prSet presAssocID="{9119F099-64DF-4C5C-9E4F-586AF45ACB0C}" presName="outerComposite" presStyleCnt="0">
        <dgm:presLayoutVars>
          <dgm:chMax val="5"/>
          <dgm:dir/>
          <dgm:resizeHandles val="exact"/>
        </dgm:presLayoutVars>
      </dgm:prSet>
      <dgm:spPr/>
    </dgm:pt>
    <dgm:pt modelId="{688B6385-49BD-40CC-B45A-3CF8D70DC1F4}" type="pres">
      <dgm:prSet presAssocID="{9119F099-64DF-4C5C-9E4F-586AF45ACB0C}" presName="dummyMaxCanvas" presStyleCnt="0">
        <dgm:presLayoutVars/>
      </dgm:prSet>
      <dgm:spPr/>
    </dgm:pt>
    <dgm:pt modelId="{6C2B78EA-037D-4FE6-9CD5-59CE5ABC7237}" type="pres">
      <dgm:prSet presAssocID="{9119F099-64DF-4C5C-9E4F-586AF45ACB0C}" presName="FourNodes_1" presStyleLbl="node1" presStyleIdx="0" presStyleCnt="4">
        <dgm:presLayoutVars>
          <dgm:bulletEnabled val="1"/>
        </dgm:presLayoutVars>
      </dgm:prSet>
      <dgm:spPr/>
    </dgm:pt>
    <dgm:pt modelId="{7C7E255F-2AA3-439C-9501-E5127F03D95C}" type="pres">
      <dgm:prSet presAssocID="{9119F099-64DF-4C5C-9E4F-586AF45ACB0C}" presName="FourNodes_2" presStyleLbl="node1" presStyleIdx="1" presStyleCnt="4">
        <dgm:presLayoutVars>
          <dgm:bulletEnabled val="1"/>
        </dgm:presLayoutVars>
      </dgm:prSet>
      <dgm:spPr/>
    </dgm:pt>
    <dgm:pt modelId="{96483274-7E74-4BFE-A1CC-D141E78888BC}" type="pres">
      <dgm:prSet presAssocID="{9119F099-64DF-4C5C-9E4F-586AF45ACB0C}" presName="FourNodes_3" presStyleLbl="node1" presStyleIdx="2" presStyleCnt="4">
        <dgm:presLayoutVars>
          <dgm:bulletEnabled val="1"/>
        </dgm:presLayoutVars>
      </dgm:prSet>
      <dgm:spPr/>
    </dgm:pt>
    <dgm:pt modelId="{EF721BEC-ECC6-4798-A591-A4C1D4CB5368}" type="pres">
      <dgm:prSet presAssocID="{9119F099-64DF-4C5C-9E4F-586AF45ACB0C}" presName="FourNodes_4" presStyleLbl="node1" presStyleIdx="3" presStyleCnt="4">
        <dgm:presLayoutVars>
          <dgm:bulletEnabled val="1"/>
        </dgm:presLayoutVars>
      </dgm:prSet>
      <dgm:spPr/>
    </dgm:pt>
    <dgm:pt modelId="{138E1E9E-2AFA-4BD5-973E-D27A26A6D9B9}" type="pres">
      <dgm:prSet presAssocID="{9119F099-64DF-4C5C-9E4F-586AF45ACB0C}" presName="FourConn_1-2" presStyleLbl="fgAccFollowNode1" presStyleIdx="0" presStyleCnt="3">
        <dgm:presLayoutVars>
          <dgm:bulletEnabled val="1"/>
        </dgm:presLayoutVars>
      </dgm:prSet>
      <dgm:spPr/>
    </dgm:pt>
    <dgm:pt modelId="{143A2355-11F8-4B2E-812C-8E8474990646}" type="pres">
      <dgm:prSet presAssocID="{9119F099-64DF-4C5C-9E4F-586AF45ACB0C}" presName="FourConn_2-3" presStyleLbl="fgAccFollowNode1" presStyleIdx="1" presStyleCnt="3">
        <dgm:presLayoutVars>
          <dgm:bulletEnabled val="1"/>
        </dgm:presLayoutVars>
      </dgm:prSet>
      <dgm:spPr/>
    </dgm:pt>
    <dgm:pt modelId="{E8238E76-DCD5-44BB-B70B-6C4067770118}" type="pres">
      <dgm:prSet presAssocID="{9119F099-64DF-4C5C-9E4F-586AF45ACB0C}" presName="FourConn_3-4" presStyleLbl="fgAccFollowNode1" presStyleIdx="2" presStyleCnt="3">
        <dgm:presLayoutVars>
          <dgm:bulletEnabled val="1"/>
        </dgm:presLayoutVars>
      </dgm:prSet>
      <dgm:spPr/>
    </dgm:pt>
    <dgm:pt modelId="{7FD7058D-A8B3-4C87-8E56-F2500CF99484}" type="pres">
      <dgm:prSet presAssocID="{9119F099-64DF-4C5C-9E4F-586AF45ACB0C}" presName="FourNodes_1_text" presStyleLbl="node1" presStyleIdx="3" presStyleCnt="4">
        <dgm:presLayoutVars>
          <dgm:bulletEnabled val="1"/>
        </dgm:presLayoutVars>
      </dgm:prSet>
      <dgm:spPr/>
    </dgm:pt>
    <dgm:pt modelId="{2DCA1A48-3838-4E42-AE06-AC695F649664}" type="pres">
      <dgm:prSet presAssocID="{9119F099-64DF-4C5C-9E4F-586AF45ACB0C}" presName="FourNodes_2_text" presStyleLbl="node1" presStyleIdx="3" presStyleCnt="4">
        <dgm:presLayoutVars>
          <dgm:bulletEnabled val="1"/>
        </dgm:presLayoutVars>
      </dgm:prSet>
      <dgm:spPr/>
    </dgm:pt>
    <dgm:pt modelId="{F7AE6788-8CEA-452A-9885-7B655BA0CE4A}" type="pres">
      <dgm:prSet presAssocID="{9119F099-64DF-4C5C-9E4F-586AF45ACB0C}" presName="FourNodes_3_text" presStyleLbl="node1" presStyleIdx="3" presStyleCnt="4">
        <dgm:presLayoutVars>
          <dgm:bulletEnabled val="1"/>
        </dgm:presLayoutVars>
      </dgm:prSet>
      <dgm:spPr/>
    </dgm:pt>
    <dgm:pt modelId="{25ECADD9-AE67-4781-A0F9-DF42DC2E4C99}" type="pres">
      <dgm:prSet presAssocID="{9119F099-64DF-4C5C-9E4F-586AF45ACB0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8A8660D-2884-4397-A1F3-46E3234ABC3F}" type="presOf" srcId="{FA211447-9EA8-45F3-9989-D2239AD016CE}" destId="{6C2B78EA-037D-4FE6-9CD5-59CE5ABC7237}" srcOrd="0" destOrd="0" presId="urn:microsoft.com/office/officeart/2005/8/layout/vProcess5"/>
    <dgm:cxn modelId="{ED32F92D-624D-4C77-982D-1FD64DDFF9AE}" type="presOf" srcId="{6D24DF59-2D62-40F2-9E73-494E0DF3D8F2}" destId="{2DCA1A48-3838-4E42-AE06-AC695F649664}" srcOrd="1" destOrd="0" presId="urn:microsoft.com/office/officeart/2005/8/layout/vProcess5"/>
    <dgm:cxn modelId="{9133582E-20B4-4EB6-A593-33DA380D2DC8}" type="presOf" srcId="{9119F099-64DF-4C5C-9E4F-586AF45ACB0C}" destId="{ADF1CF9A-8077-4035-8C73-421B4BD6B701}" srcOrd="0" destOrd="0" presId="urn:microsoft.com/office/officeart/2005/8/layout/vProcess5"/>
    <dgm:cxn modelId="{9B7E7434-60CA-4013-9B2E-FD90763849B4}" type="presOf" srcId="{0C8BFFA2-0538-47BC-B952-E5484BF0477A}" destId="{143A2355-11F8-4B2E-812C-8E8474990646}" srcOrd="0" destOrd="0" presId="urn:microsoft.com/office/officeart/2005/8/layout/vProcess5"/>
    <dgm:cxn modelId="{EEA21768-F715-4CF5-8BB2-626B455FE1BA}" srcId="{9119F099-64DF-4C5C-9E4F-586AF45ACB0C}" destId="{CFF347A7-AD0E-4BAB-8A4A-1909E0CD191C}" srcOrd="3" destOrd="0" parTransId="{2C578632-E3DA-442C-B48F-080926E0838C}" sibTransId="{1E58E556-87EF-42BC-9014-6813A0799848}"/>
    <dgm:cxn modelId="{F466805A-5C1E-44AA-A0DF-0BA22A9368D5}" type="presOf" srcId="{F34FDEC7-667B-44FC-BAA8-D804AD44245A}" destId="{E8238E76-DCD5-44BB-B70B-6C4067770118}" srcOrd="0" destOrd="0" presId="urn:microsoft.com/office/officeart/2005/8/layout/vProcess5"/>
    <dgm:cxn modelId="{CA1D8E5A-CAAA-44C5-8E6F-7504D0CA865F}" type="presOf" srcId="{CFF347A7-AD0E-4BAB-8A4A-1909E0CD191C}" destId="{EF721BEC-ECC6-4798-A591-A4C1D4CB5368}" srcOrd="0" destOrd="0" presId="urn:microsoft.com/office/officeart/2005/8/layout/vProcess5"/>
    <dgm:cxn modelId="{E9D5C08F-2D17-4F75-8A81-4F6BB0E60427}" srcId="{9119F099-64DF-4C5C-9E4F-586AF45ACB0C}" destId="{6D24DF59-2D62-40F2-9E73-494E0DF3D8F2}" srcOrd="1" destOrd="0" parTransId="{6AD2BB94-697C-40F5-8FFE-0FBEB5757D7F}" sibTransId="{0C8BFFA2-0538-47BC-B952-E5484BF0477A}"/>
    <dgm:cxn modelId="{E9A4AAB2-4442-437E-9F48-2302C4935A4A}" type="presOf" srcId="{CFF347A7-AD0E-4BAB-8A4A-1909E0CD191C}" destId="{25ECADD9-AE67-4781-A0F9-DF42DC2E4C99}" srcOrd="1" destOrd="0" presId="urn:microsoft.com/office/officeart/2005/8/layout/vProcess5"/>
    <dgm:cxn modelId="{EF22E8B9-E8B1-443B-84D9-A3952A66C29D}" type="presOf" srcId="{6D24DF59-2D62-40F2-9E73-494E0DF3D8F2}" destId="{7C7E255F-2AA3-439C-9501-E5127F03D95C}" srcOrd="0" destOrd="0" presId="urn:microsoft.com/office/officeart/2005/8/layout/vProcess5"/>
    <dgm:cxn modelId="{6B031CC6-E7EE-4BC2-8A02-75FA1EE01CA0}" type="presOf" srcId="{ED9392F7-E632-41E9-B007-9D482EB97946}" destId="{138E1E9E-2AFA-4BD5-973E-D27A26A6D9B9}" srcOrd="0" destOrd="0" presId="urn:microsoft.com/office/officeart/2005/8/layout/vProcess5"/>
    <dgm:cxn modelId="{112137C7-3F33-490E-98A6-AD09AB3A136C}" srcId="{9119F099-64DF-4C5C-9E4F-586AF45ACB0C}" destId="{F4FAF1D3-08A9-4F7A-A5A3-E846C0E77F62}" srcOrd="2" destOrd="0" parTransId="{0FB613A5-AA72-4ACE-B339-3B359B34331C}" sibTransId="{F34FDEC7-667B-44FC-BAA8-D804AD44245A}"/>
    <dgm:cxn modelId="{CC8FC1CB-19F5-41BC-A812-23DBD92F4C90}" type="presOf" srcId="{F4FAF1D3-08A9-4F7A-A5A3-E846C0E77F62}" destId="{96483274-7E74-4BFE-A1CC-D141E78888BC}" srcOrd="0" destOrd="0" presId="urn:microsoft.com/office/officeart/2005/8/layout/vProcess5"/>
    <dgm:cxn modelId="{D5BC22D7-4EA0-4E7C-A0FC-E8CE5C068255}" type="presOf" srcId="{FA211447-9EA8-45F3-9989-D2239AD016CE}" destId="{7FD7058D-A8B3-4C87-8E56-F2500CF99484}" srcOrd="1" destOrd="0" presId="urn:microsoft.com/office/officeart/2005/8/layout/vProcess5"/>
    <dgm:cxn modelId="{AAB7A9E6-2F7A-4F1D-81EB-59101033FA45}" type="presOf" srcId="{F4FAF1D3-08A9-4F7A-A5A3-E846C0E77F62}" destId="{F7AE6788-8CEA-452A-9885-7B655BA0CE4A}" srcOrd="1" destOrd="0" presId="urn:microsoft.com/office/officeart/2005/8/layout/vProcess5"/>
    <dgm:cxn modelId="{0A901EF3-B3FE-4A18-B211-E41EBD5DC09B}" srcId="{9119F099-64DF-4C5C-9E4F-586AF45ACB0C}" destId="{FA211447-9EA8-45F3-9989-D2239AD016CE}" srcOrd="0" destOrd="0" parTransId="{10C1BEBE-0E07-4C71-AB28-9D669698AFE2}" sibTransId="{ED9392F7-E632-41E9-B007-9D482EB97946}"/>
    <dgm:cxn modelId="{1E38EA2E-398B-4FEF-88DA-0AD00EAE583B}" type="presParOf" srcId="{ADF1CF9A-8077-4035-8C73-421B4BD6B701}" destId="{688B6385-49BD-40CC-B45A-3CF8D70DC1F4}" srcOrd="0" destOrd="0" presId="urn:microsoft.com/office/officeart/2005/8/layout/vProcess5"/>
    <dgm:cxn modelId="{58EFCC12-DF41-4473-B7D7-CB31311CD138}" type="presParOf" srcId="{ADF1CF9A-8077-4035-8C73-421B4BD6B701}" destId="{6C2B78EA-037D-4FE6-9CD5-59CE5ABC7237}" srcOrd="1" destOrd="0" presId="urn:microsoft.com/office/officeart/2005/8/layout/vProcess5"/>
    <dgm:cxn modelId="{74B9A114-7362-470E-9912-6F18B9AAE921}" type="presParOf" srcId="{ADF1CF9A-8077-4035-8C73-421B4BD6B701}" destId="{7C7E255F-2AA3-439C-9501-E5127F03D95C}" srcOrd="2" destOrd="0" presId="urn:microsoft.com/office/officeart/2005/8/layout/vProcess5"/>
    <dgm:cxn modelId="{898AA02B-D588-4E95-B36A-78B66B331818}" type="presParOf" srcId="{ADF1CF9A-8077-4035-8C73-421B4BD6B701}" destId="{96483274-7E74-4BFE-A1CC-D141E78888BC}" srcOrd="3" destOrd="0" presId="urn:microsoft.com/office/officeart/2005/8/layout/vProcess5"/>
    <dgm:cxn modelId="{0BE25780-F54A-45C2-9563-F23A4E9BB5FF}" type="presParOf" srcId="{ADF1CF9A-8077-4035-8C73-421B4BD6B701}" destId="{EF721BEC-ECC6-4798-A591-A4C1D4CB5368}" srcOrd="4" destOrd="0" presId="urn:microsoft.com/office/officeart/2005/8/layout/vProcess5"/>
    <dgm:cxn modelId="{3338F4B4-B8F8-4208-9D7A-992261678F95}" type="presParOf" srcId="{ADF1CF9A-8077-4035-8C73-421B4BD6B701}" destId="{138E1E9E-2AFA-4BD5-973E-D27A26A6D9B9}" srcOrd="5" destOrd="0" presId="urn:microsoft.com/office/officeart/2005/8/layout/vProcess5"/>
    <dgm:cxn modelId="{829D36A0-12C9-4209-B0E4-017ADD139DA5}" type="presParOf" srcId="{ADF1CF9A-8077-4035-8C73-421B4BD6B701}" destId="{143A2355-11F8-4B2E-812C-8E8474990646}" srcOrd="6" destOrd="0" presId="urn:microsoft.com/office/officeart/2005/8/layout/vProcess5"/>
    <dgm:cxn modelId="{38F8501D-9992-405D-885C-D55EFEA6ABF1}" type="presParOf" srcId="{ADF1CF9A-8077-4035-8C73-421B4BD6B701}" destId="{E8238E76-DCD5-44BB-B70B-6C4067770118}" srcOrd="7" destOrd="0" presId="urn:microsoft.com/office/officeart/2005/8/layout/vProcess5"/>
    <dgm:cxn modelId="{2A1AC181-BDA7-49F2-B88B-9B10AF968099}" type="presParOf" srcId="{ADF1CF9A-8077-4035-8C73-421B4BD6B701}" destId="{7FD7058D-A8B3-4C87-8E56-F2500CF99484}" srcOrd="8" destOrd="0" presId="urn:microsoft.com/office/officeart/2005/8/layout/vProcess5"/>
    <dgm:cxn modelId="{C1D98D1B-4F02-44CE-A8F9-C2D64C32D9DF}" type="presParOf" srcId="{ADF1CF9A-8077-4035-8C73-421B4BD6B701}" destId="{2DCA1A48-3838-4E42-AE06-AC695F649664}" srcOrd="9" destOrd="0" presId="urn:microsoft.com/office/officeart/2005/8/layout/vProcess5"/>
    <dgm:cxn modelId="{E8369303-23E3-482F-8237-AC9A209919F2}" type="presParOf" srcId="{ADF1CF9A-8077-4035-8C73-421B4BD6B701}" destId="{F7AE6788-8CEA-452A-9885-7B655BA0CE4A}" srcOrd="10" destOrd="0" presId="urn:microsoft.com/office/officeart/2005/8/layout/vProcess5"/>
    <dgm:cxn modelId="{CBEABADE-70CD-4274-AA52-2423770549F4}" type="presParOf" srcId="{ADF1CF9A-8077-4035-8C73-421B4BD6B701}" destId="{25ECADD9-AE67-4781-A0F9-DF42DC2E4C9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E86000-1961-46C8-A7DA-B917B99340D1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EB3B12-D8A3-4C0E-BAA0-7AD36154602B}">
      <dgm:prSet/>
      <dgm:spPr/>
      <dgm:t>
        <a:bodyPr/>
        <a:lstStyle/>
        <a:p>
          <a:r>
            <a:rPr lang="en-US"/>
            <a:t>Accommodating</a:t>
          </a:r>
        </a:p>
      </dgm:t>
    </dgm:pt>
    <dgm:pt modelId="{33AA26DD-5661-474D-9650-A84C3D1EBFBF}" type="parTrans" cxnId="{172DBC5F-D0C4-45AD-90F1-A596F1CA7168}">
      <dgm:prSet/>
      <dgm:spPr/>
      <dgm:t>
        <a:bodyPr/>
        <a:lstStyle/>
        <a:p>
          <a:endParaRPr lang="en-US"/>
        </a:p>
      </dgm:t>
    </dgm:pt>
    <dgm:pt modelId="{81AAFC9A-22B3-4EEF-BFCA-AB0FCECB8F58}" type="sibTrans" cxnId="{172DBC5F-D0C4-45AD-90F1-A596F1CA7168}">
      <dgm:prSet/>
      <dgm:spPr/>
      <dgm:t>
        <a:bodyPr/>
        <a:lstStyle/>
        <a:p>
          <a:endParaRPr lang="en-US"/>
        </a:p>
      </dgm:t>
    </dgm:pt>
    <dgm:pt modelId="{42D68D42-81F2-4AD0-A222-35D3F1415D0C}">
      <dgm:prSet custT="1"/>
      <dgm:spPr/>
      <dgm:t>
        <a:bodyPr/>
        <a:lstStyle/>
        <a:p>
          <a:r>
            <a:rPr lang="en-US" sz="1800" dirty="0"/>
            <a:t>Accommodating the “No Unmeasured Confounders” Assumption</a:t>
          </a:r>
        </a:p>
      </dgm:t>
    </dgm:pt>
    <dgm:pt modelId="{70B21453-D606-49A6-8E1C-0B036E50064F}" type="parTrans" cxnId="{AE582F07-A5A6-462C-B5BD-CE31D3D67134}">
      <dgm:prSet/>
      <dgm:spPr/>
      <dgm:t>
        <a:bodyPr/>
        <a:lstStyle/>
        <a:p>
          <a:endParaRPr lang="en-US"/>
        </a:p>
      </dgm:t>
    </dgm:pt>
    <dgm:pt modelId="{9FD95DA2-0B6A-4998-B2EC-EF02F045D9AF}" type="sibTrans" cxnId="{AE582F07-A5A6-462C-B5BD-CE31D3D67134}">
      <dgm:prSet/>
      <dgm:spPr/>
      <dgm:t>
        <a:bodyPr/>
        <a:lstStyle/>
        <a:p>
          <a:endParaRPr lang="en-US"/>
        </a:p>
      </dgm:t>
    </dgm:pt>
    <dgm:pt modelId="{F17B1CF4-7DCA-43FF-B21D-588F934B2E95}">
      <dgm:prSet custT="1"/>
      <dgm:spPr/>
      <dgm:t>
        <a:bodyPr/>
        <a:lstStyle/>
        <a:p>
          <a:r>
            <a:rPr lang="en-US" sz="1600" dirty="0"/>
            <a:t>In RCTs this assumption is not testable.</a:t>
          </a:r>
        </a:p>
      </dgm:t>
    </dgm:pt>
    <dgm:pt modelId="{003DA2C4-51F0-462C-8B6B-2E788B91BFB3}" type="parTrans" cxnId="{EB8FBE5B-CC52-4690-B224-1EFC355A4D04}">
      <dgm:prSet/>
      <dgm:spPr/>
      <dgm:t>
        <a:bodyPr/>
        <a:lstStyle/>
        <a:p>
          <a:endParaRPr lang="en-US"/>
        </a:p>
      </dgm:t>
    </dgm:pt>
    <dgm:pt modelId="{BA353397-7F64-405B-BCE4-7D3C0DAD361D}" type="sibTrans" cxnId="{EB8FBE5B-CC52-4690-B224-1EFC355A4D04}">
      <dgm:prSet/>
      <dgm:spPr/>
      <dgm:t>
        <a:bodyPr/>
        <a:lstStyle/>
        <a:p>
          <a:endParaRPr lang="en-US"/>
        </a:p>
      </dgm:t>
    </dgm:pt>
    <dgm:pt modelId="{8EA0A155-37CF-4CB8-AD2F-F8A7FC052BA9}">
      <dgm:prSet custT="1"/>
      <dgm:spPr/>
      <dgm:t>
        <a:bodyPr/>
        <a:lstStyle/>
        <a:p>
          <a:r>
            <a:rPr lang="en-US" sz="1600" dirty="0"/>
            <a:t>It may not be perfectly true, but can be made approximately valid through careful trial design and thorough collection of prognostic factors.</a:t>
          </a:r>
        </a:p>
      </dgm:t>
    </dgm:pt>
    <dgm:pt modelId="{FB932D26-7B35-45EE-BFCE-F951222DF185}" type="parTrans" cxnId="{43879CB7-A1A8-4E9F-AF8D-8529B5EC5F58}">
      <dgm:prSet/>
      <dgm:spPr/>
      <dgm:t>
        <a:bodyPr/>
        <a:lstStyle/>
        <a:p>
          <a:endParaRPr lang="en-US"/>
        </a:p>
      </dgm:t>
    </dgm:pt>
    <dgm:pt modelId="{EB6FD11A-43C8-47AA-9282-4C43447565D0}" type="sibTrans" cxnId="{43879CB7-A1A8-4E9F-AF8D-8529B5EC5F58}">
      <dgm:prSet/>
      <dgm:spPr/>
      <dgm:t>
        <a:bodyPr/>
        <a:lstStyle/>
        <a:p>
          <a:endParaRPr lang="en-US"/>
        </a:p>
      </dgm:t>
    </dgm:pt>
    <dgm:pt modelId="{FAAE3B67-A4E8-43D4-B8E2-068D12727E0A}">
      <dgm:prSet/>
      <dgm:spPr/>
      <dgm:t>
        <a:bodyPr/>
        <a:lstStyle/>
        <a:p>
          <a:r>
            <a:rPr lang="en-US"/>
            <a:t>Avoiding</a:t>
          </a:r>
        </a:p>
      </dgm:t>
    </dgm:pt>
    <dgm:pt modelId="{8D6199C3-173B-4D23-8CA7-A6ED97100226}" type="parTrans" cxnId="{06FF88D9-49FD-4FB7-8190-E81573706154}">
      <dgm:prSet/>
      <dgm:spPr/>
      <dgm:t>
        <a:bodyPr/>
        <a:lstStyle/>
        <a:p>
          <a:endParaRPr lang="en-US"/>
        </a:p>
      </dgm:t>
    </dgm:pt>
    <dgm:pt modelId="{E719A444-C01E-426E-AC6E-24E0C1E85F59}" type="sibTrans" cxnId="{06FF88D9-49FD-4FB7-8190-E81573706154}">
      <dgm:prSet/>
      <dgm:spPr/>
      <dgm:t>
        <a:bodyPr/>
        <a:lstStyle/>
        <a:p>
          <a:endParaRPr lang="en-US"/>
        </a:p>
      </dgm:t>
    </dgm:pt>
    <dgm:pt modelId="{3355CA83-D00A-4A01-B31C-789B35B1E48A}">
      <dgm:prSet/>
      <dgm:spPr/>
      <dgm:t>
        <a:bodyPr/>
        <a:lstStyle/>
        <a:p>
          <a:r>
            <a:rPr lang="en-US" dirty="0"/>
            <a:t>Avoiding Positivity Violations</a:t>
          </a:r>
        </a:p>
      </dgm:t>
    </dgm:pt>
    <dgm:pt modelId="{73CBBDFE-7505-495B-8210-CB34C4E805C0}" type="parTrans" cxnId="{22A13947-0765-4362-AA48-1CB2FB85BD71}">
      <dgm:prSet/>
      <dgm:spPr/>
      <dgm:t>
        <a:bodyPr/>
        <a:lstStyle/>
        <a:p>
          <a:endParaRPr lang="en-US"/>
        </a:p>
      </dgm:t>
    </dgm:pt>
    <dgm:pt modelId="{D71FD2B9-C15B-4B48-8381-0A089CCB5F8D}" type="sibTrans" cxnId="{22A13947-0765-4362-AA48-1CB2FB85BD71}">
      <dgm:prSet/>
      <dgm:spPr/>
      <dgm:t>
        <a:bodyPr/>
        <a:lstStyle/>
        <a:p>
          <a:endParaRPr lang="en-US"/>
        </a:p>
      </dgm:t>
    </dgm:pt>
    <dgm:pt modelId="{B083D93A-7C5C-4456-8576-4A567BB54ED3}">
      <dgm:prSet/>
      <dgm:spPr/>
      <dgm:t>
        <a:bodyPr/>
        <a:lstStyle/>
        <a:p>
          <a:r>
            <a:rPr lang="en-US" dirty="0"/>
            <a:t>Structural positivity violation:</a:t>
          </a:r>
          <a:br>
            <a:rPr lang="en-US" dirty="0"/>
          </a:br>
          <a:r>
            <a:rPr lang="en-US" dirty="0"/>
            <a:t>If all patients switch → IPCW cannot be applied.</a:t>
          </a:r>
        </a:p>
      </dgm:t>
    </dgm:pt>
    <dgm:pt modelId="{BE0C441A-4D0A-428F-9B1A-BB9B8E9BFDE2}" type="parTrans" cxnId="{76A68345-2A55-4125-ABDB-FBBF5FD4C6EE}">
      <dgm:prSet/>
      <dgm:spPr/>
      <dgm:t>
        <a:bodyPr/>
        <a:lstStyle/>
        <a:p>
          <a:endParaRPr lang="en-US"/>
        </a:p>
      </dgm:t>
    </dgm:pt>
    <dgm:pt modelId="{FC9DD8DE-CB44-4B92-8EEF-63BB5002349B}" type="sibTrans" cxnId="{76A68345-2A55-4125-ABDB-FBBF5FD4C6EE}">
      <dgm:prSet/>
      <dgm:spPr/>
      <dgm:t>
        <a:bodyPr/>
        <a:lstStyle/>
        <a:p>
          <a:endParaRPr lang="en-US"/>
        </a:p>
      </dgm:t>
    </dgm:pt>
    <dgm:pt modelId="{BE45B5D6-9D6C-4F59-AE7E-A1D54B7641B7}">
      <dgm:prSet/>
      <dgm:spPr/>
      <dgm:t>
        <a:bodyPr/>
        <a:lstStyle/>
        <a:p>
          <a:r>
            <a:rPr lang="en-US" dirty="0"/>
            <a:t>High switching proportion (&gt;70%) → IPCW cannot be applied.</a:t>
          </a:r>
        </a:p>
      </dgm:t>
    </dgm:pt>
    <dgm:pt modelId="{E7132147-95F2-4F06-BAE5-9A44F31214F8}" type="parTrans" cxnId="{3B9ACCC6-D2F1-42E7-B812-7FEE80482273}">
      <dgm:prSet/>
      <dgm:spPr/>
      <dgm:t>
        <a:bodyPr/>
        <a:lstStyle/>
        <a:p>
          <a:endParaRPr lang="en-US"/>
        </a:p>
      </dgm:t>
    </dgm:pt>
    <dgm:pt modelId="{561B43F7-B9A6-4B41-873A-B829A08983A8}" type="sibTrans" cxnId="{3B9ACCC6-D2F1-42E7-B812-7FEE80482273}">
      <dgm:prSet/>
      <dgm:spPr/>
      <dgm:t>
        <a:bodyPr/>
        <a:lstStyle/>
        <a:p>
          <a:endParaRPr lang="en-US"/>
        </a:p>
      </dgm:t>
    </dgm:pt>
    <dgm:pt modelId="{49E37AC2-0F11-4BFA-BA1B-529D7BA69E8B}">
      <dgm:prSet/>
      <dgm:spPr/>
      <dgm:t>
        <a:bodyPr/>
        <a:lstStyle/>
        <a:p>
          <a:r>
            <a:rPr lang="en-US" dirty="0"/>
            <a:t>Very low switching proportion→ IPCW cannot be applied.</a:t>
          </a:r>
        </a:p>
      </dgm:t>
    </dgm:pt>
    <dgm:pt modelId="{FF0CC093-EF3F-47E5-8B42-F85EDA9D26B0}" type="parTrans" cxnId="{F631894A-4C31-4A4A-8B9C-6199D11EBE65}">
      <dgm:prSet/>
      <dgm:spPr/>
      <dgm:t>
        <a:bodyPr/>
        <a:lstStyle/>
        <a:p>
          <a:endParaRPr lang="en-US"/>
        </a:p>
      </dgm:t>
    </dgm:pt>
    <dgm:pt modelId="{3CD7DECA-8219-482E-9520-A82E72DFF7FB}" type="sibTrans" cxnId="{F631894A-4C31-4A4A-8B9C-6199D11EBE65}">
      <dgm:prSet/>
      <dgm:spPr/>
      <dgm:t>
        <a:bodyPr/>
        <a:lstStyle/>
        <a:p>
          <a:endParaRPr lang="en-US"/>
        </a:p>
      </dgm:t>
    </dgm:pt>
    <dgm:pt modelId="{4B352717-99BF-46EF-AF2D-4F52B6AE7014}">
      <dgm:prSet/>
      <dgm:spPr/>
      <dgm:t>
        <a:bodyPr/>
        <a:lstStyle/>
        <a:p>
          <a:r>
            <a:rPr lang="en-US"/>
            <a:t>Ensuring</a:t>
          </a:r>
        </a:p>
      </dgm:t>
    </dgm:pt>
    <dgm:pt modelId="{D9D9BA55-0B5F-471D-A026-26E9618FFE46}" type="parTrans" cxnId="{F4CB954E-E4BC-4864-8E4B-97E2F0B8B59B}">
      <dgm:prSet/>
      <dgm:spPr/>
      <dgm:t>
        <a:bodyPr/>
        <a:lstStyle/>
        <a:p>
          <a:endParaRPr lang="en-US"/>
        </a:p>
      </dgm:t>
    </dgm:pt>
    <dgm:pt modelId="{61DF6308-EDD2-4652-88C1-D7D8E46C66DD}" type="sibTrans" cxnId="{F4CB954E-E4BC-4864-8E4B-97E2F0B8B59B}">
      <dgm:prSet/>
      <dgm:spPr/>
      <dgm:t>
        <a:bodyPr/>
        <a:lstStyle/>
        <a:p>
          <a:endParaRPr lang="en-US"/>
        </a:p>
      </dgm:t>
    </dgm:pt>
    <dgm:pt modelId="{D1ADB112-686B-4AE6-8DF5-155B6144A89E}">
      <dgm:prSet/>
      <dgm:spPr/>
      <dgm:t>
        <a:bodyPr/>
        <a:lstStyle/>
        <a:p>
          <a:r>
            <a:rPr lang="en-US"/>
            <a:t>Ensuring Correct Model Specification</a:t>
          </a:r>
        </a:p>
      </dgm:t>
    </dgm:pt>
    <dgm:pt modelId="{40D6214A-4F92-4B23-9A37-DDB552E403AD}" type="parTrans" cxnId="{124C0E06-6B6B-43C6-89A8-1D3FC7CB21D4}">
      <dgm:prSet/>
      <dgm:spPr/>
      <dgm:t>
        <a:bodyPr/>
        <a:lstStyle/>
        <a:p>
          <a:endParaRPr lang="en-US"/>
        </a:p>
      </dgm:t>
    </dgm:pt>
    <dgm:pt modelId="{ED25BCC7-1205-4137-B6E4-886AEE7F5057}" type="sibTrans" cxnId="{124C0E06-6B6B-43C6-89A8-1D3FC7CB21D4}">
      <dgm:prSet/>
      <dgm:spPr/>
      <dgm:t>
        <a:bodyPr/>
        <a:lstStyle/>
        <a:p>
          <a:endParaRPr lang="en-US"/>
        </a:p>
      </dgm:t>
    </dgm:pt>
    <dgm:pt modelId="{2782B755-35F3-4859-B21E-0B8D049F1DCA}">
      <dgm:prSet/>
      <dgm:spPr/>
      <dgm:t>
        <a:bodyPr/>
        <a:lstStyle/>
        <a:p>
          <a:r>
            <a:rPr lang="en-US"/>
            <a:t>Follow the modeling guidelines recommended for MSM.</a:t>
          </a:r>
        </a:p>
      </dgm:t>
    </dgm:pt>
    <dgm:pt modelId="{7E70A686-E855-4901-92B4-99B866E630CA}" type="parTrans" cxnId="{9DADD8A7-3F3F-4622-BA64-F1D597EFAE10}">
      <dgm:prSet/>
      <dgm:spPr/>
      <dgm:t>
        <a:bodyPr/>
        <a:lstStyle/>
        <a:p>
          <a:endParaRPr lang="en-US"/>
        </a:p>
      </dgm:t>
    </dgm:pt>
    <dgm:pt modelId="{B45B1C2A-5A15-492B-8D79-0841756D51DF}" type="sibTrans" cxnId="{9DADD8A7-3F3F-4622-BA64-F1D597EFAE10}">
      <dgm:prSet/>
      <dgm:spPr/>
      <dgm:t>
        <a:bodyPr/>
        <a:lstStyle/>
        <a:p>
          <a:endParaRPr lang="en-US"/>
        </a:p>
      </dgm:t>
    </dgm:pt>
    <dgm:pt modelId="{7BCCA379-1DDF-4E5A-B666-D628ECF7D7D1}">
      <dgm:prSet/>
      <dgm:spPr/>
      <dgm:t>
        <a:bodyPr/>
        <a:lstStyle/>
        <a:p>
          <a:r>
            <a:rPr lang="en-US"/>
            <a:t>With stabilized weights, do not omit baseline confounders in the extended Cox model if they are imbalanced between randomized groups.</a:t>
          </a:r>
        </a:p>
      </dgm:t>
    </dgm:pt>
    <dgm:pt modelId="{68BF7523-F5AF-4161-94DC-2F89EE950234}" type="parTrans" cxnId="{32699C78-0CA1-45A2-9557-2144A3720C1B}">
      <dgm:prSet/>
      <dgm:spPr/>
      <dgm:t>
        <a:bodyPr/>
        <a:lstStyle/>
        <a:p>
          <a:endParaRPr lang="en-US"/>
        </a:p>
      </dgm:t>
    </dgm:pt>
    <dgm:pt modelId="{56B19815-7DF5-4465-B8E9-5145F4A6C436}" type="sibTrans" cxnId="{32699C78-0CA1-45A2-9557-2144A3720C1B}">
      <dgm:prSet/>
      <dgm:spPr/>
      <dgm:t>
        <a:bodyPr/>
        <a:lstStyle/>
        <a:p>
          <a:endParaRPr lang="en-US"/>
        </a:p>
      </dgm:t>
    </dgm:pt>
    <dgm:pt modelId="{FEBB02BA-9B2B-4004-B39D-0E7F9DD05656}" type="pres">
      <dgm:prSet presAssocID="{2DE86000-1961-46C8-A7DA-B917B99340D1}" presName="Name0" presStyleCnt="0">
        <dgm:presLayoutVars>
          <dgm:dir/>
          <dgm:animLvl val="lvl"/>
          <dgm:resizeHandles val="exact"/>
        </dgm:presLayoutVars>
      </dgm:prSet>
      <dgm:spPr/>
    </dgm:pt>
    <dgm:pt modelId="{E256BF3B-3831-484E-80BC-50C3B19D16E0}" type="pres">
      <dgm:prSet presAssocID="{07EB3B12-D8A3-4C0E-BAA0-7AD36154602B}" presName="composite" presStyleCnt="0"/>
      <dgm:spPr/>
    </dgm:pt>
    <dgm:pt modelId="{3FCE3689-868D-4F21-AF25-1DCDE46B48CE}" type="pres">
      <dgm:prSet presAssocID="{07EB3B12-D8A3-4C0E-BAA0-7AD36154602B}" presName="parTx" presStyleLbl="alignNode1" presStyleIdx="0" presStyleCnt="3">
        <dgm:presLayoutVars>
          <dgm:chMax val="0"/>
          <dgm:chPref val="0"/>
        </dgm:presLayoutVars>
      </dgm:prSet>
      <dgm:spPr/>
    </dgm:pt>
    <dgm:pt modelId="{4AC4A6E2-229F-4326-85D9-FA8465ED6FAE}" type="pres">
      <dgm:prSet presAssocID="{07EB3B12-D8A3-4C0E-BAA0-7AD36154602B}" presName="desTx" presStyleLbl="alignAccFollowNode1" presStyleIdx="0" presStyleCnt="3">
        <dgm:presLayoutVars/>
      </dgm:prSet>
      <dgm:spPr/>
    </dgm:pt>
    <dgm:pt modelId="{C495112F-C970-4F79-A9A8-DC72461DF8B0}" type="pres">
      <dgm:prSet presAssocID="{81AAFC9A-22B3-4EEF-BFCA-AB0FCECB8F58}" presName="space" presStyleCnt="0"/>
      <dgm:spPr/>
    </dgm:pt>
    <dgm:pt modelId="{3B767A99-4AA7-421C-8A82-7DDA1D9EA61E}" type="pres">
      <dgm:prSet presAssocID="{FAAE3B67-A4E8-43D4-B8E2-068D12727E0A}" presName="composite" presStyleCnt="0"/>
      <dgm:spPr/>
    </dgm:pt>
    <dgm:pt modelId="{C888C0B2-F6FF-4D22-AD98-191EACEF6BF7}" type="pres">
      <dgm:prSet presAssocID="{FAAE3B67-A4E8-43D4-B8E2-068D12727E0A}" presName="parTx" presStyleLbl="alignNode1" presStyleIdx="1" presStyleCnt="3">
        <dgm:presLayoutVars>
          <dgm:chMax val="0"/>
          <dgm:chPref val="0"/>
        </dgm:presLayoutVars>
      </dgm:prSet>
      <dgm:spPr/>
    </dgm:pt>
    <dgm:pt modelId="{5249007E-5906-419D-99EF-FBFD0A63F0AE}" type="pres">
      <dgm:prSet presAssocID="{FAAE3B67-A4E8-43D4-B8E2-068D12727E0A}" presName="desTx" presStyleLbl="alignAccFollowNode1" presStyleIdx="1" presStyleCnt="3">
        <dgm:presLayoutVars/>
      </dgm:prSet>
      <dgm:spPr/>
    </dgm:pt>
    <dgm:pt modelId="{1F7D9F1F-EB7C-421A-B6DE-24BAF0935FCF}" type="pres">
      <dgm:prSet presAssocID="{E719A444-C01E-426E-AC6E-24E0C1E85F59}" presName="space" presStyleCnt="0"/>
      <dgm:spPr/>
    </dgm:pt>
    <dgm:pt modelId="{B392CD69-3066-4A64-9798-E2A9AED5EC94}" type="pres">
      <dgm:prSet presAssocID="{4B352717-99BF-46EF-AF2D-4F52B6AE7014}" presName="composite" presStyleCnt="0"/>
      <dgm:spPr/>
    </dgm:pt>
    <dgm:pt modelId="{26E10BBD-6BE6-4DCA-A44D-BF672BF5BFAF}" type="pres">
      <dgm:prSet presAssocID="{4B352717-99BF-46EF-AF2D-4F52B6AE7014}" presName="parTx" presStyleLbl="alignNode1" presStyleIdx="2" presStyleCnt="3">
        <dgm:presLayoutVars>
          <dgm:chMax val="0"/>
          <dgm:chPref val="0"/>
        </dgm:presLayoutVars>
      </dgm:prSet>
      <dgm:spPr/>
    </dgm:pt>
    <dgm:pt modelId="{25A81F04-15DA-4C24-9E4D-F7CF42279B6D}" type="pres">
      <dgm:prSet presAssocID="{4B352717-99BF-46EF-AF2D-4F52B6AE7014}" presName="desTx" presStyleLbl="alignAccFollowNode1" presStyleIdx="2" presStyleCnt="3">
        <dgm:presLayoutVars/>
      </dgm:prSet>
      <dgm:spPr/>
    </dgm:pt>
  </dgm:ptLst>
  <dgm:cxnLst>
    <dgm:cxn modelId="{4154B201-14BB-4EC6-8C15-DEBDB4555A3A}" type="presOf" srcId="{4B352717-99BF-46EF-AF2D-4F52B6AE7014}" destId="{26E10BBD-6BE6-4DCA-A44D-BF672BF5BFAF}" srcOrd="0" destOrd="0" presId="urn:microsoft.com/office/officeart/2016/7/layout/HorizontalActionList"/>
    <dgm:cxn modelId="{124C0E06-6B6B-43C6-89A8-1D3FC7CB21D4}" srcId="{4B352717-99BF-46EF-AF2D-4F52B6AE7014}" destId="{D1ADB112-686B-4AE6-8DF5-155B6144A89E}" srcOrd="0" destOrd="0" parTransId="{40D6214A-4F92-4B23-9A37-DDB552E403AD}" sibTransId="{ED25BCC7-1205-4137-B6E4-886AEE7F5057}"/>
    <dgm:cxn modelId="{4E072806-5879-4BED-ACAD-96DC49E672B5}" type="presOf" srcId="{8EA0A155-37CF-4CB8-AD2F-F8A7FC052BA9}" destId="{4AC4A6E2-229F-4326-85D9-FA8465ED6FAE}" srcOrd="0" destOrd="2" presId="urn:microsoft.com/office/officeart/2016/7/layout/HorizontalActionList"/>
    <dgm:cxn modelId="{AE582F07-A5A6-462C-B5BD-CE31D3D67134}" srcId="{07EB3B12-D8A3-4C0E-BAA0-7AD36154602B}" destId="{42D68D42-81F2-4AD0-A222-35D3F1415D0C}" srcOrd="0" destOrd="0" parTransId="{70B21453-D606-49A6-8E1C-0B036E50064F}" sibTransId="{9FD95DA2-0B6A-4998-B2EC-EF02F045D9AF}"/>
    <dgm:cxn modelId="{3DDF4707-5290-4628-938A-E7F7CA82CB83}" type="presOf" srcId="{3355CA83-D00A-4A01-B31C-789B35B1E48A}" destId="{5249007E-5906-419D-99EF-FBFD0A63F0AE}" srcOrd="0" destOrd="0" presId="urn:microsoft.com/office/officeart/2016/7/layout/HorizontalActionList"/>
    <dgm:cxn modelId="{D0D95B0D-DA08-4FE8-9F54-5D9EE2FDBBA8}" type="presOf" srcId="{7BCCA379-1DDF-4E5A-B666-D628ECF7D7D1}" destId="{25A81F04-15DA-4C24-9E4D-F7CF42279B6D}" srcOrd="0" destOrd="2" presId="urn:microsoft.com/office/officeart/2016/7/layout/HorizontalActionList"/>
    <dgm:cxn modelId="{CCD30D22-B1E4-4CCD-8C29-7887361FD529}" type="presOf" srcId="{B083D93A-7C5C-4456-8576-4A567BB54ED3}" destId="{5249007E-5906-419D-99EF-FBFD0A63F0AE}" srcOrd="0" destOrd="1" presId="urn:microsoft.com/office/officeart/2016/7/layout/HorizontalActionList"/>
    <dgm:cxn modelId="{4D23E331-511B-4DE1-A394-34291D6B5763}" type="presOf" srcId="{D1ADB112-686B-4AE6-8DF5-155B6144A89E}" destId="{25A81F04-15DA-4C24-9E4D-F7CF42279B6D}" srcOrd="0" destOrd="0" presId="urn:microsoft.com/office/officeart/2016/7/layout/HorizontalActionList"/>
    <dgm:cxn modelId="{EB8FBE5B-CC52-4690-B224-1EFC355A4D04}" srcId="{42D68D42-81F2-4AD0-A222-35D3F1415D0C}" destId="{F17B1CF4-7DCA-43FF-B21D-588F934B2E95}" srcOrd="0" destOrd="0" parTransId="{003DA2C4-51F0-462C-8B6B-2E788B91BFB3}" sibTransId="{BA353397-7F64-405B-BCE4-7D3C0DAD361D}"/>
    <dgm:cxn modelId="{172DBC5F-D0C4-45AD-90F1-A596F1CA7168}" srcId="{2DE86000-1961-46C8-A7DA-B917B99340D1}" destId="{07EB3B12-D8A3-4C0E-BAA0-7AD36154602B}" srcOrd="0" destOrd="0" parTransId="{33AA26DD-5661-474D-9650-A84C3D1EBFBF}" sibTransId="{81AAFC9A-22B3-4EEF-BFCA-AB0FCECB8F58}"/>
    <dgm:cxn modelId="{76A68345-2A55-4125-ABDB-FBBF5FD4C6EE}" srcId="{3355CA83-D00A-4A01-B31C-789B35B1E48A}" destId="{B083D93A-7C5C-4456-8576-4A567BB54ED3}" srcOrd="0" destOrd="0" parTransId="{BE0C441A-4D0A-428F-9B1A-BB9B8E9BFDE2}" sibTransId="{FC9DD8DE-CB44-4B92-8EEF-63BB5002349B}"/>
    <dgm:cxn modelId="{22A13947-0765-4362-AA48-1CB2FB85BD71}" srcId="{FAAE3B67-A4E8-43D4-B8E2-068D12727E0A}" destId="{3355CA83-D00A-4A01-B31C-789B35B1E48A}" srcOrd="0" destOrd="0" parTransId="{73CBBDFE-7505-495B-8210-CB34C4E805C0}" sibTransId="{D71FD2B9-C15B-4B48-8381-0A089CCB5F8D}"/>
    <dgm:cxn modelId="{F631894A-4C31-4A4A-8B9C-6199D11EBE65}" srcId="{3355CA83-D00A-4A01-B31C-789B35B1E48A}" destId="{49E37AC2-0F11-4BFA-BA1B-529D7BA69E8B}" srcOrd="2" destOrd="0" parTransId="{FF0CC093-EF3F-47E5-8B42-F85EDA9D26B0}" sibTransId="{3CD7DECA-8219-482E-9520-A82E72DFF7FB}"/>
    <dgm:cxn modelId="{B323814E-4C08-49CF-9010-C97C08C9864A}" type="presOf" srcId="{07EB3B12-D8A3-4C0E-BAA0-7AD36154602B}" destId="{3FCE3689-868D-4F21-AF25-1DCDE46B48CE}" srcOrd="0" destOrd="0" presId="urn:microsoft.com/office/officeart/2016/7/layout/HorizontalActionList"/>
    <dgm:cxn modelId="{F4CB954E-E4BC-4864-8E4B-97E2F0B8B59B}" srcId="{2DE86000-1961-46C8-A7DA-B917B99340D1}" destId="{4B352717-99BF-46EF-AF2D-4F52B6AE7014}" srcOrd="2" destOrd="0" parTransId="{D9D9BA55-0B5F-471D-A026-26E9618FFE46}" sibTransId="{61DF6308-EDD2-4652-88C1-D7D8E46C66DD}"/>
    <dgm:cxn modelId="{32699C78-0CA1-45A2-9557-2144A3720C1B}" srcId="{D1ADB112-686B-4AE6-8DF5-155B6144A89E}" destId="{7BCCA379-1DDF-4E5A-B666-D628ECF7D7D1}" srcOrd="1" destOrd="0" parTransId="{68BF7523-F5AF-4161-94DC-2F89EE950234}" sibTransId="{56B19815-7DF5-4465-B8E9-5145F4A6C436}"/>
    <dgm:cxn modelId="{F4BF0879-9273-4E35-982F-7DAE9E90F2D4}" type="presOf" srcId="{FAAE3B67-A4E8-43D4-B8E2-068D12727E0A}" destId="{C888C0B2-F6FF-4D22-AD98-191EACEF6BF7}" srcOrd="0" destOrd="0" presId="urn:microsoft.com/office/officeart/2016/7/layout/HorizontalActionList"/>
    <dgm:cxn modelId="{9DADD8A7-3F3F-4622-BA64-F1D597EFAE10}" srcId="{D1ADB112-686B-4AE6-8DF5-155B6144A89E}" destId="{2782B755-35F3-4859-B21E-0B8D049F1DCA}" srcOrd="0" destOrd="0" parTransId="{7E70A686-E855-4901-92B4-99B866E630CA}" sibTransId="{B45B1C2A-5A15-492B-8D79-0841756D51DF}"/>
    <dgm:cxn modelId="{34A81AB3-C2A7-46AA-8D96-0469E19C8D85}" type="presOf" srcId="{F17B1CF4-7DCA-43FF-B21D-588F934B2E95}" destId="{4AC4A6E2-229F-4326-85D9-FA8465ED6FAE}" srcOrd="0" destOrd="1" presId="urn:microsoft.com/office/officeart/2016/7/layout/HorizontalActionList"/>
    <dgm:cxn modelId="{43879CB7-A1A8-4E9F-AF8D-8529B5EC5F58}" srcId="{42D68D42-81F2-4AD0-A222-35D3F1415D0C}" destId="{8EA0A155-37CF-4CB8-AD2F-F8A7FC052BA9}" srcOrd="1" destOrd="0" parTransId="{FB932D26-7B35-45EE-BFCE-F951222DF185}" sibTransId="{EB6FD11A-43C8-47AA-9282-4C43447565D0}"/>
    <dgm:cxn modelId="{3B9ACCC6-D2F1-42E7-B812-7FEE80482273}" srcId="{3355CA83-D00A-4A01-B31C-789B35B1E48A}" destId="{BE45B5D6-9D6C-4F59-AE7E-A1D54B7641B7}" srcOrd="1" destOrd="0" parTransId="{E7132147-95F2-4F06-BAE5-9A44F31214F8}" sibTransId="{561B43F7-B9A6-4B41-873A-B829A08983A8}"/>
    <dgm:cxn modelId="{C2306CC8-A0F0-4E05-BD3E-828829A94244}" type="presOf" srcId="{2DE86000-1961-46C8-A7DA-B917B99340D1}" destId="{FEBB02BA-9B2B-4004-B39D-0E7F9DD05656}" srcOrd="0" destOrd="0" presId="urn:microsoft.com/office/officeart/2016/7/layout/HorizontalActionList"/>
    <dgm:cxn modelId="{06FF88D9-49FD-4FB7-8190-E81573706154}" srcId="{2DE86000-1961-46C8-A7DA-B917B99340D1}" destId="{FAAE3B67-A4E8-43D4-B8E2-068D12727E0A}" srcOrd="1" destOrd="0" parTransId="{8D6199C3-173B-4D23-8CA7-A6ED97100226}" sibTransId="{E719A444-C01E-426E-AC6E-24E0C1E85F59}"/>
    <dgm:cxn modelId="{C46129DC-6257-46DF-AC11-5A88D390CEDC}" type="presOf" srcId="{BE45B5D6-9D6C-4F59-AE7E-A1D54B7641B7}" destId="{5249007E-5906-419D-99EF-FBFD0A63F0AE}" srcOrd="0" destOrd="2" presId="urn:microsoft.com/office/officeart/2016/7/layout/HorizontalActionList"/>
    <dgm:cxn modelId="{8BF539DD-6C4D-4D36-8882-9052D52DB772}" type="presOf" srcId="{2782B755-35F3-4859-B21E-0B8D049F1DCA}" destId="{25A81F04-15DA-4C24-9E4D-F7CF42279B6D}" srcOrd="0" destOrd="1" presId="urn:microsoft.com/office/officeart/2016/7/layout/HorizontalActionList"/>
    <dgm:cxn modelId="{BE6106E9-69B3-4E35-AD1C-82E1D688D5D4}" type="presOf" srcId="{42D68D42-81F2-4AD0-A222-35D3F1415D0C}" destId="{4AC4A6E2-229F-4326-85D9-FA8465ED6FAE}" srcOrd="0" destOrd="0" presId="urn:microsoft.com/office/officeart/2016/7/layout/HorizontalActionList"/>
    <dgm:cxn modelId="{4BC94AF9-C614-48B1-B7CF-2DFE2CB40919}" type="presOf" srcId="{49E37AC2-0F11-4BFA-BA1B-529D7BA69E8B}" destId="{5249007E-5906-419D-99EF-FBFD0A63F0AE}" srcOrd="0" destOrd="3" presId="urn:microsoft.com/office/officeart/2016/7/layout/HorizontalActionList"/>
    <dgm:cxn modelId="{232BBFBB-1960-40E5-A497-135042836789}" type="presParOf" srcId="{FEBB02BA-9B2B-4004-B39D-0E7F9DD05656}" destId="{E256BF3B-3831-484E-80BC-50C3B19D16E0}" srcOrd="0" destOrd="0" presId="urn:microsoft.com/office/officeart/2016/7/layout/HorizontalActionList"/>
    <dgm:cxn modelId="{13047259-9CC3-4B6D-B9D5-2289E4105083}" type="presParOf" srcId="{E256BF3B-3831-484E-80BC-50C3B19D16E0}" destId="{3FCE3689-868D-4F21-AF25-1DCDE46B48CE}" srcOrd="0" destOrd="0" presId="urn:microsoft.com/office/officeart/2016/7/layout/HorizontalActionList"/>
    <dgm:cxn modelId="{2CCC15E6-8486-4FC7-8652-60AC3912506D}" type="presParOf" srcId="{E256BF3B-3831-484E-80BC-50C3B19D16E0}" destId="{4AC4A6E2-229F-4326-85D9-FA8465ED6FAE}" srcOrd="1" destOrd="0" presId="urn:microsoft.com/office/officeart/2016/7/layout/HorizontalActionList"/>
    <dgm:cxn modelId="{5C4FD9EA-948B-4D67-AA54-83AC27E3340F}" type="presParOf" srcId="{FEBB02BA-9B2B-4004-B39D-0E7F9DD05656}" destId="{C495112F-C970-4F79-A9A8-DC72461DF8B0}" srcOrd="1" destOrd="0" presId="urn:microsoft.com/office/officeart/2016/7/layout/HorizontalActionList"/>
    <dgm:cxn modelId="{31AB5BCA-A6EF-403E-A8E7-3B7718CA1060}" type="presParOf" srcId="{FEBB02BA-9B2B-4004-B39D-0E7F9DD05656}" destId="{3B767A99-4AA7-421C-8A82-7DDA1D9EA61E}" srcOrd="2" destOrd="0" presId="urn:microsoft.com/office/officeart/2016/7/layout/HorizontalActionList"/>
    <dgm:cxn modelId="{FDD67EEA-ACFE-4681-9D2F-1F921DCBB654}" type="presParOf" srcId="{3B767A99-4AA7-421C-8A82-7DDA1D9EA61E}" destId="{C888C0B2-F6FF-4D22-AD98-191EACEF6BF7}" srcOrd="0" destOrd="0" presId="urn:microsoft.com/office/officeart/2016/7/layout/HorizontalActionList"/>
    <dgm:cxn modelId="{36ED0813-4C22-4172-AEE4-ED26E9BA1BA0}" type="presParOf" srcId="{3B767A99-4AA7-421C-8A82-7DDA1D9EA61E}" destId="{5249007E-5906-419D-99EF-FBFD0A63F0AE}" srcOrd="1" destOrd="0" presId="urn:microsoft.com/office/officeart/2016/7/layout/HorizontalActionList"/>
    <dgm:cxn modelId="{D645DB31-DD2C-4069-8E90-8CF5836977E9}" type="presParOf" srcId="{FEBB02BA-9B2B-4004-B39D-0E7F9DD05656}" destId="{1F7D9F1F-EB7C-421A-B6DE-24BAF0935FCF}" srcOrd="3" destOrd="0" presId="urn:microsoft.com/office/officeart/2016/7/layout/HorizontalActionList"/>
    <dgm:cxn modelId="{FA4AFF17-1457-4406-8F0A-C93C4E902AD4}" type="presParOf" srcId="{FEBB02BA-9B2B-4004-B39D-0E7F9DD05656}" destId="{B392CD69-3066-4A64-9798-E2A9AED5EC94}" srcOrd="4" destOrd="0" presId="urn:microsoft.com/office/officeart/2016/7/layout/HorizontalActionList"/>
    <dgm:cxn modelId="{EDB8AD03-5437-40BF-836D-644CFC11CE2E}" type="presParOf" srcId="{B392CD69-3066-4A64-9798-E2A9AED5EC94}" destId="{26E10BBD-6BE6-4DCA-A44D-BF672BF5BFAF}" srcOrd="0" destOrd="0" presId="urn:microsoft.com/office/officeart/2016/7/layout/HorizontalActionList"/>
    <dgm:cxn modelId="{74CA699D-7FF2-468D-8FCE-7D0FFBF5397C}" type="presParOf" srcId="{B392CD69-3066-4A64-9798-E2A9AED5EC94}" destId="{25A81F04-15DA-4C24-9E4D-F7CF42279B6D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73A4E8-BB66-45B4-BC05-365B95CAC5AE}">
      <dsp:nvSpPr>
        <dsp:cNvPr id="0" name=""/>
        <dsp:cNvSpPr/>
      </dsp:nvSpPr>
      <dsp:spPr>
        <a:xfrm>
          <a:off x="0" y="355349"/>
          <a:ext cx="10515600" cy="221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Means: all the variables that influence both </a:t>
          </a:r>
          <a:r>
            <a:rPr lang="en-US" sz="2200" b="1" kern="1200"/>
            <a:t>treatment decisions</a:t>
          </a:r>
          <a:r>
            <a:rPr lang="en-US" sz="2200" kern="1200"/>
            <a:t> (e.g., switching) </a:t>
          </a:r>
          <a:r>
            <a:rPr lang="en-US" sz="2200" b="1" kern="1200"/>
            <a:t>and</a:t>
          </a:r>
          <a:r>
            <a:rPr lang="en-US" sz="2200" kern="1200"/>
            <a:t> </a:t>
          </a:r>
          <a:r>
            <a:rPr lang="en-US" sz="2200" b="1" kern="1200"/>
            <a:t>outcomes</a:t>
          </a:r>
          <a:r>
            <a:rPr lang="en-US" sz="2200" kern="1200"/>
            <a:t> (e.g., survival) are </a:t>
          </a:r>
          <a:r>
            <a:rPr lang="en-US" sz="2200" b="1" kern="1200"/>
            <a:t>observed</a:t>
          </a:r>
          <a:r>
            <a:rPr lang="en-US" sz="2200" kern="1200"/>
            <a:t> and </a:t>
          </a:r>
          <a:r>
            <a:rPr lang="en-US" sz="2200" b="1" kern="1200"/>
            <a:t>included</a:t>
          </a:r>
          <a:r>
            <a:rPr lang="en-US" sz="2200" kern="1200"/>
            <a:t> in the analysis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Cannot be directly tested. In RCTs, reduce by </a:t>
          </a:r>
          <a:r>
            <a:rPr lang="en-US" sz="2200" b="1" kern="1200"/>
            <a:t>collecting all major prognostic factors</a:t>
          </a:r>
          <a:r>
            <a:rPr lang="en-US" sz="2200" kern="1200"/>
            <a:t> at trial-planning stage.</a:t>
          </a:r>
        </a:p>
      </dsp:txBody>
      <dsp:txXfrm>
        <a:off x="0" y="355349"/>
        <a:ext cx="10515600" cy="2217600"/>
      </dsp:txXfrm>
    </dsp:sp>
    <dsp:sp modelId="{C5B13E29-1F10-4368-8F31-45625286BB24}">
      <dsp:nvSpPr>
        <dsp:cNvPr id="0" name=""/>
        <dsp:cNvSpPr/>
      </dsp:nvSpPr>
      <dsp:spPr>
        <a:xfrm>
          <a:off x="525780" y="30629"/>
          <a:ext cx="73609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 unmeasured confounding</a:t>
          </a:r>
        </a:p>
      </dsp:txBody>
      <dsp:txXfrm>
        <a:off x="557483" y="62332"/>
        <a:ext cx="7297514" cy="586034"/>
      </dsp:txXfrm>
    </dsp:sp>
    <dsp:sp modelId="{98A5A978-CA9A-49C9-A56E-B8C70D2EDEF9}">
      <dsp:nvSpPr>
        <dsp:cNvPr id="0" name=""/>
        <dsp:cNvSpPr/>
      </dsp:nvSpPr>
      <dsp:spPr>
        <a:xfrm>
          <a:off x="0" y="3016469"/>
          <a:ext cx="10515600" cy="2286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Means: Each patient must have a </a:t>
          </a:r>
          <a:r>
            <a:rPr lang="en-US" sz="2200" b="1" kern="1200" dirty="0"/>
            <a:t>positive probability of switching and not switching</a:t>
          </a:r>
          <a:r>
            <a:rPr lang="en-US" sz="2200" kern="1200" dirty="0"/>
            <a:t> for any confounder pattern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/>
            <a:t>Structural non-positivity:</a:t>
          </a:r>
          <a:r>
            <a:rPr lang="en-US" sz="2200" kern="1200"/>
            <a:t> e.g., only control-arm patients can switch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/>
            <a:t>Random non-positivity:</a:t>
          </a:r>
          <a:r>
            <a:rPr lang="en-US" sz="2200" kern="1200"/>
            <a:t> small N, too many weak covariates, or sparse data late in follow-up.</a:t>
          </a:r>
        </a:p>
      </dsp:txBody>
      <dsp:txXfrm>
        <a:off x="0" y="3016469"/>
        <a:ext cx="10515600" cy="2286900"/>
      </dsp:txXfrm>
    </dsp:sp>
    <dsp:sp modelId="{D9333225-DA27-4F9E-951A-07081106DB78}">
      <dsp:nvSpPr>
        <dsp:cNvPr id="0" name=""/>
        <dsp:cNvSpPr/>
      </dsp:nvSpPr>
      <dsp:spPr>
        <a:xfrm>
          <a:off x="525780" y="2691749"/>
          <a:ext cx="73609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Positivity (non-zero treatment probability)</a:t>
          </a:r>
        </a:p>
      </dsp:txBody>
      <dsp:txXfrm>
        <a:off x="557483" y="2723452"/>
        <a:ext cx="7297514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89831F-6547-46D7-8CB0-1285E96E2CE2}">
      <dsp:nvSpPr>
        <dsp:cNvPr id="0" name=""/>
        <dsp:cNvSpPr/>
      </dsp:nvSpPr>
      <dsp:spPr>
        <a:xfrm>
          <a:off x="0" y="41544"/>
          <a:ext cx="10515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Strong positivity requirement for treatment assignment</a:t>
          </a:r>
          <a:br>
            <a:rPr lang="en-US" sz="2500" kern="1200" dirty="0"/>
          </a:br>
          <a:r>
            <a:rPr lang="en-US" sz="2500" kern="1200" dirty="0"/>
            <a:t>If certain covariate patterns </a:t>
          </a:r>
          <a:r>
            <a:rPr lang="en-US" sz="2500" i="1" kern="1200" dirty="0"/>
            <a:t>determine</a:t>
          </a:r>
          <a:r>
            <a:rPr lang="en-US" sz="2500" kern="1200" dirty="0"/>
            <a:t> treatment (prob = 0 or 1),</a:t>
          </a:r>
          <a:br>
            <a:rPr lang="en-US" sz="2500" kern="1200" dirty="0"/>
          </a:br>
          <a:r>
            <a:rPr lang="en-US" sz="2500" kern="1200" dirty="0"/>
            <a:t>IPTW cannot be constructed → bias.</a:t>
          </a:r>
        </a:p>
      </dsp:txBody>
      <dsp:txXfrm>
        <a:off x="67110" y="108654"/>
        <a:ext cx="10381380" cy="1240530"/>
      </dsp:txXfrm>
    </dsp:sp>
    <dsp:sp modelId="{6F56004A-AC9F-4891-A069-1DFEBECE7364}">
      <dsp:nvSpPr>
        <dsp:cNvPr id="0" name=""/>
        <dsp:cNvSpPr/>
      </dsp:nvSpPr>
      <dsp:spPr>
        <a:xfrm>
          <a:off x="0" y="1488294"/>
          <a:ext cx="10515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Requires Rich, Fully Observed Time-varying Covariates</a:t>
          </a:r>
          <a:br>
            <a:rPr lang="en-US" sz="2500" kern="1200" dirty="0"/>
          </a:br>
          <a:r>
            <a:rPr lang="en-US" sz="2500" kern="1200" dirty="0"/>
            <a:t>Missing or unmeasured prognostic factors → biased causal inference.</a:t>
          </a:r>
        </a:p>
      </dsp:txBody>
      <dsp:txXfrm>
        <a:off x="67110" y="1555404"/>
        <a:ext cx="10381380" cy="1240530"/>
      </dsp:txXfrm>
    </dsp:sp>
    <dsp:sp modelId="{26FBD135-CEFD-49EE-9E9E-B983E7364275}">
      <dsp:nvSpPr>
        <dsp:cNvPr id="0" name=""/>
        <dsp:cNvSpPr/>
      </dsp:nvSpPr>
      <dsp:spPr>
        <a:xfrm>
          <a:off x="0" y="2935044"/>
          <a:ext cx="10515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Special complications in RCT switching</a:t>
          </a:r>
          <a:br>
            <a:rPr lang="en-US" sz="2500" kern="1200"/>
          </a:br>
          <a:r>
            <a:rPr lang="en-US" sz="2500" kern="1200"/>
            <a:t>MSM requires including </a:t>
          </a:r>
          <a:r>
            <a:rPr lang="en-US" sz="2500" b="1" kern="1200"/>
            <a:t>R × A(t)</a:t>
          </a:r>
          <a:r>
            <a:rPr lang="en-US" sz="2500" kern="1200"/>
            <a:t> interaction by default;</a:t>
          </a:r>
          <a:br>
            <a:rPr lang="en-US" sz="2500" kern="1200"/>
          </a:br>
          <a:r>
            <a:rPr lang="en-US" sz="2500" kern="1200"/>
            <a:t>curves may cross → median survival hard to interpret.</a:t>
          </a:r>
        </a:p>
      </dsp:txBody>
      <dsp:txXfrm>
        <a:off x="67110" y="3002154"/>
        <a:ext cx="10381380" cy="12405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B78EA-037D-4FE6-9CD5-59CE5ABC7237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1️⃣Estimate the probability of remaining uncensored: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Using pooled logistic regression to compute </a:t>
          </a:r>
          <a:r>
            <a:rPr lang="en-US" sz="1500" b="1" kern="1200" dirty="0"/>
            <a:t>the probability of staying uncensored</a:t>
          </a:r>
          <a:endParaRPr lang="en-US" sz="1500" kern="1200" dirty="0"/>
        </a:p>
      </dsp:txBody>
      <dsp:txXfrm>
        <a:off x="28038" y="28038"/>
        <a:ext cx="7298593" cy="901218"/>
      </dsp:txXfrm>
    </dsp:sp>
    <dsp:sp modelId="{7C7E255F-2AA3-439C-9501-E5127F03D95C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2️⃣ Compute IPCW </a:t>
          </a:r>
          <a:r>
            <a:rPr lang="en-US" sz="1500" b="1" kern="1200"/>
            <a:t>= inverse of the probability of staying uncensored</a:t>
          </a:r>
          <a:endParaRPr lang="en-US" sz="1500" kern="1200"/>
        </a:p>
      </dsp:txBody>
      <dsp:txXfrm>
        <a:off x="732583" y="1159385"/>
        <a:ext cx="7029617" cy="901218"/>
      </dsp:txXfrm>
    </dsp:sp>
    <dsp:sp modelId="{96483274-7E74-4BFE-A1CC-D141E78888BC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3️⃣ Derive </a:t>
          </a:r>
          <a:r>
            <a:rPr lang="en-US" sz="1500" b="1" kern="1200"/>
            <a:t>stabilized weights</a:t>
          </a:r>
          <a:r>
            <a:rPr lang="en-US" sz="1500" kern="1200"/>
            <a:t> to prevent large variability </a:t>
          </a:r>
        </a:p>
      </dsp:txBody>
      <dsp:txXfrm>
        <a:off x="1426612" y="2290733"/>
        <a:ext cx="7040133" cy="901218"/>
      </dsp:txXfrm>
    </dsp:sp>
    <dsp:sp modelId="{EF721BEC-ECC6-4798-A591-A4C1D4CB5368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After reweighting, the uncensored patients are weighted to represent the full study population that would have been observed if censoring were random, thereby reducing bias from informative censoring</a:t>
          </a:r>
        </a:p>
      </dsp:txBody>
      <dsp:txXfrm>
        <a:off x="2131157" y="3422081"/>
        <a:ext cx="7029617" cy="901218"/>
      </dsp:txXfrm>
    </dsp:sp>
    <dsp:sp modelId="{138E1E9E-2AFA-4BD5-973E-D27A26A6D9B9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143A2355-11F8-4B2E-812C-8E8474990646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E8238E76-DCD5-44BB-B70B-6C4067770118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CE3689-868D-4F21-AF25-1DCDE46B48CE}">
      <dsp:nvSpPr>
        <dsp:cNvPr id="0" name=""/>
        <dsp:cNvSpPr/>
      </dsp:nvSpPr>
      <dsp:spPr>
        <a:xfrm>
          <a:off x="10090" y="0"/>
          <a:ext cx="3426543" cy="102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Accommodating</a:t>
          </a:r>
        </a:p>
      </dsp:txBody>
      <dsp:txXfrm>
        <a:off x="10090" y="0"/>
        <a:ext cx="3426543" cy="1027963"/>
      </dsp:txXfrm>
    </dsp:sp>
    <dsp:sp modelId="{4AC4A6E2-229F-4326-85D9-FA8465ED6FAE}">
      <dsp:nvSpPr>
        <dsp:cNvPr id="0" name=""/>
        <dsp:cNvSpPr/>
      </dsp:nvSpPr>
      <dsp:spPr>
        <a:xfrm>
          <a:off x="10090" y="1027963"/>
          <a:ext cx="3426543" cy="32239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Accommodating the “No Unmeasured Confounders” Assumption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 RCTs this assumption is not testable.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It may not be perfectly true, but can be made approximately valid through careful trial design and thorough collection of prognostic factors.</a:t>
          </a:r>
        </a:p>
      </dsp:txBody>
      <dsp:txXfrm>
        <a:off x="10090" y="1027963"/>
        <a:ext cx="3426543" cy="3223996"/>
      </dsp:txXfrm>
    </dsp:sp>
    <dsp:sp modelId="{C888C0B2-F6FF-4D22-AD98-191EACEF6BF7}">
      <dsp:nvSpPr>
        <dsp:cNvPr id="0" name=""/>
        <dsp:cNvSpPr/>
      </dsp:nvSpPr>
      <dsp:spPr>
        <a:xfrm>
          <a:off x="3544528" y="0"/>
          <a:ext cx="3426543" cy="102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Avoiding</a:t>
          </a:r>
        </a:p>
      </dsp:txBody>
      <dsp:txXfrm>
        <a:off x="3544528" y="0"/>
        <a:ext cx="3426543" cy="1027963"/>
      </dsp:txXfrm>
    </dsp:sp>
    <dsp:sp modelId="{5249007E-5906-419D-99EF-FBFD0A63F0AE}">
      <dsp:nvSpPr>
        <dsp:cNvPr id="0" name=""/>
        <dsp:cNvSpPr/>
      </dsp:nvSpPr>
      <dsp:spPr>
        <a:xfrm>
          <a:off x="3544528" y="1027963"/>
          <a:ext cx="3426543" cy="32239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Avoiding Positivity Violations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Structural positivity violation:</a:t>
          </a:r>
          <a:br>
            <a:rPr lang="en-US" sz="1400" kern="1200" dirty="0"/>
          </a:br>
          <a:r>
            <a:rPr lang="en-US" sz="1400" kern="1200" dirty="0"/>
            <a:t>If all patients switch → IPCW cannot be applied.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High switching proportion (&gt;70%) → IPCW cannot be applied.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Very low switching proportion→ IPCW cannot be applied.</a:t>
          </a:r>
        </a:p>
      </dsp:txBody>
      <dsp:txXfrm>
        <a:off x="3544528" y="1027963"/>
        <a:ext cx="3426543" cy="3223996"/>
      </dsp:txXfrm>
    </dsp:sp>
    <dsp:sp modelId="{26E10BBD-6BE6-4DCA-A44D-BF672BF5BFAF}">
      <dsp:nvSpPr>
        <dsp:cNvPr id="0" name=""/>
        <dsp:cNvSpPr/>
      </dsp:nvSpPr>
      <dsp:spPr>
        <a:xfrm>
          <a:off x="7078966" y="0"/>
          <a:ext cx="3426543" cy="102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Ensuring</a:t>
          </a:r>
        </a:p>
      </dsp:txBody>
      <dsp:txXfrm>
        <a:off x="7078966" y="0"/>
        <a:ext cx="3426543" cy="1027963"/>
      </dsp:txXfrm>
    </dsp:sp>
    <dsp:sp modelId="{25A81F04-15DA-4C24-9E4D-F7CF42279B6D}">
      <dsp:nvSpPr>
        <dsp:cNvPr id="0" name=""/>
        <dsp:cNvSpPr/>
      </dsp:nvSpPr>
      <dsp:spPr>
        <a:xfrm>
          <a:off x="7078966" y="1027963"/>
          <a:ext cx="3426543" cy="32239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Ensuring Correct Model Specification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Follow the modeling guidelines recommended for MSM.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With stabilized weights, do not omit baseline confounders in the extended Cox model if they are imbalanced between randomized groups.</a:t>
          </a:r>
        </a:p>
      </dsp:txBody>
      <dsp:txXfrm>
        <a:off x="7078966" y="1027963"/>
        <a:ext cx="3426543" cy="32239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240C4-442C-44AC-98D9-BBE87B3A135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FB31A-F8AF-4500-9677-10A1D497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6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50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4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19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After we finish calculating the weights, we fit a Cox model using those weights. The key idea is that the weights have already balanced the data, so treatment and censoring now behave as if they were randomized.</a:t>
                </a:r>
              </a:p>
              <a:p>
                <a:r>
                  <a:rPr lang="en-US" dirty="0"/>
                  <a:t>In this model,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r>
                  <a:rPr lang="en-US" dirty="0"/>
                  <a:t>represents the treatment status that can change over time, 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US" dirty="0"/>
                  <a:t>includes baseline covariates. The coefficient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𝛽_1</a:t>
                </a:r>
                <a:r>
                  <a:rPr lang="en-US" dirty="0"/>
                  <a:t>captures the causal effect of receiving treatment at time </a:t>
                </a:r>
                <a:r>
                  <a:rPr lang="en-US" i="1" dirty="0"/>
                  <a:t>t</a:t>
                </a:r>
                <a:r>
                  <a:rPr lang="en-US" dirty="0"/>
                  <a:t> on the hazard of the outcome, while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𝛽_0</a:t>
                </a:r>
                <a:r>
                  <a:rPr lang="en-US" dirty="0"/>
                  <a:t>adjusts for baseline factors.</a:t>
                </a:r>
              </a:p>
              <a:p>
                <a:r>
                  <a:rPr lang="en-US" dirty="0"/>
                  <a:t>So the model no longer suffers from bias due to time-varying confounders, The</a:t>
                </a:r>
                <a:r>
                  <a:rPr lang="en-US" baseline="0" dirty="0"/>
                  <a:t> </a:t>
                </a:r>
                <a:r>
                  <a:rPr lang="en-US" dirty="0"/>
                  <a:t>exponentiate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𝛽_1</a:t>
                </a:r>
                <a:r>
                  <a:rPr lang="ar-AE" dirty="0"/>
                  <a:t>,</a:t>
                </a:r>
                <a:r>
                  <a:rPr lang="en-US" baseline="0" dirty="0"/>
                  <a:t> </a:t>
                </a:r>
                <a:r>
                  <a:rPr lang="en-US" dirty="0"/>
                  <a:t>represents the </a:t>
                </a:r>
                <a:r>
                  <a:rPr lang="en-US" b="1" dirty="0"/>
                  <a:t>causal hazard ratio</a:t>
                </a:r>
                <a:r>
                  <a:rPr lang="en-US" dirty="0"/>
                  <a:t> of treatment at time </a:t>
                </a:r>
                <a:r>
                  <a:rPr lang="en-US" i="1" dirty="0"/>
                  <a:t>t</a:t>
                </a:r>
                <a:r>
                  <a:rPr lang="en-US" dirty="0"/>
                  <a:t> in the weighted pseudo-population.</a:t>
                </a:r>
              </a:p>
              <a:p>
                <a:endParaRPr lang="en-US" dirty="0"/>
              </a:p>
              <a:p>
                <a:r>
                  <a:rPr lang="en-US" dirty="0"/>
                  <a:t>we can also calculate the weighted Kaplan–Meier survival function under the MSM framework. At each event time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𝑡_𝑗</a:t>
                </a:r>
                <a:r>
                  <a:rPr lang="ar-AE" dirty="0"/>
                  <a:t>, </a:t>
                </a:r>
                <a:r>
                  <a:rPr lang="en-US" baseline="0" dirty="0"/>
                  <a:t> we compute the </a:t>
                </a:r>
                <a:r>
                  <a:rPr lang="en-US" dirty="0"/>
                  <a:t>weighted number of deaths and the weighted number of individuals at risk</a:t>
                </a:r>
                <a:r>
                  <a:rPr lang="en-US" baseline="0" dirty="0"/>
                  <a:t> using this formula</a:t>
                </a:r>
                <a:r>
                  <a:rPr lang="en-US" dirty="0"/>
                  <a:t>. As a result, the survival curve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r>
                  <a:rPr lang="en-US" dirty="0"/>
                  <a:t>represents what we would expect if treatment and censoring were randomized. The same weighting idea is also used in the </a:t>
                </a:r>
                <a:r>
                  <a:rPr lang="en-US" b="1" dirty="0"/>
                  <a:t>weighted log-rank test</a:t>
                </a:r>
                <a:r>
                  <a:rPr lang="en-US" dirty="0"/>
                  <a:t>, which compares these adjusted survival curves between treatment groups.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99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38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There are two different types of switching as Wenyi introduced: two-way switching and one-way switching</a:t>
                </a:r>
              </a:p>
              <a:p>
                <a:r>
                  <a:rPr lang="en-US" dirty="0"/>
                  <a:t>First let’s see MSM in two-ways switching trials. Similarly, we first compute the weights. The </a:t>
                </a:r>
                <a:r>
                  <a:rPr lang="en-US" b="1" dirty="0"/>
                  <a:t>IPCW</a:t>
                </a:r>
                <a:r>
                  <a:rPr lang="en-US" dirty="0"/>
                  <a:t>, same as before, corrects for informative censoring. The </a:t>
                </a:r>
                <a:r>
                  <a:rPr lang="en-US" b="1" dirty="0"/>
                  <a:t>IPTW</a:t>
                </a:r>
                <a:r>
                  <a:rPr lang="en-US" dirty="0"/>
                  <a:t>, however, is now based on the </a:t>
                </a:r>
                <a:r>
                  <a:rPr lang="en-US" i="1" dirty="0"/>
                  <a:t>inverse probability of switching</a:t>
                </a:r>
                <a:r>
                  <a:rPr lang="en-US" dirty="0"/>
                  <a:t>, which adjusts for time-dependent confounding,  because patients with poorer prognosis are more likely to switch.</a:t>
                </a:r>
              </a:p>
              <a:p>
                <a:r>
                  <a:rPr lang="en-US" dirty="0"/>
                  <a:t>After weighting, we fit a </a:t>
                </a:r>
                <a:r>
                  <a:rPr lang="en-US" b="1" dirty="0"/>
                  <a:t>marginal structural Cox model</a:t>
                </a:r>
                <a:r>
                  <a:rPr lang="en-US" dirty="0"/>
                  <a:t> to this pseudo-population.</a:t>
                </a:r>
                <a:r>
                  <a:rPr lang="en-US" baseline="0" dirty="0"/>
                  <a:t> </a:t>
                </a:r>
                <a:r>
                  <a:rPr lang="en-US" dirty="0"/>
                  <a:t>In this model,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en-US" dirty="0"/>
                  <a:t>represents the randomized treatment arm,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r>
                  <a:rPr lang="en-US" dirty="0"/>
                  <a:t> indicates whether the patient has switched to the alternative treatment at time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en-US" dirty="0"/>
                  <a:t>, 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US" dirty="0"/>
                  <a:t> represents baseline covariates.</a:t>
                </a:r>
              </a:p>
              <a:p>
                <a:r>
                  <a:rPr lang="en-US" dirty="0"/>
                  <a:t>The parameter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𝑒^(𝛽_1 )</a:t>
                </a:r>
                <a:r>
                  <a:rPr lang="en-US" dirty="0"/>
                  <a:t>represents the hazard ratio comparing the active versus control arm </a:t>
                </a:r>
                <a:r>
                  <a:rPr lang="en-US" b="1" dirty="0"/>
                  <a:t>if no switching had occurred</a:t>
                </a:r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The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𝑒^(𝛽_2 )</a:t>
                </a:r>
                <a:r>
                  <a:rPr lang="en-US" dirty="0"/>
                  <a:t>represents the effect of </a:t>
                </a:r>
                <a:r>
                  <a:rPr lang="en-US" b="1" dirty="0"/>
                  <a:t>switching</a:t>
                </a:r>
                <a:r>
                  <a:rPr lang="en-US" dirty="0"/>
                  <a:t> — specifically, moving from control to experimental — compared to staying on the control arm.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 could further include the interaction term to see whether switching modifies the randomized treatment effect.</a:t>
                </a:r>
                <a:br>
                  <a:rPr lang="en-US" dirty="0"/>
                </a:br>
                <a:r>
                  <a:rPr lang="en-US" dirty="0"/>
                  <a:t>When no one switches, the treatment effect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𝑒^(𝛽_1 )</a:t>
                </a:r>
                <a:r>
                  <a:rPr lang="ar-AE" dirty="0"/>
                  <a:t>, </a:t>
                </a:r>
                <a:r>
                  <a:rPr lang="en-US" dirty="0"/>
                  <a:t>which reflects the pure randomized comparison between active and control.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In real clinical trials, estimating the effect of switching itself, which is </a:t>
                </a:r>
                <a:r>
                  <a:rPr lang="el-GR" dirty="0"/>
                  <a:t>β₂, </a:t>
                </a:r>
                <a:r>
                  <a:rPr lang="en-US" dirty="0"/>
                  <a:t>is often quite difficult.</a:t>
                </a:r>
              </a:p>
              <a:p>
                <a:br>
                  <a:rPr lang="en-US" dirty="0"/>
                </a:br>
                <a:r>
                  <a:rPr lang="en-US" dirty="0"/>
                  <a:t>because after switching, patients may stop the alternative therapy early, receive multiple post-progression treatments, or even switch to therapies that aren’t fully recorded in the dataset.</a:t>
                </a:r>
                <a:br>
                  <a:rPr lang="en-US" dirty="0"/>
                </a:br>
                <a:r>
                  <a:rPr lang="en-US" dirty="0"/>
                  <a:t>These variations make the causal effect of the alternative treatment hard. However, this does </a:t>
                </a:r>
                <a:r>
                  <a:rPr lang="en-US" b="1" dirty="0"/>
                  <a:t>not</a:t>
                </a:r>
                <a:r>
                  <a:rPr lang="en-US" dirty="0"/>
                  <a:t> affect the validity of </a:t>
                </a:r>
                <a:r>
                  <a:rPr lang="el-GR" dirty="0"/>
                  <a:t>β₁ </a:t>
                </a:r>
                <a:r>
                  <a:rPr lang="en-US" dirty="0"/>
                  <a:t>, which is</a:t>
                </a:r>
                <a:r>
                  <a:rPr lang="el-GR" dirty="0"/>
                  <a:t> </a:t>
                </a:r>
                <a:r>
                  <a:rPr lang="en-US" dirty="0"/>
                  <a:t>the causal effect of the randomized treatment.</a:t>
                </a:r>
                <a:br>
                  <a:rPr lang="en-US" dirty="0"/>
                </a:br>
                <a:r>
                  <a:rPr lang="en-US" dirty="0"/>
                  <a:t>In summary, as long as the model and weights are correctly specified, MSM still provides an unbiased estimate of the true randomized treatment effect, which is usually our main focus.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87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48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19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97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10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93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44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After calculating the weights, we now perform survival analyses — specifically, weighted Kaplan–Meier estimation and the weighted log-rank test. These allow us to estimate survival probabilities and compare treatment arms as if censoring or switching had occurred completely at random.</a:t>
                </a:r>
              </a:p>
              <a:p>
                <a:endParaRPr lang="en-US" dirty="0"/>
              </a:p>
              <a:p>
                <a:r>
                  <a:rPr lang="en-US" dirty="0"/>
                  <a:t>The weighted Cox model shown here is then fit to the reweighted data. Since in this</a:t>
                </a:r>
                <a:r>
                  <a:rPr lang="en-US" baseline="0" dirty="0"/>
                  <a:t> method,</a:t>
                </a:r>
                <a:r>
                  <a:rPr lang="en-US" dirty="0"/>
                  <a:t> patients are censored at the time of switching, there’s no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𝑠𝑤𝑖𝑡𝑐ℎ𝑖𝑛𝑔  𝑖𝑛𝑑𝑖𝑐𝑎𝑡𝑜𝑟 </a:t>
                </a:r>
                <a:r>
                  <a:rPr lang="en-US" dirty="0"/>
                  <a:t>or switching</a:t>
                </a:r>
                <a:r>
                  <a:rPr lang="en-US" baseline="0" dirty="0"/>
                  <a:t>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interaction term </a:t>
                </a:r>
                <a:r>
                  <a:rPr lang="en-US" dirty="0"/>
                  <a:t>in this model. The only predictors are baseline covariates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US" dirty="0"/>
                  <a:t>and the randomized treatment arm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key interpretation is that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𝑒^(𝛽_1 )</a:t>
                </a:r>
                <a:r>
                  <a:rPr lang="en-US" dirty="0"/>
                  <a:t>gives the </a:t>
                </a:r>
                <a:r>
                  <a:rPr lang="en-US" b="1" dirty="0"/>
                  <a:t>causal hazard ratio</a:t>
                </a:r>
                <a:r>
                  <a:rPr lang="en-US" dirty="0"/>
                  <a:t> comparing active versus control treatment — that is, the survival difference we would expect if no patients had switched to alternative therapy.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58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50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303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B31A-F8AF-4500-9677-10A1D497E7C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04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64CF2-BA1C-4EC7-F775-84C0BDB9D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4CB3B-8D74-5B3E-0392-4BE1AFE2D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E20EB-25D3-2B0D-DA73-E8A126B8B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0A9B2-C23F-8AEE-9BF3-A2741935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BB489-D759-577B-1568-7448F5E7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0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6045-1237-1C4C-4A13-9ED3AADD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14250-5A42-7494-479A-240131942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B26AC-FCF6-3B8D-3D51-E6346895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B911D-1F9F-4AEE-6F1A-6E458B1F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91EC5-848B-160A-C8FF-C2C688253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8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2921-4CB0-3541-2343-EA47D051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221D1-46A0-6A47-4A4D-CDEED9F6E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BB630-E1D2-8FD3-D38F-D76390AC3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2B3CF-1FAF-175E-58E3-998B853C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7BAE4-F3EA-BA22-6B6F-7A154D48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8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0EEF-EC50-A455-5B33-013F73800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622F1-179D-7157-86DA-7833185EE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B3C16-8991-969E-54FD-06D761D0E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DD25E-B371-744B-1C48-C9C769FF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EEC33-3911-D670-0D7B-0D82BEB1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C40D0-E2BC-5E12-3A9A-B9DE28CD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3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245D-AC80-5245-0FB8-166B6197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6B9B8-851A-8CE7-1B26-41822B79D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D7A96-5D34-35C0-E524-023853D32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186B6E-48A6-C401-C774-CE727A528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27072-5363-00E4-77CB-FC7B1B160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4907C-CA9D-3629-2D03-5944F9BA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E078C5-123A-E359-7275-F0ABBA58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922D46-77B3-2B8B-3A36-F865723ED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43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42E3-91D5-4EE3-129A-1CA54C930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376AE-66F0-3636-6567-01E413A3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40254C-534B-10AA-BC8B-D85D7666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55E67-6E3D-ABD9-6369-E2C7F02D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B9C557-A6A9-79B4-2A9D-999E3112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5BEFB0-9C48-CCBE-7581-E69416B5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93A25-0EA7-EC92-DFC0-6D816263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4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E592-BAA7-08FB-AF0E-6B49CE8F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55E1-FF53-5EC1-68A7-0D89C2F6C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8A909-8E11-7015-8C40-80F350971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1F4FE-8BAE-1174-6E39-12AB3D71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58C79-FC74-7B8D-41C7-7541481B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2A756-749D-1B12-3BB7-32D7B58C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5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61A8-0611-45D2-67E5-E32FFD10D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5E6F97-F5B8-900A-4BE3-CAA013DE8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EFB66-715D-F6D3-88F5-9AEDB9BFA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704E0-C8BC-EDD2-398F-2372198F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C1B1C-38C8-DE11-C339-5AF80C31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05ED0-7722-C58F-D913-AD51027EF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7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E6786-658D-59A6-F1CC-2BB2B817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D04A8-11E0-FDEE-2B7E-34290B51C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95EA7-D150-2D16-0CBE-1C3D9E85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45E92-C557-2ED0-FCEA-A5A44B3AB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6EDBB-51C2-BCBD-5C55-F5B17920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0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24D2C-F7A9-CE21-2267-5473562D6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7CAAD-6AD8-9922-73AE-5B94A0EBC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57A79-9692-7621-D306-335023A4A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21CCD-CAEF-C8B3-9135-A1F245DE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A1A4F-DF4B-3B57-017F-AA0A2BB40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5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1288F-895D-55A7-8FF8-D56220449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81D21-12CF-D400-831B-E01040F22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17594-0626-0188-B458-5EB6DBA16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84C1D-719C-4ACC-BE51-7637D36E074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362C6-C180-0D24-6DBC-E1E7A3999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7ACB7-774F-7D73-81BA-BD88F3887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DFB55-EB7D-4D21-A3CA-1E356438B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9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9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9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590F7-AD1E-F90C-5DCE-2FC04A036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3483"/>
            <a:ext cx="9144000" cy="3065582"/>
          </a:xfrm>
        </p:spPr>
        <p:txBody>
          <a:bodyPr>
            <a:normAutofit fontScale="90000"/>
          </a:bodyPr>
          <a:lstStyle/>
          <a:p>
            <a:r>
              <a:rPr lang="en-US" dirty="0"/>
              <a:t>Survival Analysis Methods Correcting  for Treatment Switching Effects in  RCTs: Theory and SAS/R Code (Part 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E5851-0DD0-ADAB-FA1F-3BD361E2F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7645" y="4079875"/>
            <a:ext cx="9144000" cy="16557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ASA short course recap</a:t>
            </a:r>
          </a:p>
          <a:p>
            <a:r>
              <a:rPr lang="en-US" dirty="0"/>
              <a:t>Biwei Cao, Wenyi Fan</a:t>
            </a:r>
          </a:p>
        </p:txBody>
      </p:sp>
    </p:spTree>
    <p:extLst>
      <p:ext uri="{BB962C8B-B14F-4D97-AF65-F5344CB8AC3E}">
        <p14:creationId xmlns:p14="http://schemas.microsoft.com/office/powerpoint/2010/main" val="2652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1A5BA-A275-2EB0-96DE-B7E98B73BB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2" b="1270"/>
          <a:stretch>
            <a:fillRect/>
          </a:stretch>
        </p:blipFill>
        <p:spPr>
          <a:xfrm>
            <a:off x="170916" y="651579"/>
            <a:ext cx="12021084" cy="548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35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4561AB-66E6-1848-C200-D20CE0C23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73" y="472184"/>
            <a:ext cx="11453853" cy="591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04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F3AA49-86A7-6E51-F9AD-66BA7A863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58" y="695325"/>
            <a:ext cx="10403952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00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55FD45-448E-6BC7-51D5-A43504CC3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69" y="548390"/>
            <a:ext cx="11088061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5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273285-0938-FEDF-94CF-5B4F028AC080}"/>
              </a:ext>
            </a:extLst>
          </p:cNvPr>
          <p:cNvSpPr txBox="1"/>
          <p:nvPr/>
        </p:nvSpPr>
        <p:spPr>
          <a:xfrm>
            <a:off x="235266" y="181573"/>
            <a:ext cx="1003935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Marginal Structure Model (MSM)</a:t>
            </a:r>
          </a:p>
          <a:p>
            <a:r>
              <a:rPr lang="en-US" sz="2000" i="1" dirty="0"/>
              <a:t>What Was MSM Originally Designed For?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0CF96D-D9EB-1331-169C-C5C687A8B86A}"/>
              </a:ext>
            </a:extLst>
          </p:cNvPr>
          <p:cNvSpPr txBox="1"/>
          <p:nvPr/>
        </p:nvSpPr>
        <p:spPr>
          <a:xfrm>
            <a:off x="642796" y="1178725"/>
            <a:ext cx="1061971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MSMs were originally developed for observational studies where treatment changes over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Clinical status evolves over time (e.g., biomarkers, disease severity, symptoms → time-varying covariates)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These time-varying covariates predict survival</a:t>
            </a:r>
            <a:endParaRPr lang="en-US" dirty="0"/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Sicker patients are more likely to start or intensify treatment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More stable patients may delay or avoid treatment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These covariates are also affected by prior treatment</a:t>
            </a:r>
            <a:endParaRPr lang="en-US" altLang="en-US" dirty="0"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Effective treatment improves biomarkers → changes future treatment choices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Ineffective treatment leads to deterioration → also changes future treatment choices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Consequences: Standard Analyses Become Biased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Time-varying confounders lie on the causal pathway</a:t>
            </a:r>
            <a:br>
              <a:rPr lang="en-US" dirty="0"/>
            </a:br>
            <a:r>
              <a:rPr lang="en-US" dirty="0"/>
              <a:t>→ Adjusting for them in a standard time-varying Cox model </a:t>
            </a:r>
            <a:r>
              <a:rPr lang="en-US" b="1" dirty="0"/>
              <a:t>blocks causal pathways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D3F969-1EC7-A6BF-BBA0-2E85DF843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816" y="3690485"/>
            <a:ext cx="5610630" cy="2948152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036D1DD-9784-F0C9-9597-996B24D0C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654" y="66386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(Burcu, 2024)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09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951F-62DF-8562-D9EB-AEC962DA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0"/>
            <a:ext cx="10515600" cy="1325563"/>
          </a:xfrm>
        </p:spPr>
        <p:txBody>
          <a:bodyPr/>
          <a:lstStyle/>
          <a:p>
            <a:r>
              <a:rPr lang="en-US" dirty="0"/>
              <a:t>How MSM Works in observational studies</a:t>
            </a:r>
            <a:br>
              <a:rPr lang="en-US"/>
            </a:br>
            <a:r>
              <a:rPr lang="en-US" sz="3200" i="1"/>
              <a:t>Conceptually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C0C3-2ABE-869B-91F4-D786EF221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325563"/>
            <a:ext cx="11684000" cy="53975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MSM Uses </a:t>
            </a:r>
            <a:r>
              <a:rPr lang="en-US" b="1" dirty="0"/>
              <a:t>Inverse Probability Weights </a:t>
            </a:r>
            <a:r>
              <a:rPr lang="en-US" dirty="0"/>
              <a:t>(IPW) to Create a Pseudo-Population</a:t>
            </a:r>
          </a:p>
          <a:p>
            <a:pPr>
              <a:lnSpc>
                <a:spcPct val="150000"/>
              </a:lnSpc>
            </a:pPr>
            <a:r>
              <a:rPr lang="en-US" dirty="0"/>
              <a:t>Two major sources of bias: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b="1" dirty="0">
                <a:latin typeface="Arial" panose="020B0604020202020204" pitchFamily="34" charset="0"/>
              </a:rPr>
              <a:t>Time-dependent treatment confounding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(</a:t>
            </a:r>
            <a:r>
              <a:rPr lang="en-US" dirty="0"/>
              <a:t>Health status is influenced by previous treatment and, in turn, affects future treatment decisions and outcomes.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b="1" dirty="0">
                <a:latin typeface="Arial" panose="020B0604020202020204" pitchFamily="34" charset="0"/>
              </a:rPr>
              <a:t>Informative censoring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(</a:t>
            </a:r>
            <a:r>
              <a:rPr lang="en-US" dirty="0"/>
              <a:t>Worsening clinical status might increases the probability of </a:t>
            </a:r>
            <a:r>
              <a:rPr lang="en-US" i="1" dirty="0"/>
              <a:t>treatment discontinuation</a:t>
            </a:r>
            <a:r>
              <a:rPr lang="en-US" dirty="0"/>
              <a:t>, </a:t>
            </a:r>
            <a:r>
              <a:rPr lang="en-US" i="1" dirty="0"/>
              <a:t>loss to follow-up</a:t>
            </a:r>
            <a:r>
              <a:rPr lang="en-US" dirty="0"/>
              <a:t>, or other forms of censoring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MSM corrects both biases using: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b="1" dirty="0"/>
              <a:t>IPTW</a:t>
            </a:r>
            <a:r>
              <a:rPr lang="en-US" dirty="0"/>
              <a:t> (Inverse Probability of Treatment Weight)</a:t>
            </a:r>
            <a:r>
              <a:rPr lang="en-US" altLang="en-US" dirty="0">
                <a:latin typeface="Arial" panose="020B0604020202020204" pitchFamily="34" charset="0"/>
              </a:rPr>
              <a:t> to make treatment “as-if randomized”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(</a:t>
            </a:r>
            <a:r>
              <a:rPr lang="en-US" dirty="0"/>
              <a:t>Treatment no longer depends on evolving health status)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b="1" dirty="0"/>
              <a:t>IPCW</a:t>
            </a:r>
            <a:r>
              <a:rPr lang="en-US" dirty="0"/>
              <a:t> (Inverse Probability of Censoring Weight)</a:t>
            </a:r>
            <a:r>
              <a:rPr lang="en-US" altLang="en-US" dirty="0">
                <a:latin typeface="Arial" panose="020B0604020202020204" pitchFamily="34" charset="0"/>
              </a:rPr>
              <a:t> to make censoring “as-if random”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(</a:t>
            </a:r>
            <a:r>
              <a:rPr lang="en-US" dirty="0"/>
              <a:t>Censoring no longer depends on prognosis → removing censoring bias)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MSM </a:t>
            </a:r>
            <a:r>
              <a:rPr lang="en-US" altLang="zh-CN" dirty="0">
                <a:latin typeface="Arial" panose="020B0604020202020204" pitchFamily="34" charset="0"/>
              </a:rPr>
              <a:t>estimates the effects by fitting a model to the weighted </a:t>
            </a:r>
            <a:r>
              <a:rPr lang="en-US" dirty="0"/>
              <a:t>Pseudo-Population where confounding has been removed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595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297FC-0809-C4AF-7338-9ABA30A34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49225"/>
            <a:ext cx="10515600" cy="1325563"/>
          </a:xfrm>
        </p:spPr>
        <p:txBody>
          <a:bodyPr/>
          <a:lstStyle/>
          <a:p>
            <a:r>
              <a:rPr lang="en-US" dirty="0"/>
              <a:t>How MSM Works in observational studies</a:t>
            </a:r>
            <a:br>
              <a:rPr lang="en-US" dirty="0"/>
            </a:br>
            <a:r>
              <a:rPr lang="en-US" sz="3200" i="1" dirty="0"/>
              <a:t>IPTW &amp; IPCW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CB7493-6819-CC6F-9C26-0EA5919512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574800"/>
                <a:ext cx="11049000" cy="5133975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IPTW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𝑡𝑟𝑒𝑎𝑡𝑚𝑒𝑛𝑡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𝑐𝑢𝑟𝑟𝑒𝑛𝑡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𝑒𝑎𝑙𝑡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𝑡𝑟𝑒𝑎𝑡𝑚𝑒𝑛𝑡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IPCW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𝑢𝑛𝑐𝑒𝑛𝑠𝑜𝑟𝑒𝑑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𝑒𝑎𝑙𝑡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𝑡𝑟𝑒𝑎𝑡𝑚𝑒𝑛𝑡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𝑐𝑒𝑛𝑠𝑜𝑟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𝑠𝑡𝑎𝑡𝑢𝑠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Stabilized weights</a:t>
                </a:r>
                <a:r>
                  <a:rPr lang="en-US" dirty="0"/>
                  <a:t> avoid extreme values and keep the MSM model stable.</a:t>
                </a:r>
              </a:p>
              <a:p>
                <a:pPr lvl="1">
                  <a:lnSpc>
                    <a:spcPct val="12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𝐼𝑃𝑇𝑊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𝑡𝑟𝑒𝑎𝑡𝑚𝑒𝑛𝑡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𝑏𝑎𝑠𝑒𝑙𝑖𝑛𝑒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𝑡𝑟𝑒𝑎𝑡𝑚𝑒𝑛𝑡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𝑐𝑢𝑟𝑟𝑒𝑛𝑡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𝑒𝑎𝑙𝑡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𝑝𝑟𝑖𝑜𝑟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𝑡𝑟𝑒𝑎𝑡𝑚𝑒𝑛𝑡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den>
                    </m:f>
                  </m:oMath>
                </a14:m>
                <a:endParaRPr lang="en-US" dirty="0"/>
              </a:p>
              <a:p>
                <a:pPr lvl="1">
                  <a:lnSpc>
                    <a:spcPct val="12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𝐼𝑃𝐶𝑊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𝑢𝑛𝑐𝑒𝑛𝑠𝑜𝑟𝑒𝑑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𝑏𝑎𝑠𝑒𝑙𝑖𝑛𝑒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𝑢𝑛𝑐𝑒𝑛𝑠𝑜𝑟𝑒𝑑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𝑝𝑟𝑖𝑜𝑟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𝑒𝑎𝑙𝑡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𝑝𝑟𝑖𝑜𝑟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𝑡𝑟𝑒𝑎𝑡𝑚𝑒𝑛𝑡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𝑝𝑟𝑖𝑜𝑟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𝑐𝑒𝑛𝑠𝑜𝑟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𝑠𝑡𝑎𝑡𝑢𝑠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den>
                    </m:f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/>
                      <m:t>Final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b="1" smtClean="0"/>
                      <m:t>MSM</m:t>
                    </m:r>
                    <m:r>
                      <m:rPr>
                        <m:nor/>
                      </m:rPr>
                      <a:rPr lang="en-US" b="1" smtClean="0"/>
                      <m:t> </m:t>
                    </m:r>
                    <m:r>
                      <m:rPr>
                        <m:nor/>
                      </m:rPr>
                      <a:rPr lang="en-US" b="1" smtClean="0"/>
                      <m:t>weight</m:t>
                    </m:r>
                    <m:r>
                      <m:rPr>
                        <m:nor/>
                      </m:rPr>
                      <a:rPr lang="en-US" b="1" smtClean="0"/>
                      <m:t> =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𝑰𝑷𝑻𝑾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𝑰𝑷𝑪𝑾</m:t>
                        </m:r>
                      </m:sub>
                    </m:sSub>
                  </m:oMath>
                </a14:m>
                <a:endParaRPr lang="en-US" b="1" dirty="0"/>
              </a:p>
              <a:p>
                <a:pPr>
                  <a:lnSpc>
                    <a:spcPct val="120000"/>
                  </a:lnSpc>
                  <a:buFont typeface="Courier New" panose="02070309020205020404" pitchFamily="49" charset="0"/>
                  <a:buChar char="o"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CB7493-6819-CC6F-9C26-0EA5919512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574800"/>
                <a:ext cx="11049000" cy="5133975"/>
              </a:xfrm>
              <a:blipFill>
                <a:blip r:embed="rId3"/>
                <a:stretch>
                  <a:fillRect l="-772" t="-474" b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D65BF9C-8354-AF58-D5CA-7D0BA74FC325}"/>
              </a:ext>
            </a:extLst>
          </p:cNvPr>
          <p:cNvSpPr/>
          <p:nvPr/>
        </p:nvSpPr>
        <p:spPr>
          <a:xfrm>
            <a:off x="2870200" y="2666944"/>
            <a:ext cx="6807200" cy="2794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01299-2B00-B2A4-C31D-B75CC0935E4D}"/>
              </a:ext>
            </a:extLst>
          </p:cNvPr>
          <p:cNvSpPr/>
          <p:nvPr/>
        </p:nvSpPr>
        <p:spPr>
          <a:xfrm>
            <a:off x="977900" y="4051356"/>
            <a:ext cx="10375900" cy="2794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429520-2277-7259-664C-D61E112963A4}"/>
              </a:ext>
            </a:extLst>
          </p:cNvPr>
          <p:cNvSpPr txBox="1"/>
          <p:nvPr/>
        </p:nvSpPr>
        <p:spPr>
          <a:xfrm>
            <a:off x="6819900" y="3401185"/>
            <a:ext cx="3390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Pooled Logistic Model</a:t>
            </a:r>
          </a:p>
        </p:txBody>
      </p:sp>
    </p:spTree>
    <p:extLst>
      <p:ext uri="{BB962C8B-B14F-4D97-AF65-F5344CB8AC3E}">
        <p14:creationId xmlns:p14="http://schemas.microsoft.com/office/powerpoint/2010/main" val="146743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8C861-B465-2FE2-B3D6-5DF4A1A90D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97001"/>
                <a:ext cx="11633200" cy="45720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After applying the IPTW and IPCW, we fit a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Cox model to the weighted pseudo-population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 treatment and censoring behave as if randomized.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A(t):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treatment status that can change over time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V: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baseline covariates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Because the data are reweighted,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A(t)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can now be treated as 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independent of prior health status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𝑐𝑎𝑢𝑠𝑎𝑙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h𝑎𝑧𝑎𝑟𝑑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𝑡𝑟𝑒𝑎𝑡𝑚𝑒𝑛𝑡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Weighted KM-curves can also be calculated as: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8C861-B465-2FE2-B3D6-5DF4A1A90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97001"/>
                <a:ext cx="11633200" cy="4572000"/>
              </a:xfrm>
              <a:blipFill>
                <a:blip r:embed="rId3"/>
                <a:stretch>
                  <a:fillRect l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F0C5714C-0365-77D3-7AB6-D29B6216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016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How MSM Works in observational studies</a:t>
            </a:r>
            <a:br>
              <a:rPr lang="en-US" dirty="0"/>
            </a:br>
            <a:r>
              <a:rPr lang="en-US" sz="3100" i="1" dirty="0"/>
              <a:t>Marginal structural Cox model &amp; KM estimates</a:t>
            </a:r>
            <a:br>
              <a:rPr lang="en-US" dirty="0"/>
            </a:br>
            <a:endParaRPr lang="en-US" dirty="0"/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8B51EF5-EC65-0763-D9B1-D9161A0B51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909" y="5854702"/>
            <a:ext cx="3873692" cy="87427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951B502-713F-566C-1778-7519D554A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2837" y="25908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(Hernán et al., 2000)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E954579-85DB-14F5-DCF3-56613895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1246" y="64423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(Xu et al., 2022)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4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7DBC-9E0E-90C4-AF4F-83A8ED5C4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8305"/>
            <a:ext cx="117094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MSM in Observational Studies vs. Treatment-Switching Trials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4E978F-A755-A8DA-C0AB-D31F7F6919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9228772"/>
              </p:ext>
            </p:extLst>
          </p:nvPr>
        </p:nvGraphicFramePr>
        <p:xfrm>
          <a:off x="892379" y="1257258"/>
          <a:ext cx="10563021" cy="520704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521007">
                  <a:extLst>
                    <a:ext uri="{9D8B030D-6E8A-4147-A177-3AD203B41FA5}">
                      <a16:colId xmlns:a16="http://schemas.microsoft.com/office/drawing/2014/main" val="1894065909"/>
                    </a:ext>
                  </a:extLst>
                </a:gridCol>
                <a:gridCol w="3521007">
                  <a:extLst>
                    <a:ext uri="{9D8B030D-6E8A-4147-A177-3AD203B41FA5}">
                      <a16:colId xmlns:a16="http://schemas.microsoft.com/office/drawing/2014/main" val="3101453614"/>
                    </a:ext>
                  </a:extLst>
                </a:gridCol>
                <a:gridCol w="3521007">
                  <a:extLst>
                    <a:ext uri="{9D8B030D-6E8A-4147-A177-3AD203B41FA5}">
                      <a16:colId xmlns:a16="http://schemas.microsoft.com/office/drawing/2014/main" val="2241410180"/>
                    </a:ext>
                  </a:extLst>
                </a:gridCol>
              </a:tblGrid>
              <a:tr h="66378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MSM in Observational Studies</a:t>
                      </a:r>
                      <a:endParaRPr lang="en-US" sz="1700"/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MSM in Treatment-Switching Trials</a:t>
                      </a:r>
                      <a:endParaRPr lang="en-US" sz="1700"/>
                    </a:p>
                  </a:txBody>
                  <a:tcPr marL="85418" marR="85418" marT="42709" marB="42709" anchor="ctr"/>
                </a:tc>
                <a:extLst>
                  <a:ext uri="{0D108BD9-81ED-4DB2-BD59-A6C34878D82A}">
                    <a16:rowId xmlns:a16="http://schemas.microsoft.com/office/drawing/2014/main" val="1777958193"/>
                  </a:ext>
                </a:extLst>
              </a:tr>
              <a:tr h="948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Study objective</a:t>
                      </a:r>
                      <a:endParaRPr lang="en-US" sz="1700"/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Estimate the causal effect of a </a:t>
                      </a:r>
                      <a:r>
                        <a:rPr lang="en-US" sz="1700" b="1" dirty="0"/>
                        <a:t>time-varying exposure</a:t>
                      </a:r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Estimate the joint causal effects of the </a:t>
                      </a:r>
                      <a:r>
                        <a:rPr lang="en-US" sz="1700" b="1" dirty="0"/>
                        <a:t>randomized treatment </a:t>
                      </a:r>
                      <a:r>
                        <a:rPr lang="en-US" sz="1700" dirty="0"/>
                        <a:t>and switching treatment</a:t>
                      </a:r>
                    </a:p>
                  </a:txBody>
                  <a:tcPr marL="85418" marR="85418" marT="42709" marB="42709" anchor="ctr"/>
                </a:tc>
                <a:extLst>
                  <a:ext uri="{0D108BD9-81ED-4DB2-BD59-A6C34878D82A}">
                    <a16:rowId xmlns:a16="http://schemas.microsoft.com/office/drawing/2014/main" val="2887233641"/>
                  </a:ext>
                </a:extLst>
              </a:tr>
              <a:tr h="663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Type of confounding</a:t>
                      </a:r>
                      <a:endParaRPr lang="en-US" sz="1700"/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Baseline + time-dependent confounders</a:t>
                      </a:r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Time-dependent confounders arising from treatment switching</a:t>
                      </a:r>
                    </a:p>
                  </a:txBody>
                  <a:tcPr marL="85418" marR="85418" marT="42709" marB="42709" anchor="ctr"/>
                </a:tc>
                <a:extLst>
                  <a:ext uri="{0D108BD9-81ED-4DB2-BD59-A6C34878D82A}">
                    <a16:rowId xmlns:a16="http://schemas.microsoft.com/office/drawing/2014/main" val="2494401270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Randomization</a:t>
                      </a:r>
                      <a:endParaRPr lang="en-US" sz="1700"/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No</a:t>
                      </a:r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Yes (at baseline)</a:t>
                      </a:r>
                    </a:p>
                  </a:txBody>
                  <a:tcPr marL="85418" marR="85418" marT="42709" marB="42709" anchor="ctr"/>
                </a:tc>
                <a:extLst>
                  <a:ext uri="{0D108BD9-81ED-4DB2-BD59-A6C34878D82A}">
                    <a16:rowId xmlns:a16="http://schemas.microsoft.com/office/drawing/2014/main" val="4100233160"/>
                  </a:ext>
                </a:extLst>
              </a:tr>
              <a:tr h="663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Role of IPW</a:t>
                      </a:r>
                      <a:endParaRPr lang="en-US" sz="1700" dirty="0"/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Breaks the association </a:t>
                      </a:r>
                      <a:r>
                        <a:rPr lang="en-US" sz="1700" b="1" dirty="0"/>
                        <a:t>between treatment and confounders</a:t>
                      </a:r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Breaks the association </a:t>
                      </a:r>
                      <a:r>
                        <a:rPr lang="en-US" sz="1700" b="1" dirty="0"/>
                        <a:t>between switching and confounders</a:t>
                      </a:r>
                    </a:p>
                  </a:txBody>
                  <a:tcPr marL="85418" marR="85418" marT="42709" marB="42709" anchor="ctr"/>
                </a:tc>
                <a:extLst>
                  <a:ext uri="{0D108BD9-81ED-4DB2-BD59-A6C34878D82A}">
                    <a16:rowId xmlns:a16="http://schemas.microsoft.com/office/drawing/2014/main" val="3194963868"/>
                  </a:ext>
                </a:extLst>
              </a:tr>
              <a:tr h="939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Key challenge</a:t>
                      </a:r>
                      <a:endParaRPr lang="en-US" sz="1700" dirty="0"/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Confounders affected by prior exposure</a:t>
                      </a:r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Time-dependent confounding due to post-progression switching</a:t>
                      </a:r>
                    </a:p>
                  </a:txBody>
                  <a:tcPr marL="85418" marR="85418" marT="42709" marB="42709" anchor="ctr"/>
                </a:tc>
                <a:extLst>
                  <a:ext uri="{0D108BD9-81ED-4DB2-BD59-A6C34878D82A}">
                    <a16:rowId xmlns:a16="http://schemas.microsoft.com/office/drawing/2014/main" val="3228694820"/>
                  </a:ext>
                </a:extLst>
              </a:tr>
              <a:tr h="948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Ultimate goal</a:t>
                      </a:r>
                      <a:endParaRPr lang="en-US" sz="1700"/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Estimate the causal exposure effect</a:t>
                      </a:r>
                    </a:p>
                  </a:txBody>
                  <a:tcPr marL="85418" marR="85418" marT="42709" marB="427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Recover the true causal effect of the randomized treatment </a:t>
                      </a:r>
                      <a:r>
                        <a:rPr lang="en-US" sz="1700" dirty="0"/>
                        <a:t>after correcting for switching</a:t>
                      </a:r>
                    </a:p>
                  </a:txBody>
                  <a:tcPr marL="85418" marR="85418" marT="42709" marB="42709" anchor="ctr"/>
                </a:tc>
                <a:extLst>
                  <a:ext uri="{0D108BD9-81ED-4DB2-BD59-A6C34878D82A}">
                    <a16:rowId xmlns:a16="http://schemas.microsoft.com/office/drawing/2014/main" val="16281526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6DF04B-B379-417B-2744-B0B9771592B2}"/>
              </a:ext>
            </a:extLst>
          </p:cNvPr>
          <p:cNvSpPr txBox="1"/>
          <p:nvPr/>
        </p:nvSpPr>
        <p:spPr>
          <a:xfrm>
            <a:off x="0" y="785152"/>
            <a:ext cx="6192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(Robins et.al., 2000, Xu et.al, 2022)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20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F7D4-09EF-3E7E-4A6E-9B070810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45" y="0"/>
            <a:ext cx="10515600" cy="871801"/>
          </a:xfrm>
        </p:spPr>
        <p:txBody>
          <a:bodyPr>
            <a:normAutofit/>
          </a:bodyPr>
          <a:lstStyle/>
          <a:p>
            <a:r>
              <a:rPr lang="en-US" sz="3600" dirty="0"/>
              <a:t>MSM in Two-Way Switching Trials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6FD00-5774-919F-DBD2-F5EFCDA7B3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4000" y="717526"/>
                <a:ext cx="11684000" cy="5680075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Weight calculation</a:t>
                </a: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IPCW: same as before → adjusts for censoring bias</a:t>
                </a: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IPTW: inverse probability of </a:t>
                </a:r>
                <a:r>
                  <a:rPr lang="en-US" altLang="en-US" sz="2000" b="1" dirty="0">
                    <a:latin typeface="Arial" panose="020B0604020202020204" pitchFamily="34" charset="0"/>
                  </a:rPr>
                  <a:t>switching</a:t>
                </a:r>
                <a:endParaRPr lang="en-US" sz="2000" b="1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Marginal Structural Cox Model (no interaction)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en-US" sz="2100" dirty="0">
                    <a:latin typeface="Arial" panose="020B0604020202020204" pitchFamily="34" charset="0"/>
                  </a:rPr>
                  <a:t>Fitted on </a:t>
                </a:r>
                <a:r>
                  <a:rPr lang="en-US" altLang="en-US" sz="2100" b="1" dirty="0">
                    <a:latin typeface="Arial" panose="020B0604020202020204" pitchFamily="34" charset="0"/>
                  </a:rPr>
                  <a:t>the weighted pseudo-population </a:t>
                </a:r>
                <a:r>
                  <a:rPr lang="en-US" altLang="en-US" sz="2100" dirty="0">
                    <a:latin typeface="Arial" panose="020B0604020202020204" pitchFamily="34" charset="0"/>
                  </a:rPr>
                  <a:t>created by IPTW × IPCW</a:t>
                </a:r>
                <a:endParaRPr lang="en-US" sz="2100" dirty="0"/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latin typeface="Arial" panose="020B0604020202020204" pitchFamily="34" charset="0"/>
                </a:endParaRPr>
              </a:p>
              <a:p>
                <a:pPr marL="0" indent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dirty="0"/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800" dirty="0">
                    <a:latin typeface="Arial" panose="020B0604020202020204" pitchFamily="34" charset="0"/>
                  </a:rPr>
                  <a:t>R: Randomized treatment arm (baseline) </a:t>
                </a: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800" dirty="0">
                    <a:latin typeface="Arial" panose="020B0604020202020204" pitchFamily="34" charset="0"/>
                  </a:rPr>
                  <a:t>A(t): Current treatment status (switching indicator)</a:t>
                </a: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800" dirty="0">
                    <a:latin typeface="Arial" panose="020B0604020202020204" pitchFamily="34" charset="0"/>
                  </a:rPr>
                  <a:t>V: Baseline covariates.</a:t>
                </a:r>
              </a:p>
              <a:p>
                <a:pPr marL="0" indent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u="sng" dirty="0"/>
                  <a:t>I</a:t>
                </a:r>
                <a:r>
                  <a:rPr lang="en-US" altLang="zh-CN" sz="2400" u="sng" dirty="0"/>
                  <a:t>nterpretation</a:t>
                </a:r>
                <a:endParaRPr lang="en-US" altLang="en-US" sz="2400" u="sng" dirty="0"/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b="0" i="0" smtClean="0"/>
                      <m:t>HR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 b="0" i="0" smtClean="0"/>
                      <m:t>for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active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vs</m:t>
                    </m:r>
                    <m:r>
                      <m:rPr>
                        <m:nor/>
                      </m:rPr>
                      <a:rPr lang="en-US" smtClean="0"/>
                      <m:t>. </m:t>
                    </m:r>
                    <m:r>
                      <m:rPr>
                        <m:nor/>
                      </m:rPr>
                      <a:rPr lang="en-US" smtClean="0"/>
                      <m:t>control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arm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b="1" smtClean="0"/>
                      <m:t>if</m:t>
                    </m:r>
                    <m:r>
                      <m:rPr>
                        <m:nor/>
                      </m:rPr>
                      <a:rPr lang="en-US" b="1" smtClean="0"/>
                      <m:t> </m:t>
                    </m:r>
                    <m:r>
                      <m:rPr>
                        <m:nor/>
                      </m:rPr>
                      <a:rPr lang="en-US" b="1" smtClean="0"/>
                      <m:t>no</m:t>
                    </m:r>
                    <m:r>
                      <m:rPr>
                        <m:nor/>
                      </m:rPr>
                      <a:rPr lang="en-US" b="1" smtClean="0"/>
                      <m:t> </m:t>
                    </m:r>
                    <m:r>
                      <m:rPr>
                        <m:nor/>
                      </m:rPr>
                      <a:rPr lang="en-US" b="1" smtClean="0"/>
                      <m:t>switching</m:t>
                    </m:r>
                    <m:r>
                      <m:rPr>
                        <m:nor/>
                      </m:rPr>
                      <a:rPr lang="en-US" b="1" smtClean="0"/>
                      <m:t> </m:t>
                    </m:r>
                    <m:r>
                      <m:rPr>
                        <m:nor/>
                      </m:rPr>
                      <a:rPr lang="en-US" b="1" smtClean="0"/>
                      <m:t>had</m:t>
                    </m:r>
                    <m:r>
                      <m:rPr>
                        <m:nor/>
                      </m:rPr>
                      <a:rPr lang="en-US" b="1" smtClean="0"/>
                      <m:t> </m:t>
                    </m:r>
                    <m:r>
                      <m:rPr>
                        <m:nor/>
                      </m:rPr>
                      <a:rPr lang="en-US" b="1" smtClean="0"/>
                      <m:t>occurred</m:t>
                    </m:r>
                  </m:oMath>
                </a14:m>
                <a:endParaRPr lang="en-US" dirty="0"/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HR for switching (control → experimental) vs staying on control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6FD00-5774-919F-DBD2-F5EFCDA7B3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000" y="717526"/>
                <a:ext cx="11684000" cy="5680075"/>
              </a:xfrm>
              <a:blipFill>
                <a:blip r:embed="rId3"/>
                <a:stretch>
                  <a:fillRect l="-731" b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D622D6AD-5E97-1892-7548-EBC4F371A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144" y="3237940"/>
            <a:ext cx="6143855" cy="639245"/>
          </a:xfrm>
          <a:prstGeom prst="rect">
            <a:avLst/>
          </a:prstGeom>
        </p:spPr>
      </p:pic>
      <p:sp>
        <p:nvSpPr>
          <p:cNvPr id="19" name="Rectangle 3">
            <a:extLst>
              <a:ext uri="{FF2B5EF4-FFF2-40B4-BE49-F238E27FC236}">
                <a16:creationId xmlns:a16="http://schemas.microsoft.com/office/drawing/2014/main" id="{3BCCC3EE-3C46-0114-7CA8-A149A84E6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126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(Xu et al., 2022)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851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5072F-3346-E297-7361-4C572F086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749" y="1345769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When There Is Interaction Between R and A(t)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55A87A-575D-4DA8-E301-D253C8B7E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570" y="1766809"/>
            <a:ext cx="6867011" cy="5207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9381FE-25E8-A69B-EE97-8C4A6F1982C4}"/>
                  </a:ext>
                </a:extLst>
              </p:cNvPr>
              <p:cNvSpPr txBox="1"/>
              <p:nvPr/>
            </p:nvSpPr>
            <p:spPr>
              <a:xfrm>
                <a:off x="-71695" y="2205356"/>
                <a:ext cx="11741946" cy="52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371600" lvl="2" indent="-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2000" smtClean="0"/>
                      <m:t> </m:t>
                    </m:r>
                    <m:r>
                      <m:rPr>
                        <m:nor/>
                      </m:rPr>
                      <a:rPr lang="en-US" sz="2000" b="0" i="0" smtClean="0"/>
                      <m:t>HR</m:t>
                    </m:r>
                    <m:r>
                      <m:rPr>
                        <m:nor/>
                      </m:rPr>
                      <a:rPr lang="en-US" sz="2000" b="0" i="0" smtClean="0"/>
                      <m:t> </m:t>
                    </m:r>
                    <m:r>
                      <m:rPr>
                        <m:nor/>
                      </m:rPr>
                      <a:rPr lang="en-US" sz="2000" b="0" i="0" smtClean="0"/>
                      <m:t>for</m:t>
                    </m:r>
                    <m:r>
                      <m:rPr>
                        <m:nor/>
                      </m:rPr>
                      <a:rPr lang="en-US" sz="2000" smtClean="0"/>
                      <m:t> </m:t>
                    </m:r>
                    <m:r>
                      <m:rPr>
                        <m:nor/>
                      </m:rPr>
                      <a:rPr lang="en-US" sz="2000" smtClean="0"/>
                      <m:t>active</m:t>
                    </m:r>
                    <m:r>
                      <m:rPr>
                        <m:nor/>
                      </m:rPr>
                      <a:rPr lang="en-US" sz="2000" smtClean="0"/>
                      <m:t> </m:t>
                    </m:r>
                    <m:r>
                      <m:rPr>
                        <m:nor/>
                      </m:rPr>
                      <a:rPr lang="en-US" sz="2000" smtClean="0"/>
                      <m:t>vs</m:t>
                    </m:r>
                    <m:r>
                      <m:rPr>
                        <m:nor/>
                      </m:rPr>
                      <a:rPr lang="en-US" sz="2000" smtClean="0"/>
                      <m:t>. </m:t>
                    </m:r>
                    <m:r>
                      <m:rPr>
                        <m:nor/>
                      </m:rPr>
                      <a:rPr lang="en-US" sz="2000" smtClean="0"/>
                      <m:t>control</m:t>
                    </m:r>
                    <m:r>
                      <m:rPr>
                        <m:nor/>
                      </m:rPr>
                      <a:rPr lang="en-US" sz="2000" smtClean="0"/>
                      <m:t> </m:t>
                    </m:r>
                    <m:r>
                      <m:rPr>
                        <m:nor/>
                      </m:rPr>
                      <a:rPr lang="en-US" sz="2000" smtClean="0"/>
                      <m:t>arm</m:t>
                    </m:r>
                    <m:r>
                      <m:rPr>
                        <m:nor/>
                      </m:rPr>
                      <a:rPr lang="en-US" sz="2000" smtClean="0"/>
                      <m:t> </m:t>
                    </m:r>
                    <m:r>
                      <m:rPr>
                        <m:nor/>
                      </m:rPr>
                      <a:rPr lang="en-US" sz="2000" b="1" smtClean="0"/>
                      <m:t>if</m:t>
                    </m:r>
                    <m:r>
                      <m:rPr>
                        <m:nor/>
                      </m:rPr>
                      <a:rPr lang="en-US" sz="2000" b="1" smtClean="0"/>
                      <m:t> </m:t>
                    </m:r>
                    <m:r>
                      <m:rPr>
                        <m:nor/>
                      </m:rPr>
                      <a:rPr lang="en-US" sz="2000" b="1" smtClean="0"/>
                      <m:t>no</m:t>
                    </m:r>
                    <m:r>
                      <m:rPr>
                        <m:nor/>
                      </m:rPr>
                      <a:rPr lang="en-US" sz="2000" b="1" smtClean="0"/>
                      <m:t> </m:t>
                    </m:r>
                    <m:r>
                      <m:rPr>
                        <m:nor/>
                      </m:rPr>
                      <a:rPr lang="en-US" sz="2000" b="1" smtClean="0"/>
                      <m:t>switching</m:t>
                    </m:r>
                    <m:r>
                      <m:rPr>
                        <m:nor/>
                      </m:rPr>
                      <a:rPr lang="en-US" sz="2000" b="1" smtClean="0"/>
                      <m:t> </m:t>
                    </m:r>
                    <m:r>
                      <m:rPr>
                        <m:nor/>
                      </m:rPr>
                      <a:rPr lang="en-US" sz="2000" b="1" smtClean="0"/>
                      <m:t>had</m:t>
                    </m:r>
                    <m:r>
                      <m:rPr>
                        <m:nor/>
                      </m:rPr>
                      <a:rPr lang="en-US" sz="2000" b="1" smtClean="0"/>
                      <m:t> </m:t>
                    </m:r>
                    <m:r>
                      <m:rPr>
                        <m:nor/>
                      </m:rPr>
                      <a:rPr lang="en-US" sz="2000" b="1" smtClean="0"/>
                      <m:t>occurred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9381FE-25E8-A69B-EE97-8C4A6F198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695" y="2205356"/>
                <a:ext cx="11741946" cy="523028"/>
              </a:xfrm>
              <a:prstGeom prst="rect">
                <a:avLst/>
              </a:prstGeom>
              <a:blipFill>
                <a:blip r:embed="rId4"/>
                <a:stretch>
                  <a:fillRect b="-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CE8D951-6051-B716-AAC4-C42E5600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76" y="202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MSM in Two-Way Switching Trials</a:t>
            </a:r>
            <a:br>
              <a:rPr lang="en-US" sz="3600" dirty="0"/>
            </a:br>
            <a:r>
              <a:rPr lang="en-US" sz="2800" i="1" dirty="0"/>
              <a:t>C</a:t>
            </a:r>
            <a:r>
              <a:rPr lang="en-US" altLang="zh-CN" sz="2800" i="1" dirty="0"/>
              <a:t>ontinue</a:t>
            </a:r>
            <a:endParaRPr lang="en-US" sz="36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A9B3B-4ECA-2FF4-5A29-A652A203AECF}"/>
              </a:ext>
            </a:extLst>
          </p:cNvPr>
          <p:cNvSpPr txBox="1"/>
          <p:nvPr/>
        </p:nvSpPr>
        <p:spPr>
          <a:xfrm>
            <a:off x="521749" y="2859200"/>
            <a:ext cx="10882174" cy="342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 real trials, after switching occurs, patients may: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Discontinue the alternative therapy early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Receive </a:t>
            </a:r>
            <a:r>
              <a:rPr lang="en-US" b="1" dirty="0"/>
              <a:t>multiple</a:t>
            </a:r>
            <a:r>
              <a:rPr lang="en-US" dirty="0"/>
              <a:t> or </a:t>
            </a:r>
            <a:r>
              <a:rPr lang="en-US" b="1" dirty="0"/>
              <a:t>heterogeneous</a:t>
            </a:r>
            <a:r>
              <a:rPr lang="en-US" dirty="0"/>
              <a:t> post-progression treatments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Switch to therapies </a:t>
            </a:r>
            <a:r>
              <a:rPr lang="en-US" b="1" dirty="0"/>
              <a:t>not fully captured</a:t>
            </a:r>
            <a:r>
              <a:rPr lang="en-US" dirty="0"/>
              <a:t> in the dataset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→ These complexities make the </a:t>
            </a:r>
            <a:r>
              <a:rPr lang="en-US" b="1" dirty="0"/>
              <a:t>causal effect of the alternative treatment (β₂)</a:t>
            </a:r>
            <a:r>
              <a:rPr lang="en-US" dirty="0"/>
              <a:t> </a:t>
            </a:r>
            <a:r>
              <a:rPr lang="en-US" b="1" dirty="0"/>
              <a:t>difficult or sometimes impossible</a:t>
            </a:r>
            <a:r>
              <a:rPr lang="en-US" dirty="0"/>
              <a:t> to estimate precisely.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However, the </a:t>
            </a:r>
            <a:r>
              <a:rPr lang="en-US" b="1" dirty="0"/>
              <a:t>randomized treatment effect (β₁)</a:t>
            </a:r>
            <a:r>
              <a:rPr lang="en-US" dirty="0"/>
              <a:t> </a:t>
            </a:r>
            <a:r>
              <a:rPr lang="en-US" b="1" dirty="0"/>
              <a:t>remains valid</a:t>
            </a:r>
            <a:r>
              <a:rPr lang="en-US" dirty="0"/>
              <a:t> if the model and weights are correctly specified.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0E34D83-0BB7-5D53-9CD7-64F447D38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219" y="4987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(Xu et al., 2022)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876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C6045-2DA4-1DA9-CFD5-8E60ED18E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98437"/>
            <a:ext cx="10515600" cy="1325563"/>
          </a:xfrm>
        </p:spPr>
        <p:txBody>
          <a:bodyPr/>
          <a:lstStyle/>
          <a:p>
            <a:r>
              <a:rPr lang="en-US" dirty="0"/>
              <a:t>MSM in Two-Way Switching Trials</a:t>
            </a:r>
            <a:br>
              <a:rPr lang="en-US"/>
            </a:br>
            <a:r>
              <a:rPr lang="en-US" sz="3600" i="1"/>
              <a:t>Reducing Bias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56734A-8B88-02AC-23B6-C75D61BD28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0624118"/>
              </p:ext>
            </p:extLst>
          </p:nvPr>
        </p:nvGraphicFramePr>
        <p:xfrm>
          <a:off x="838200" y="1524000"/>
          <a:ext cx="105156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4C9448A6-A7E4-9116-EA1E-24F701D0B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891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(Xu et al., 2022)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911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FC10F9-B630-084B-7658-1E4B314C8B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1325563"/>
                <a:ext cx="11696700" cy="5341937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In one-way switching designs, only </a:t>
                </a:r>
                <a:r>
                  <a:rPr lang="en-US" b="1" dirty="0"/>
                  <a:t>control-arm</a:t>
                </a:r>
                <a:r>
                  <a:rPr lang="en-US" dirty="0"/>
                  <a:t> patients can switch to the active treatment after disease progression.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Applying IPTW to </a:t>
                </a:r>
                <a:r>
                  <a:rPr lang="en-US" i="1" dirty="0"/>
                  <a:t>all</a:t>
                </a:r>
                <a:r>
                  <a:rPr lang="en-US" dirty="0"/>
                  <a:t> patients violates </a:t>
                </a:r>
                <a:r>
                  <a:rPr lang="en-US" b="1" dirty="0"/>
                  <a:t>positivity</a:t>
                </a:r>
                <a:r>
                  <a:rPr lang="en-US" dirty="0"/>
                  <a:t>, because switching probability = 0 in the active arm.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Solution: Two-step approach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Step 1: Apply MSM to control group → removes confounding from switching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dirty="0"/>
                  <a:t>Compute </a:t>
                </a:r>
                <a:r>
                  <a:rPr lang="en-US" b="1" dirty="0"/>
                  <a:t>IPTW and IPCW</a:t>
                </a:r>
                <a:r>
                  <a:rPr lang="en-US" dirty="0"/>
                  <a:t> as in the two-way switching setup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Step 2: Apply MSM to the full data  →  estimate the </a:t>
                </a:r>
                <a:r>
                  <a:rPr lang="en-US" b="1" dirty="0"/>
                  <a:t>randomized treatment effect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dirty="0"/>
                  <a:t>For the control group: using the weights from step1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dirty="0"/>
                  <a:t>For active-arm patients → set </a:t>
                </a:r>
                <a:r>
                  <a:rPr lang="en-US" b="1" dirty="0"/>
                  <a:t>IPTW = 1 and</a:t>
                </a:r>
                <a:r>
                  <a:rPr lang="en-US" dirty="0"/>
                  <a:t> calculate </a:t>
                </a:r>
                <a:r>
                  <a:rPr lang="en-US" b="1" dirty="0"/>
                  <a:t>IPCW</a:t>
                </a:r>
                <a:r>
                  <a:rPr lang="en-US" dirty="0"/>
                  <a:t> for active group.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from Step 2 represents the causal effect of randomized active vs. control treatment.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FC10F9-B630-084B-7658-1E4B314C8B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325563"/>
                <a:ext cx="11696700" cy="5341937"/>
              </a:xfrm>
              <a:blipFill>
                <a:blip r:embed="rId3"/>
                <a:stretch>
                  <a:fillRect l="-730" r="-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48D0B0CF-6A3F-F72F-4B8E-1502F60A2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Marginal Structure Model</a:t>
            </a:r>
            <a:br>
              <a:rPr lang="en-US" dirty="0"/>
            </a:br>
            <a:r>
              <a:rPr lang="en-US" sz="2800" i="1" dirty="0"/>
              <a:t>MSM in one-way switching trials</a:t>
            </a:r>
            <a:endParaRPr lang="en-US" i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2B2FCD9-8857-8A1D-678F-19071DB40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1164" y="5541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(Xu et al., 2025)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592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CBA36F-A8F0-957B-684F-7ACC44F7DAD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833" b="98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E4E1A4-E6BE-3FEF-38F6-83A5775E2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18" y="26071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Limitations of MSM in Treatment-Switching Trials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3B7019-7AC8-9446-D461-6BD4F3CDC8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13429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E9897050-9DF2-28B0-AD10-B2D52747F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745" y="1254859"/>
            <a:ext cx="760614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(Xu et al., 2025)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336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9613-F7D1-2938-6885-536204BFC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3" y="157306"/>
            <a:ext cx="11880273" cy="1325563"/>
          </a:xfrm>
        </p:spPr>
        <p:txBody>
          <a:bodyPr/>
          <a:lstStyle/>
          <a:p>
            <a:r>
              <a:rPr lang="en-US" dirty="0"/>
              <a:t>Inverse Probability of Censoring Weighting (IPCW)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35C9EF76-7F96-6881-7443-EC929C9E12E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155863" y="1514659"/>
                <a:ext cx="11880273" cy="51860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In switching trials, patients may </a:t>
                </a: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stop treatment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switch treatments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or become </a:t>
                </a: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lost to follow-up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These events are related to patient condition (e.g., progression, toxicity) → </a:t>
                </a: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informative (dependent) censoring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Standard KM/Cox/log-rank require </a:t>
                </a: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independent censoring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which is violated here.</a:t>
                </a: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Key idea:</a:t>
                </a: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Treat switching/stop-treatment/loss-to-follow-up as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censoring events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reweight the data to correct for this dependence.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How IPCW Works Conceptually</a:t>
                </a:r>
              </a:p>
              <a:p>
                <a:pPr lvl="1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Patients with low risk of censoring (healthier) →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smaller weights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Patients with high risk of censoring (sicker), but who remain uncensored →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larger weights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𝑊𝑒𝑖𝑔h𝑡𝑠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=1/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𝑛𝑜𝑡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𝑐𝑒𝑛𝑠𝑜𝑟𝑒𝑑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16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After weighting, the dataset behaves as if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censoring were random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allowing standard KM/Cox to give unbiased estimates.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35C9EF76-7F96-6881-7443-EC929C9E12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55863" y="1514659"/>
                <a:ext cx="11880273" cy="5186035"/>
              </a:xfrm>
              <a:prstGeom prst="rect">
                <a:avLst/>
              </a:prstGeom>
              <a:blipFill>
                <a:blip r:embed="rId3"/>
                <a:stretch>
                  <a:fillRect l="-20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9D419E5E-271B-BC0F-BBE8-4BEA2C4A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63" y="133003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(Robins &amp; Finkelstein, 2000)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654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CEB4-790C-0562-D5DA-131DD9754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-50800"/>
            <a:ext cx="10515600" cy="1325563"/>
          </a:xfrm>
        </p:spPr>
        <p:txBody>
          <a:bodyPr/>
          <a:lstStyle/>
          <a:p>
            <a:r>
              <a:rPr lang="en-US" dirty="0"/>
              <a:t>IPCW </a:t>
            </a:r>
            <a:br>
              <a:rPr lang="en-US" dirty="0"/>
            </a:br>
            <a:r>
              <a:rPr lang="en-US" sz="3200" i="1" dirty="0"/>
              <a:t>Assumptions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DAE7E-E0A2-7123-9750-DB6947525A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" y="1274762"/>
                <a:ext cx="11963400" cy="5583237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No unmeasured confounders for censoring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|{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𝑍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}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T: True failure time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C(t): Censoring process at time </a:t>
                </a:r>
                <a:r>
                  <a:rPr lang="en-US" altLang="en-US" sz="1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alt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(1 = censored/ switched/ stopped; 0 = still observed)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Z: treatment arm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A(t):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Time-varying clinical covariates up to time </a:t>
                </a:r>
                <a:r>
                  <a:rPr lang="en-US" sz="1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(e.g., CD4, symptoms…)</a:t>
                </a:r>
                <a:endParaRPr lang="en-US" alt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changes are captured in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V(t)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censoring contains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no extra information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about prognosis.</a:t>
                </a:r>
              </a:p>
              <a:p>
                <a:pPr lvl="1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Censoring becomes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“explainable” rather than driven by hidden factors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Why the Assumption Is Needed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IPCW upweights patients who remain uncensored despite high risk of censoring, and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downweights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those with low risk.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This reweighting only works if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V(t)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captures all factors that influence both censoring and survival.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DAE7E-E0A2-7123-9750-DB6947525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" y="1274762"/>
                <a:ext cx="11963400" cy="5583237"/>
              </a:xfrm>
              <a:blipFill>
                <a:blip r:embed="rId3"/>
                <a:stretch>
                  <a:fillRect l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>
            <a:extLst>
              <a:ext uri="{FF2B5EF4-FFF2-40B4-BE49-F238E27FC236}">
                <a16:creationId xmlns:a16="http://schemas.microsoft.com/office/drawing/2014/main" id="{D2471D0E-8E42-77D9-146F-45EA513A7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6509" y="40178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(Robins &amp; Finkelstein, 2000)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001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50994A-A779-7198-5ACC-7A1E1A820EC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833" b="98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B8AAB-1D98-2548-F8C0-1ECF007EF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IPCW</a:t>
            </a:r>
            <a:br>
              <a:rPr lang="en-US"/>
            </a:br>
            <a:r>
              <a:rPr lang="en-US" i="1"/>
              <a:t>Weight Construction</a:t>
            </a:r>
            <a:endParaRPr lang="en-US" i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5BC818-8040-9AC2-199C-D55BA38ACC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23405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6DDCB4F9-4641-0643-FC4B-F39CCABD0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982" y="72043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(Robins &amp; Finkelstein, 2000)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425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C94B-9907-C16C-CD07-442F8554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255"/>
            <a:ext cx="10515600" cy="1325563"/>
          </a:xfrm>
        </p:spPr>
        <p:txBody>
          <a:bodyPr/>
          <a:lstStyle/>
          <a:p>
            <a:r>
              <a:rPr lang="en-US" dirty="0"/>
              <a:t>IPCW</a:t>
            </a:r>
            <a:br>
              <a:rPr lang="en-US" dirty="0"/>
            </a:br>
            <a:r>
              <a:rPr lang="en-US" sz="3200" i="1" dirty="0"/>
              <a:t>Modeling and Interpretation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C97E-6C44-8221-1125-161ED17A8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07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Weighted KM and log-rank test: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Weighted Cox</a:t>
            </a:r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3B0A5DB-FF30-800A-6D40-F1D2DB58F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38" y="1914685"/>
            <a:ext cx="3873692" cy="8742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D248F1-9880-61DF-BD79-70EFE61A7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987" y="2876405"/>
            <a:ext cx="4772025" cy="600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A1BF00-30E7-78A7-5009-5FCCDC2A2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294" y="3429000"/>
            <a:ext cx="10793506" cy="3308253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B89C5CE-2332-AF6D-430F-CD1664ECD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4219" y="4710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(Robins &amp; Finkelstein, 2000)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938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305D6-7845-A31B-0B95-44E813491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/>
              <a:t>IPCW</a:t>
            </a:r>
            <a:br>
              <a:rPr lang="en-US" sz="4200"/>
            </a:br>
            <a:r>
              <a:rPr lang="en-US" sz="4200"/>
              <a:t>Key takeways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2" name="Content Placeholder 2">
            <a:extLst>
              <a:ext uri="{FF2B5EF4-FFF2-40B4-BE49-F238E27FC236}">
                <a16:creationId xmlns:a16="http://schemas.microsoft.com/office/drawing/2014/main" id="{B794A2F0-CB46-0339-0F80-F09CF67D8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4309265"/>
              </p:ext>
            </p:extLst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5323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4CF9-73F1-F08E-2457-AEB0054D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" y="-243551"/>
            <a:ext cx="1105916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Summary of MSM vs IPCW for Treatment-Switching Trials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209DA76-AD40-FB44-00EF-659D307CF0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6306557"/>
              </p:ext>
            </p:extLst>
          </p:nvPr>
        </p:nvGraphicFramePr>
        <p:xfrm>
          <a:off x="601980" y="948919"/>
          <a:ext cx="10576560" cy="5389654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525520">
                  <a:extLst>
                    <a:ext uri="{9D8B030D-6E8A-4147-A177-3AD203B41FA5}">
                      <a16:colId xmlns:a16="http://schemas.microsoft.com/office/drawing/2014/main" val="3677174188"/>
                    </a:ext>
                  </a:extLst>
                </a:gridCol>
                <a:gridCol w="3525520">
                  <a:extLst>
                    <a:ext uri="{9D8B030D-6E8A-4147-A177-3AD203B41FA5}">
                      <a16:colId xmlns:a16="http://schemas.microsoft.com/office/drawing/2014/main" val="1494011986"/>
                    </a:ext>
                  </a:extLst>
                </a:gridCol>
                <a:gridCol w="3525520">
                  <a:extLst>
                    <a:ext uri="{9D8B030D-6E8A-4147-A177-3AD203B41FA5}">
                      <a16:colId xmlns:a16="http://schemas.microsoft.com/office/drawing/2014/main" val="3276736009"/>
                    </a:ext>
                  </a:extLst>
                </a:gridCol>
              </a:tblGrid>
              <a:tr h="25483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MSM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IPCW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084190800"/>
                  </a:ext>
                </a:extLst>
              </a:tr>
              <a:tr h="46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Goal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Recover causal effect as if </a:t>
                      </a:r>
                      <a:r>
                        <a:rPr lang="en-US" sz="1400" b="1"/>
                        <a:t>no switching</a:t>
                      </a:r>
                      <a:r>
                        <a:rPr lang="en-US" sz="1400"/>
                        <a:t>, using weights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Same goal; correct bias from </a:t>
                      </a:r>
                      <a:r>
                        <a:rPr lang="en-US" sz="1400" b="1"/>
                        <a:t>informative censoring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113492175"/>
                  </a:ext>
                </a:extLst>
              </a:tr>
              <a:tr h="46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How It Works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IPTW × IPCW; reweights treatment </a:t>
                      </a:r>
                      <a:r>
                        <a:rPr lang="en-US" sz="1400" b="1" dirty="0"/>
                        <a:t>and</a:t>
                      </a:r>
                      <a:r>
                        <a:rPr lang="en-US" sz="1400" dirty="0"/>
                        <a:t> censoring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Treat switching as </a:t>
                      </a:r>
                      <a:r>
                        <a:rPr lang="en-US" sz="1400" b="1"/>
                        <a:t>censoring</a:t>
                      </a:r>
                      <a:r>
                        <a:rPr lang="en-US" sz="1400"/>
                        <a:t>; weight for follow-up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798614729"/>
                  </a:ext>
                </a:extLst>
              </a:tr>
              <a:tr h="430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Treatment Switching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Keep</a:t>
                      </a:r>
                      <a:r>
                        <a:rPr lang="en-US" sz="1400"/>
                        <a:t> post-switch data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Censor</a:t>
                      </a:r>
                      <a:r>
                        <a:rPr lang="en-US" sz="1400"/>
                        <a:t> at switching → drop later data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014868900"/>
                  </a:ext>
                </a:extLst>
              </a:tr>
              <a:tr h="46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Estimand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Effect of randomized arm </a:t>
                      </a:r>
                      <a:r>
                        <a:rPr lang="en-US" sz="1400" b="1" dirty="0"/>
                        <a:t>and</a:t>
                      </a:r>
                      <a:r>
                        <a:rPr lang="en-US" sz="1400" dirty="0"/>
                        <a:t> alternative treatment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Effect of </a:t>
                      </a:r>
                      <a:r>
                        <a:rPr lang="en-US" sz="1400" b="1"/>
                        <a:t>staying on randomized arm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777790587"/>
                  </a:ext>
                </a:extLst>
              </a:tr>
              <a:tr h="254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Efficiency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Higher (more data retained)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Lower (information loss)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059325573"/>
                  </a:ext>
                </a:extLst>
              </a:tr>
              <a:tr h="615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Strengths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Lower bias; higher power; better type I error (when correctly specified)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Simple; intuitive; good when switching patterns are simple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732293591"/>
                  </a:ext>
                </a:extLst>
              </a:tr>
              <a:tr h="984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Shared Limitations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Require rich time-varying covariates; sensitive to non-positivity; need correct weight models; extreme weights need truncation</a:t>
                      </a:r>
                    </a:p>
                  </a:txBody>
                  <a:tcPr marL="47297" marR="47297" marT="23649" marB="23649"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579151951"/>
                  </a:ext>
                </a:extLst>
              </a:tr>
              <a:tr h="615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MSM-Specific Limits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Must model treatment + censoring; requires </a:t>
                      </a:r>
                      <a:r>
                        <a:rPr lang="en-US" sz="1400" b="1"/>
                        <a:t>R × A(t)</a:t>
                      </a:r>
                      <a:r>
                        <a:rPr lang="en-US" sz="1400"/>
                        <a:t> interaction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—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688212048"/>
                  </a:ext>
                </a:extLst>
              </a:tr>
              <a:tr h="800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IPCW-Specific Limits</a:t>
                      </a:r>
                      <a:endParaRPr lang="en-US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—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Information loss → larger SE; cannot estimate effect of alternative treatment; tends to underestimate effect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727878766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C469C96D-5E56-FF2A-2FF6-2C1C96914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" y="72043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(Xu et al., 2022)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105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090B-736D-EA9C-9724-E1FBB922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2112242-69E9-15F7-499A-CE2DAF4A3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199" y="1690688"/>
            <a:ext cx="10409959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Burcu, M. (2024).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Time-Dependent Confounders: Are They All the Same?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ISPOR | International Society for Pharmacoeconomics and Outcomes Research . https://www.ispor.org/publications/journals/value-outcomes-spotlight/abstract/march-april-2016/time-dependent-confounders-are-they-all-the-same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Hernán, M. Á., Brumback, B., &amp; Robins, J. M. (2000). Marginal Structural Models to Estimate the Causal Effect of Zidovudine on the Survival of HIV-Positive Men.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Epidemiology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(5), 561–570. https://doi.org/10.1097/00001648-200009000-00012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Robins, J. M., &amp; Finkelstein, D. M. (2000). Correcting for Noncompliance and Dependent Censoring in an AIDS Clinical Trial with Inverse Probability of Censoring Weighted (IPCW) Log-Rank Tests.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Biometrics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(3), 779–788. https://doi.org/10.1111/j.0006-341x.2000.00779.x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Robins, J. M., Hernán, M. Á., &amp; Brumback, B. (2000). Marginal Structural Models and Causal Inference in Epidemiology.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Epidemiology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(5), 550–560. https://doi.org/10.1097/00001648-200009000-00011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Xu, J., Bay, C., Wang, B., Liu, G., &amp; Li, C. (2025). Application of marginal structural models for causal inference on the treatment effect for overall survival in randomized controlled trials with control arm patients switching to active intervention after disease progression.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Biopharmaceutical Statistics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1–18. https://doi.org/10.1080/10543406.2025.2547591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Xu, J., Liu, G., &amp; Wang, B. (2022). Bias and Type I error Control in Correcting Treatment Effect for Treatment Switching Using Marginal Structural Models in Phase III Oncology Trials.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Biopharmaceutical Statistics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(6), 897–914. https://doi.org/10.1080/10543406.2022.2058524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905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797EBC-F245-473B-8EB3-54289E64C1B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3175</TotalTime>
  <Words>2229</Words>
  <Application>Microsoft Office PowerPoint</Application>
  <PresentationFormat>Widescreen</PresentationFormat>
  <Paragraphs>231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Courier New</vt:lpstr>
      <vt:lpstr>Times New Roman</vt:lpstr>
      <vt:lpstr>Office Theme</vt:lpstr>
      <vt:lpstr>Survival Analysis Methods Correcting  for Treatment Switching Effects in  RCTs: Theory and SAS/R Code (Part 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MSM Works in observational studies Conceptually</vt:lpstr>
      <vt:lpstr>How MSM Works in observational studies IPTW &amp; IPCW</vt:lpstr>
      <vt:lpstr>How MSM Works in observational studies Marginal structural Cox model &amp; KM estimates </vt:lpstr>
      <vt:lpstr>MSM in Observational Studies vs. Treatment-Switching Trials</vt:lpstr>
      <vt:lpstr>MSM in Two-Way Switching Trials</vt:lpstr>
      <vt:lpstr>MSM in Two-Way Switching Trials Continue</vt:lpstr>
      <vt:lpstr>MSM in Two-Way Switching Trials Reducing Bias</vt:lpstr>
      <vt:lpstr>Marginal Structure Model MSM in one-way switching trials</vt:lpstr>
      <vt:lpstr>Limitations of MSM in Treatment-Switching Trials</vt:lpstr>
      <vt:lpstr>Inverse Probability of Censoring Weighting (IPCW)</vt:lpstr>
      <vt:lpstr>IPCW  Assumptions</vt:lpstr>
      <vt:lpstr>IPCW Weight Construction</vt:lpstr>
      <vt:lpstr>IPCW Modeling and Interpretation</vt:lpstr>
      <vt:lpstr>IPCW Key takeways</vt:lpstr>
      <vt:lpstr>Summary of MSM vs IPCW for Treatment-Switching Trials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Cao, Biwei</dc:creator>
  <cp:lastModifiedBy>Fan, Wenyi</cp:lastModifiedBy>
  <cp:revision>17</cp:revision>
  <dcterms:created xsi:type="dcterms:W3CDTF">2025-11-18T02:15:27Z</dcterms:created>
  <dcterms:modified xsi:type="dcterms:W3CDTF">2025-11-20T19:52:29Z</dcterms:modified>
</cp:coreProperties>
</file>