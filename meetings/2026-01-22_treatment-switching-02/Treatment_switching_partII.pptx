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diagrams/data4.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7" r:id="rId3"/>
    <p:sldId id="258" r:id="rId4"/>
    <p:sldId id="259" r:id="rId5"/>
    <p:sldId id="260" r:id="rId6"/>
    <p:sldId id="262" r:id="rId7"/>
    <p:sldId id="265" r:id="rId8"/>
    <p:sldId id="264" r:id="rId9"/>
    <p:sldId id="274" r:id="rId10"/>
    <p:sldId id="266" r:id="rId11"/>
    <p:sldId id="270" r:id="rId12"/>
    <p:sldId id="278" r:id="rId13"/>
    <p:sldId id="279" r:id="rId14"/>
    <p:sldId id="269" r:id="rId15"/>
    <p:sldId id="277" r:id="rId16"/>
    <p:sldId id="280" r:id="rId17"/>
    <p:sldId id="281" r:id="rId18"/>
    <p:sldId id="282" r:id="rId19"/>
    <p:sldId id="283" r:id="rId20"/>
    <p:sldId id="284" r:id="rId21"/>
    <p:sldId id="285" r:id="rId22"/>
    <p:sldId id="261" r:id="rId23"/>
    <p:sldId id="286" r:id="rId24"/>
    <p:sldId id="263" r:id="rId25"/>
    <p:sldId id="287" r:id="rId26"/>
    <p:sldId id="268" r:id="rId27"/>
    <p:sldId id="288" r:id="rId28"/>
    <p:sldId id="289" r:id="rId29"/>
    <p:sldId id="271" r:id="rId30"/>
    <p:sldId id="272" r:id="rId31"/>
    <p:sldId id="273" r:id="rId32"/>
    <p:sldId id="290" r:id="rId33"/>
    <p:sldId id="275" r:id="rId34"/>
    <p:sldId id="291" r:id="rId35"/>
    <p:sldId id="276" r:id="rId36"/>
    <p:sldId id="292" r:id="rId37"/>
    <p:sldId id="293" r:id="rId38"/>
    <p:sldId id="294" r:id="rId39"/>
    <p:sldId id="295" r:id="rId40"/>
    <p:sldId id="296" r:id="rId41"/>
    <p:sldId id="26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75" autoAdjust="0"/>
    <p:restoredTop sz="84516" autoAdjust="0"/>
  </p:normalViewPr>
  <p:slideViewPr>
    <p:cSldViewPr snapToGrid="0">
      <p:cViewPr varScale="1">
        <p:scale>
          <a:sx n="94" d="100"/>
          <a:sy n="94" d="100"/>
        </p:scale>
        <p:origin x="135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_rels/data4.xml.rels><?xml version="1.0" encoding="UTF-8" standalone="yes"?>
<Relationships xmlns="http://schemas.openxmlformats.org/package/2006/relationships"><Relationship Id="rId1" Type="http://schemas.openxmlformats.org/officeDocument/2006/relationships/image" Target="../media/image24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2D31BD-7DEB-453C-8BC8-3E8CA3AEE1B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4DC722B-091C-42BB-A7E5-3417C23AB401}">
      <dgm:prSet/>
      <dgm:spPr>
        <a:solidFill>
          <a:schemeClr val="bg1">
            <a:lumMod val="65000"/>
          </a:schemeClr>
        </a:solidFill>
      </dgm:spPr>
      <dgm:t>
        <a:bodyPr/>
        <a:lstStyle/>
        <a:p>
          <a:r>
            <a:rPr lang="en-US"/>
            <a:t>Marginal Structural Model (MSM)</a:t>
          </a:r>
        </a:p>
      </dgm:t>
    </dgm:pt>
    <dgm:pt modelId="{F99F1883-E6D9-4150-8A5A-84BE2A59A4A1}" type="parTrans" cxnId="{C4FF17CC-FC38-46FC-BEB6-BAADB986C1C3}">
      <dgm:prSet/>
      <dgm:spPr/>
      <dgm:t>
        <a:bodyPr/>
        <a:lstStyle/>
        <a:p>
          <a:endParaRPr lang="en-US"/>
        </a:p>
      </dgm:t>
    </dgm:pt>
    <dgm:pt modelId="{FE5D326A-7ABF-492C-BFE0-4DC831379454}" type="sibTrans" cxnId="{C4FF17CC-FC38-46FC-BEB6-BAADB986C1C3}">
      <dgm:prSet/>
      <dgm:spPr/>
      <dgm:t>
        <a:bodyPr/>
        <a:lstStyle/>
        <a:p>
          <a:endParaRPr lang="en-US"/>
        </a:p>
      </dgm:t>
    </dgm:pt>
    <dgm:pt modelId="{7E167D8D-9C7E-47D4-9F57-B14C591CE694}">
      <dgm:prSet/>
      <dgm:spPr>
        <a:solidFill>
          <a:schemeClr val="bg1">
            <a:lumMod val="65000"/>
          </a:schemeClr>
        </a:solidFill>
      </dgm:spPr>
      <dgm:t>
        <a:bodyPr/>
        <a:lstStyle/>
        <a:p>
          <a:r>
            <a:rPr lang="en-US"/>
            <a:t>Inverse Probability of Censoring Weighting (IPCW)</a:t>
          </a:r>
        </a:p>
      </dgm:t>
    </dgm:pt>
    <dgm:pt modelId="{F486B959-9BAB-4137-836B-9AD3F0691258}" type="parTrans" cxnId="{034EF5FD-3143-401C-B947-E11FBAC4E6CD}">
      <dgm:prSet/>
      <dgm:spPr/>
      <dgm:t>
        <a:bodyPr/>
        <a:lstStyle/>
        <a:p>
          <a:endParaRPr lang="en-US"/>
        </a:p>
      </dgm:t>
    </dgm:pt>
    <dgm:pt modelId="{35E36C2E-6153-4AB8-8FE5-61434640B645}" type="sibTrans" cxnId="{034EF5FD-3143-401C-B947-E11FBAC4E6CD}">
      <dgm:prSet/>
      <dgm:spPr/>
      <dgm:t>
        <a:bodyPr/>
        <a:lstStyle/>
        <a:p>
          <a:endParaRPr lang="en-US"/>
        </a:p>
      </dgm:t>
    </dgm:pt>
    <dgm:pt modelId="{270DB416-E15A-40E8-ACB4-B979C20CEE0B}">
      <dgm:prSet/>
      <dgm:spPr/>
      <dgm:t>
        <a:bodyPr/>
        <a:lstStyle/>
        <a:p>
          <a:r>
            <a:rPr lang="en-US" dirty="0"/>
            <a:t>Rank Preserving Structure Failure Time (RPFST) Model</a:t>
          </a:r>
        </a:p>
      </dgm:t>
    </dgm:pt>
    <dgm:pt modelId="{E0A3166D-DF6F-4668-B169-9A66A167AE9B}" type="parTrans" cxnId="{EE9B2F53-E72A-4174-88F0-08A7049EFC50}">
      <dgm:prSet/>
      <dgm:spPr/>
      <dgm:t>
        <a:bodyPr/>
        <a:lstStyle/>
        <a:p>
          <a:endParaRPr lang="en-US"/>
        </a:p>
      </dgm:t>
    </dgm:pt>
    <dgm:pt modelId="{08325815-E62D-499F-AC27-75C2CC5E9AEB}" type="sibTrans" cxnId="{EE9B2F53-E72A-4174-88F0-08A7049EFC50}">
      <dgm:prSet/>
      <dgm:spPr/>
      <dgm:t>
        <a:bodyPr/>
        <a:lstStyle/>
        <a:p>
          <a:endParaRPr lang="en-US"/>
        </a:p>
      </dgm:t>
    </dgm:pt>
    <dgm:pt modelId="{9071B281-8609-4A9D-897D-46F99DCBEB61}">
      <dgm:prSet/>
      <dgm:spPr/>
      <dgm:t>
        <a:bodyPr/>
        <a:lstStyle/>
        <a:p>
          <a:r>
            <a:rPr lang="en-US"/>
            <a:t>Two Stage Estimation (TSE)</a:t>
          </a:r>
        </a:p>
      </dgm:t>
    </dgm:pt>
    <dgm:pt modelId="{EFF3AB4A-B2BB-483B-85A3-2803204BBB1D}" type="parTrans" cxnId="{9FEAF1E2-CE34-4325-A744-BDEDF587B206}">
      <dgm:prSet/>
      <dgm:spPr/>
      <dgm:t>
        <a:bodyPr/>
        <a:lstStyle/>
        <a:p>
          <a:endParaRPr lang="en-US"/>
        </a:p>
      </dgm:t>
    </dgm:pt>
    <dgm:pt modelId="{554287B9-07E1-4C0D-951C-146F34D5E4EE}" type="sibTrans" cxnId="{9FEAF1E2-CE34-4325-A744-BDEDF587B206}">
      <dgm:prSet/>
      <dgm:spPr/>
      <dgm:t>
        <a:bodyPr/>
        <a:lstStyle/>
        <a:p>
          <a:endParaRPr lang="en-US"/>
        </a:p>
      </dgm:t>
    </dgm:pt>
    <dgm:pt modelId="{3E72CB7D-1398-4E7D-8DDC-3F406E38DBC0}" type="pres">
      <dgm:prSet presAssocID="{0F2D31BD-7DEB-453C-8BC8-3E8CA3AEE1BC}" presName="linear" presStyleCnt="0">
        <dgm:presLayoutVars>
          <dgm:animLvl val="lvl"/>
          <dgm:resizeHandles val="exact"/>
        </dgm:presLayoutVars>
      </dgm:prSet>
      <dgm:spPr/>
    </dgm:pt>
    <dgm:pt modelId="{F9DC6A21-2F3F-47CC-8681-5EC84144E98A}" type="pres">
      <dgm:prSet presAssocID="{34DC722B-091C-42BB-A7E5-3417C23AB401}" presName="parentText" presStyleLbl="node1" presStyleIdx="0" presStyleCnt="4">
        <dgm:presLayoutVars>
          <dgm:chMax val="0"/>
          <dgm:bulletEnabled val="1"/>
        </dgm:presLayoutVars>
      </dgm:prSet>
      <dgm:spPr/>
    </dgm:pt>
    <dgm:pt modelId="{8ECD1E46-1553-4DCC-BE35-C0E0969A0926}" type="pres">
      <dgm:prSet presAssocID="{FE5D326A-7ABF-492C-BFE0-4DC831379454}" presName="spacer" presStyleCnt="0"/>
      <dgm:spPr/>
    </dgm:pt>
    <dgm:pt modelId="{668048D6-6964-4C9A-8D99-375A1879ADD5}" type="pres">
      <dgm:prSet presAssocID="{7E167D8D-9C7E-47D4-9F57-B14C591CE694}" presName="parentText" presStyleLbl="node1" presStyleIdx="1" presStyleCnt="4">
        <dgm:presLayoutVars>
          <dgm:chMax val="0"/>
          <dgm:bulletEnabled val="1"/>
        </dgm:presLayoutVars>
      </dgm:prSet>
      <dgm:spPr/>
    </dgm:pt>
    <dgm:pt modelId="{620CA2A3-8703-49D5-B184-BC57606BACCC}" type="pres">
      <dgm:prSet presAssocID="{35E36C2E-6153-4AB8-8FE5-61434640B645}" presName="spacer" presStyleCnt="0"/>
      <dgm:spPr/>
    </dgm:pt>
    <dgm:pt modelId="{D848D16E-D746-4952-88ED-DF9F4449E00D}" type="pres">
      <dgm:prSet presAssocID="{270DB416-E15A-40E8-ACB4-B979C20CEE0B}" presName="parentText" presStyleLbl="node1" presStyleIdx="2" presStyleCnt="4">
        <dgm:presLayoutVars>
          <dgm:chMax val="0"/>
          <dgm:bulletEnabled val="1"/>
        </dgm:presLayoutVars>
      </dgm:prSet>
      <dgm:spPr/>
    </dgm:pt>
    <dgm:pt modelId="{2A8CC689-4B08-485C-8DC4-9A64EB4F0DD4}" type="pres">
      <dgm:prSet presAssocID="{08325815-E62D-499F-AC27-75C2CC5E9AEB}" presName="spacer" presStyleCnt="0"/>
      <dgm:spPr/>
    </dgm:pt>
    <dgm:pt modelId="{4F65E044-F343-4C95-B0A8-D6695264BB51}" type="pres">
      <dgm:prSet presAssocID="{9071B281-8609-4A9D-897D-46F99DCBEB61}" presName="parentText" presStyleLbl="node1" presStyleIdx="3" presStyleCnt="4">
        <dgm:presLayoutVars>
          <dgm:chMax val="0"/>
          <dgm:bulletEnabled val="1"/>
        </dgm:presLayoutVars>
      </dgm:prSet>
      <dgm:spPr/>
    </dgm:pt>
  </dgm:ptLst>
  <dgm:cxnLst>
    <dgm:cxn modelId="{54E8C246-21E7-4E1A-B9CB-1F7FD46DF861}" type="presOf" srcId="{0F2D31BD-7DEB-453C-8BC8-3E8CA3AEE1BC}" destId="{3E72CB7D-1398-4E7D-8DDC-3F406E38DBC0}" srcOrd="0" destOrd="0" presId="urn:microsoft.com/office/officeart/2005/8/layout/vList2"/>
    <dgm:cxn modelId="{CE46A24C-08C3-40E7-920A-A7F21516D221}" type="presOf" srcId="{34DC722B-091C-42BB-A7E5-3417C23AB401}" destId="{F9DC6A21-2F3F-47CC-8681-5EC84144E98A}" srcOrd="0" destOrd="0" presId="urn:microsoft.com/office/officeart/2005/8/layout/vList2"/>
    <dgm:cxn modelId="{EE9B2F53-E72A-4174-88F0-08A7049EFC50}" srcId="{0F2D31BD-7DEB-453C-8BC8-3E8CA3AEE1BC}" destId="{270DB416-E15A-40E8-ACB4-B979C20CEE0B}" srcOrd="2" destOrd="0" parTransId="{E0A3166D-DF6F-4668-B169-9A66A167AE9B}" sibTransId="{08325815-E62D-499F-AC27-75C2CC5E9AEB}"/>
    <dgm:cxn modelId="{F75F007D-EF2E-4B35-8FD4-066DDF417A85}" type="presOf" srcId="{270DB416-E15A-40E8-ACB4-B979C20CEE0B}" destId="{D848D16E-D746-4952-88ED-DF9F4449E00D}" srcOrd="0" destOrd="0" presId="urn:microsoft.com/office/officeart/2005/8/layout/vList2"/>
    <dgm:cxn modelId="{F676F182-9DDD-4ACC-B168-D245AFC03E84}" type="presOf" srcId="{9071B281-8609-4A9D-897D-46F99DCBEB61}" destId="{4F65E044-F343-4C95-B0A8-D6695264BB51}" srcOrd="0" destOrd="0" presId="urn:microsoft.com/office/officeart/2005/8/layout/vList2"/>
    <dgm:cxn modelId="{F39A4393-4939-406F-9A4B-EDC6316FA127}" type="presOf" srcId="{7E167D8D-9C7E-47D4-9F57-B14C591CE694}" destId="{668048D6-6964-4C9A-8D99-375A1879ADD5}" srcOrd="0" destOrd="0" presId="urn:microsoft.com/office/officeart/2005/8/layout/vList2"/>
    <dgm:cxn modelId="{C4FF17CC-FC38-46FC-BEB6-BAADB986C1C3}" srcId="{0F2D31BD-7DEB-453C-8BC8-3E8CA3AEE1BC}" destId="{34DC722B-091C-42BB-A7E5-3417C23AB401}" srcOrd="0" destOrd="0" parTransId="{F99F1883-E6D9-4150-8A5A-84BE2A59A4A1}" sibTransId="{FE5D326A-7ABF-492C-BFE0-4DC831379454}"/>
    <dgm:cxn modelId="{9FEAF1E2-CE34-4325-A744-BDEDF587B206}" srcId="{0F2D31BD-7DEB-453C-8BC8-3E8CA3AEE1BC}" destId="{9071B281-8609-4A9D-897D-46F99DCBEB61}" srcOrd="3" destOrd="0" parTransId="{EFF3AB4A-B2BB-483B-85A3-2803204BBB1D}" sibTransId="{554287B9-07E1-4C0D-951C-146F34D5E4EE}"/>
    <dgm:cxn modelId="{034EF5FD-3143-401C-B947-E11FBAC4E6CD}" srcId="{0F2D31BD-7DEB-453C-8BC8-3E8CA3AEE1BC}" destId="{7E167D8D-9C7E-47D4-9F57-B14C591CE694}" srcOrd="1" destOrd="0" parTransId="{F486B959-9BAB-4137-836B-9AD3F0691258}" sibTransId="{35E36C2E-6153-4AB8-8FE5-61434640B645}"/>
    <dgm:cxn modelId="{6C3F19D9-5906-4DFF-9635-2C61D46BDA91}" type="presParOf" srcId="{3E72CB7D-1398-4E7D-8DDC-3F406E38DBC0}" destId="{F9DC6A21-2F3F-47CC-8681-5EC84144E98A}" srcOrd="0" destOrd="0" presId="urn:microsoft.com/office/officeart/2005/8/layout/vList2"/>
    <dgm:cxn modelId="{0D728AAB-AE7B-4F84-A4DE-5A9E54154590}" type="presParOf" srcId="{3E72CB7D-1398-4E7D-8DDC-3F406E38DBC0}" destId="{8ECD1E46-1553-4DCC-BE35-C0E0969A0926}" srcOrd="1" destOrd="0" presId="urn:microsoft.com/office/officeart/2005/8/layout/vList2"/>
    <dgm:cxn modelId="{EC662BA7-64B7-41BE-B67C-272492DCBAA3}" type="presParOf" srcId="{3E72CB7D-1398-4E7D-8DDC-3F406E38DBC0}" destId="{668048D6-6964-4C9A-8D99-375A1879ADD5}" srcOrd="2" destOrd="0" presId="urn:microsoft.com/office/officeart/2005/8/layout/vList2"/>
    <dgm:cxn modelId="{7138AE59-8594-481F-B8AD-3BB173907943}" type="presParOf" srcId="{3E72CB7D-1398-4E7D-8DDC-3F406E38DBC0}" destId="{620CA2A3-8703-49D5-B184-BC57606BACCC}" srcOrd="3" destOrd="0" presId="urn:microsoft.com/office/officeart/2005/8/layout/vList2"/>
    <dgm:cxn modelId="{A223D313-3284-41FF-A850-9613EA2DEB12}" type="presParOf" srcId="{3E72CB7D-1398-4E7D-8DDC-3F406E38DBC0}" destId="{D848D16E-D746-4952-88ED-DF9F4449E00D}" srcOrd="4" destOrd="0" presId="urn:microsoft.com/office/officeart/2005/8/layout/vList2"/>
    <dgm:cxn modelId="{7B5F1106-D23A-4D6E-8C0D-27F0551E725B}" type="presParOf" srcId="{3E72CB7D-1398-4E7D-8DDC-3F406E38DBC0}" destId="{2A8CC689-4B08-485C-8DC4-9A64EB4F0DD4}" srcOrd="5" destOrd="0" presId="urn:microsoft.com/office/officeart/2005/8/layout/vList2"/>
    <dgm:cxn modelId="{92A403AC-C7C9-4D75-9C15-4BA2F82664B0}" type="presParOf" srcId="{3E72CB7D-1398-4E7D-8DDC-3F406E38DBC0}" destId="{4F65E044-F343-4C95-B0A8-D6695264BB51}"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364F7A-3F5F-4189-9A96-75EB64B60667}" type="doc">
      <dgm:prSet loTypeId="urn:microsoft.com/office/officeart/2005/8/layout/hierarchy1" loCatId="hierarchy" qsTypeId="urn:microsoft.com/office/officeart/2005/8/quickstyle/simple1" qsCatId="simple" csTypeId="urn:microsoft.com/office/officeart/2005/8/colors/colorful5" csCatId="colorful"/>
      <dgm:spPr/>
      <dgm:t>
        <a:bodyPr/>
        <a:lstStyle/>
        <a:p>
          <a:endParaRPr lang="en-US"/>
        </a:p>
      </dgm:t>
    </dgm:pt>
    <dgm:pt modelId="{91A98D53-A1C5-44A2-BBEE-AD3C68D4002E}">
      <dgm:prSet/>
      <dgm:spPr/>
      <dgm:t>
        <a:bodyPr/>
        <a:lstStyle/>
        <a:p>
          <a:r>
            <a:rPr lang="en-US"/>
            <a:t>Latent survival time is the same in both arms</a:t>
          </a:r>
        </a:p>
      </dgm:t>
    </dgm:pt>
    <dgm:pt modelId="{5B98739E-26E5-44DC-B493-EA93D3335997}" type="parTrans" cxnId="{85877308-E447-43CC-98D4-38673B2B0113}">
      <dgm:prSet/>
      <dgm:spPr/>
      <dgm:t>
        <a:bodyPr/>
        <a:lstStyle/>
        <a:p>
          <a:endParaRPr lang="en-US"/>
        </a:p>
      </dgm:t>
    </dgm:pt>
    <dgm:pt modelId="{D1AC590A-C84F-43AF-ACB0-1DB4217EC9E7}" type="sibTrans" cxnId="{85877308-E447-43CC-98D4-38673B2B0113}">
      <dgm:prSet/>
      <dgm:spPr/>
      <dgm:t>
        <a:bodyPr/>
        <a:lstStyle/>
        <a:p>
          <a:endParaRPr lang="en-US"/>
        </a:p>
      </dgm:t>
    </dgm:pt>
    <dgm:pt modelId="{E8F8AC60-CECE-449D-A0D6-5423CD568902}">
      <dgm:prSet/>
      <dgm:spPr/>
      <dgm:t>
        <a:bodyPr/>
        <a:lstStyle/>
        <a:p>
          <a:r>
            <a:rPr lang="en-US" dirty="0"/>
            <a:t>Rank-preserving assumptions</a:t>
          </a:r>
        </a:p>
      </dgm:t>
    </dgm:pt>
    <dgm:pt modelId="{5F17F612-CEC0-4826-8CE1-70D4A9039D0E}" type="parTrans" cxnId="{AB6057E6-90C6-4D92-9FE8-103CDE64CE2B}">
      <dgm:prSet/>
      <dgm:spPr/>
      <dgm:t>
        <a:bodyPr/>
        <a:lstStyle/>
        <a:p>
          <a:endParaRPr lang="en-US"/>
        </a:p>
      </dgm:t>
    </dgm:pt>
    <dgm:pt modelId="{284CEEFB-CACE-4901-A54C-ED90E42551AE}" type="sibTrans" cxnId="{AB6057E6-90C6-4D92-9FE8-103CDE64CE2B}">
      <dgm:prSet/>
      <dgm:spPr/>
      <dgm:t>
        <a:bodyPr/>
        <a:lstStyle/>
        <a:p>
          <a:endParaRPr lang="en-US"/>
        </a:p>
      </dgm:t>
    </dgm:pt>
    <dgm:pt modelId="{E59C2497-B0F9-46CE-A3A0-77C3FF4023D8}">
      <dgm:prSet/>
      <dgm:spPr/>
      <dgm:t>
        <a:bodyPr/>
        <a:lstStyle/>
        <a:p>
          <a:r>
            <a:rPr lang="en-US" b="1"/>
            <a:t>Constant treatment effect assumption</a:t>
          </a:r>
          <a:endParaRPr lang="en-US"/>
        </a:p>
      </dgm:t>
    </dgm:pt>
    <dgm:pt modelId="{4865AFF3-8D17-487B-8619-F6BCDFFFADFC}" type="parTrans" cxnId="{8BE0B213-02BB-4A68-8E5D-CB4A86F9EB95}">
      <dgm:prSet/>
      <dgm:spPr/>
      <dgm:t>
        <a:bodyPr/>
        <a:lstStyle/>
        <a:p>
          <a:endParaRPr lang="en-US"/>
        </a:p>
      </dgm:t>
    </dgm:pt>
    <dgm:pt modelId="{B1BB2236-8946-45E9-9294-C75C95211C7F}" type="sibTrans" cxnId="{8BE0B213-02BB-4A68-8E5D-CB4A86F9EB95}">
      <dgm:prSet/>
      <dgm:spPr/>
      <dgm:t>
        <a:bodyPr/>
        <a:lstStyle/>
        <a:p>
          <a:endParaRPr lang="en-US"/>
        </a:p>
      </dgm:t>
    </dgm:pt>
    <dgm:pt modelId="{FA6BF6DF-C507-4589-93CF-5BE55AFC3B93}" type="pres">
      <dgm:prSet presAssocID="{3B364F7A-3F5F-4189-9A96-75EB64B60667}" presName="hierChild1" presStyleCnt="0">
        <dgm:presLayoutVars>
          <dgm:chPref val="1"/>
          <dgm:dir/>
          <dgm:animOne val="branch"/>
          <dgm:animLvl val="lvl"/>
          <dgm:resizeHandles/>
        </dgm:presLayoutVars>
      </dgm:prSet>
      <dgm:spPr/>
    </dgm:pt>
    <dgm:pt modelId="{D3256494-FEC4-4D4A-9122-771B906D2353}" type="pres">
      <dgm:prSet presAssocID="{91A98D53-A1C5-44A2-BBEE-AD3C68D4002E}" presName="hierRoot1" presStyleCnt="0"/>
      <dgm:spPr/>
    </dgm:pt>
    <dgm:pt modelId="{8CB3D34B-B858-45AD-94AD-35E0679A5662}" type="pres">
      <dgm:prSet presAssocID="{91A98D53-A1C5-44A2-BBEE-AD3C68D4002E}" presName="composite" presStyleCnt="0"/>
      <dgm:spPr/>
    </dgm:pt>
    <dgm:pt modelId="{F00C6010-482B-4C26-BD33-595037C5577E}" type="pres">
      <dgm:prSet presAssocID="{91A98D53-A1C5-44A2-BBEE-AD3C68D4002E}" presName="background" presStyleLbl="node0" presStyleIdx="0" presStyleCnt="3"/>
      <dgm:spPr/>
    </dgm:pt>
    <dgm:pt modelId="{9935BFA0-61D5-4945-99CF-257F8E103FE8}" type="pres">
      <dgm:prSet presAssocID="{91A98D53-A1C5-44A2-BBEE-AD3C68D4002E}" presName="text" presStyleLbl="fgAcc0" presStyleIdx="0" presStyleCnt="3">
        <dgm:presLayoutVars>
          <dgm:chPref val="3"/>
        </dgm:presLayoutVars>
      </dgm:prSet>
      <dgm:spPr/>
    </dgm:pt>
    <dgm:pt modelId="{B1B4AC84-D701-4ABB-A424-0FE23637E4A8}" type="pres">
      <dgm:prSet presAssocID="{91A98D53-A1C5-44A2-BBEE-AD3C68D4002E}" presName="hierChild2" presStyleCnt="0"/>
      <dgm:spPr/>
    </dgm:pt>
    <dgm:pt modelId="{6A95775C-7DA1-48DB-A38A-0BC283055F17}" type="pres">
      <dgm:prSet presAssocID="{E8F8AC60-CECE-449D-A0D6-5423CD568902}" presName="hierRoot1" presStyleCnt="0"/>
      <dgm:spPr/>
    </dgm:pt>
    <dgm:pt modelId="{F4AF186B-BE08-458B-9DE5-3CAC25C1468B}" type="pres">
      <dgm:prSet presAssocID="{E8F8AC60-CECE-449D-A0D6-5423CD568902}" presName="composite" presStyleCnt="0"/>
      <dgm:spPr/>
    </dgm:pt>
    <dgm:pt modelId="{C34152DD-677C-4592-86AB-C3A795004374}" type="pres">
      <dgm:prSet presAssocID="{E8F8AC60-CECE-449D-A0D6-5423CD568902}" presName="background" presStyleLbl="node0" presStyleIdx="1" presStyleCnt="3"/>
      <dgm:spPr/>
    </dgm:pt>
    <dgm:pt modelId="{F128206B-C35D-4798-A094-45EFE421237A}" type="pres">
      <dgm:prSet presAssocID="{E8F8AC60-CECE-449D-A0D6-5423CD568902}" presName="text" presStyleLbl="fgAcc0" presStyleIdx="1" presStyleCnt="3">
        <dgm:presLayoutVars>
          <dgm:chPref val="3"/>
        </dgm:presLayoutVars>
      </dgm:prSet>
      <dgm:spPr/>
    </dgm:pt>
    <dgm:pt modelId="{8ADEB76A-FED3-4FDC-9956-6895DD092E74}" type="pres">
      <dgm:prSet presAssocID="{E8F8AC60-CECE-449D-A0D6-5423CD568902}" presName="hierChild2" presStyleCnt="0"/>
      <dgm:spPr/>
    </dgm:pt>
    <dgm:pt modelId="{6847FB5A-AFB4-4377-A506-D7003FC1A9F9}" type="pres">
      <dgm:prSet presAssocID="{E59C2497-B0F9-46CE-A3A0-77C3FF4023D8}" presName="hierRoot1" presStyleCnt="0"/>
      <dgm:spPr/>
    </dgm:pt>
    <dgm:pt modelId="{3AF2BEF7-D977-4E1D-9489-44EE847C85D0}" type="pres">
      <dgm:prSet presAssocID="{E59C2497-B0F9-46CE-A3A0-77C3FF4023D8}" presName="composite" presStyleCnt="0"/>
      <dgm:spPr/>
    </dgm:pt>
    <dgm:pt modelId="{6D8A736A-1431-4628-B8F1-0729D420EE9E}" type="pres">
      <dgm:prSet presAssocID="{E59C2497-B0F9-46CE-A3A0-77C3FF4023D8}" presName="background" presStyleLbl="node0" presStyleIdx="2" presStyleCnt="3"/>
      <dgm:spPr/>
    </dgm:pt>
    <dgm:pt modelId="{A5A783F1-D9A2-4CFB-B9B2-CC1E83CF43B6}" type="pres">
      <dgm:prSet presAssocID="{E59C2497-B0F9-46CE-A3A0-77C3FF4023D8}" presName="text" presStyleLbl="fgAcc0" presStyleIdx="2" presStyleCnt="3">
        <dgm:presLayoutVars>
          <dgm:chPref val="3"/>
        </dgm:presLayoutVars>
      </dgm:prSet>
      <dgm:spPr/>
    </dgm:pt>
    <dgm:pt modelId="{5360BAD9-6BB4-401E-B69D-DD89BAB75194}" type="pres">
      <dgm:prSet presAssocID="{E59C2497-B0F9-46CE-A3A0-77C3FF4023D8}" presName="hierChild2" presStyleCnt="0"/>
      <dgm:spPr/>
    </dgm:pt>
  </dgm:ptLst>
  <dgm:cxnLst>
    <dgm:cxn modelId="{85877308-E447-43CC-98D4-38673B2B0113}" srcId="{3B364F7A-3F5F-4189-9A96-75EB64B60667}" destId="{91A98D53-A1C5-44A2-BBEE-AD3C68D4002E}" srcOrd="0" destOrd="0" parTransId="{5B98739E-26E5-44DC-B493-EA93D3335997}" sibTransId="{D1AC590A-C84F-43AF-ACB0-1DB4217EC9E7}"/>
    <dgm:cxn modelId="{8BE0B213-02BB-4A68-8E5D-CB4A86F9EB95}" srcId="{3B364F7A-3F5F-4189-9A96-75EB64B60667}" destId="{E59C2497-B0F9-46CE-A3A0-77C3FF4023D8}" srcOrd="2" destOrd="0" parTransId="{4865AFF3-8D17-487B-8619-F6BCDFFFADFC}" sibTransId="{B1BB2236-8946-45E9-9294-C75C95211C7F}"/>
    <dgm:cxn modelId="{456F7345-FB0F-4ECE-9119-C7951CD4D5C5}" type="presOf" srcId="{3B364F7A-3F5F-4189-9A96-75EB64B60667}" destId="{FA6BF6DF-C507-4589-93CF-5BE55AFC3B93}" srcOrd="0" destOrd="0" presId="urn:microsoft.com/office/officeart/2005/8/layout/hierarchy1"/>
    <dgm:cxn modelId="{4549094D-3959-4D81-BFA0-B9E61C9B8D4A}" type="presOf" srcId="{E59C2497-B0F9-46CE-A3A0-77C3FF4023D8}" destId="{A5A783F1-D9A2-4CFB-B9B2-CC1E83CF43B6}" srcOrd="0" destOrd="0" presId="urn:microsoft.com/office/officeart/2005/8/layout/hierarchy1"/>
    <dgm:cxn modelId="{C1556C7F-75FA-4987-A932-0AD4EA2BEF94}" type="presOf" srcId="{91A98D53-A1C5-44A2-BBEE-AD3C68D4002E}" destId="{9935BFA0-61D5-4945-99CF-257F8E103FE8}" srcOrd="0" destOrd="0" presId="urn:microsoft.com/office/officeart/2005/8/layout/hierarchy1"/>
    <dgm:cxn modelId="{AB6057E6-90C6-4D92-9FE8-103CDE64CE2B}" srcId="{3B364F7A-3F5F-4189-9A96-75EB64B60667}" destId="{E8F8AC60-CECE-449D-A0D6-5423CD568902}" srcOrd="1" destOrd="0" parTransId="{5F17F612-CEC0-4826-8CE1-70D4A9039D0E}" sibTransId="{284CEEFB-CACE-4901-A54C-ED90E42551AE}"/>
    <dgm:cxn modelId="{6D832CF0-4441-4EA2-8B97-B08B970EC101}" type="presOf" srcId="{E8F8AC60-CECE-449D-A0D6-5423CD568902}" destId="{F128206B-C35D-4798-A094-45EFE421237A}" srcOrd="0" destOrd="0" presId="urn:microsoft.com/office/officeart/2005/8/layout/hierarchy1"/>
    <dgm:cxn modelId="{DBFC9BF9-9B79-4692-8C23-448234DA9B20}" type="presParOf" srcId="{FA6BF6DF-C507-4589-93CF-5BE55AFC3B93}" destId="{D3256494-FEC4-4D4A-9122-771B906D2353}" srcOrd="0" destOrd="0" presId="urn:microsoft.com/office/officeart/2005/8/layout/hierarchy1"/>
    <dgm:cxn modelId="{6DF30273-3570-437F-9D92-344CCF5586DA}" type="presParOf" srcId="{D3256494-FEC4-4D4A-9122-771B906D2353}" destId="{8CB3D34B-B858-45AD-94AD-35E0679A5662}" srcOrd="0" destOrd="0" presId="urn:microsoft.com/office/officeart/2005/8/layout/hierarchy1"/>
    <dgm:cxn modelId="{1F3A92A0-DC25-458A-8D8E-DC0CF7938A4D}" type="presParOf" srcId="{8CB3D34B-B858-45AD-94AD-35E0679A5662}" destId="{F00C6010-482B-4C26-BD33-595037C5577E}" srcOrd="0" destOrd="0" presId="urn:microsoft.com/office/officeart/2005/8/layout/hierarchy1"/>
    <dgm:cxn modelId="{B3369883-95CF-4D88-AE90-DE7B76A41BF7}" type="presParOf" srcId="{8CB3D34B-B858-45AD-94AD-35E0679A5662}" destId="{9935BFA0-61D5-4945-99CF-257F8E103FE8}" srcOrd="1" destOrd="0" presId="urn:microsoft.com/office/officeart/2005/8/layout/hierarchy1"/>
    <dgm:cxn modelId="{A34FB928-6082-422F-948E-FDBA593D2055}" type="presParOf" srcId="{D3256494-FEC4-4D4A-9122-771B906D2353}" destId="{B1B4AC84-D701-4ABB-A424-0FE23637E4A8}" srcOrd="1" destOrd="0" presId="urn:microsoft.com/office/officeart/2005/8/layout/hierarchy1"/>
    <dgm:cxn modelId="{48EB04F3-E577-42AF-A781-E148F80CABBF}" type="presParOf" srcId="{FA6BF6DF-C507-4589-93CF-5BE55AFC3B93}" destId="{6A95775C-7DA1-48DB-A38A-0BC283055F17}" srcOrd="1" destOrd="0" presId="urn:microsoft.com/office/officeart/2005/8/layout/hierarchy1"/>
    <dgm:cxn modelId="{B41D9D19-4605-4609-9C8A-D1FAF145C801}" type="presParOf" srcId="{6A95775C-7DA1-48DB-A38A-0BC283055F17}" destId="{F4AF186B-BE08-458B-9DE5-3CAC25C1468B}" srcOrd="0" destOrd="0" presId="urn:microsoft.com/office/officeart/2005/8/layout/hierarchy1"/>
    <dgm:cxn modelId="{4F89C9E9-9C73-4287-B2DE-E61631293174}" type="presParOf" srcId="{F4AF186B-BE08-458B-9DE5-3CAC25C1468B}" destId="{C34152DD-677C-4592-86AB-C3A795004374}" srcOrd="0" destOrd="0" presId="urn:microsoft.com/office/officeart/2005/8/layout/hierarchy1"/>
    <dgm:cxn modelId="{0B2E15AE-A356-4F60-A8CB-7D1EBD157BE7}" type="presParOf" srcId="{F4AF186B-BE08-458B-9DE5-3CAC25C1468B}" destId="{F128206B-C35D-4798-A094-45EFE421237A}" srcOrd="1" destOrd="0" presId="urn:microsoft.com/office/officeart/2005/8/layout/hierarchy1"/>
    <dgm:cxn modelId="{132A226C-9ACD-40AD-B121-B2B1C2E5C234}" type="presParOf" srcId="{6A95775C-7DA1-48DB-A38A-0BC283055F17}" destId="{8ADEB76A-FED3-4FDC-9956-6895DD092E74}" srcOrd="1" destOrd="0" presId="urn:microsoft.com/office/officeart/2005/8/layout/hierarchy1"/>
    <dgm:cxn modelId="{76AB0388-C5F9-4B57-AC9E-86B2D177B84D}" type="presParOf" srcId="{FA6BF6DF-C507-4589-93CF-5BE55AFC3B93}" destId="{6847FB5A-AFB4-4377-A506-D7003FC1A9F9}" srcOrd="2" destOrd="0" presId="urn:microsoft.com/office/officeart/2005/8/layout/hierarchy1"/>
    <dgm:cxn modelId="{93E12AB0-BF3E-4705-95F3-190F259D69B9}" type="presParOf" srcId="{6847FB5A-AFB4-4377-A506-D7003FC1A9F9}" destId="{3AF2BEF7-D977-4E1D-9489-44EE847C85D0}" srcOrd="0" destOrd="0" presId="urn:microsoft.com/office/officeart/2005/8/layout/hierarchy1"/>
    <dgm:cxn modelId="{69F2F574-AAA5-44B6-9CF4-448A60D01F14}" type="presParOf" srcId="{3AF2BEF7-D977-4E1D-9489-44EE847C85D0}" destId="{6D8A736A-1431-4628-B8F1-0729D420EE9E}" srcOrd="0" destOrd="0" presId="urn:microsoft.com/office/officeart/2005/8/layout/hierarchy1"/>
    <dgm:cxn modelId="{4B063640-1227-4462-B556-0E507D088058}" type="presParOf" srcId="{3AF2BEF7-D977-4E1D-9489-44EE847C85D0}" destId="{A5A783F1-D9A2-4CFB-B9B2-CC1E83CF43B6}" srcOrd="1" destOrd="0" presId="urn:microsoft.com/office/officeart/2005/8/layout/hierarchy1"/>
    <dgm:cxn modelId="{D38FA0C5-B203-4A4F-94C2-730BCF8BCFEB}" type="presParOf" srcId="{6847FB5A-AFB4-4377-A506-D7003FC1A9F9}" destId="{5360BAD9-6BB4-401E-B69D-DD89BAB7519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8F2649-FD1A-41A4-80C5-26720579531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7D2E27F-09BC-4F0F-9907-216CBAB4F283}">
      <dgm:prSet/>
      <dgm:spPr/>
      <dgm:t>
        <a:bodyPr/>
        <a:lstStyle/>
        <a:p>
          <a:r>
            <a:rPr lang="en-US" dirty="0"/>
            <a:t>Pros</a:t>
          </a:r>
        </a:p>
      </dgm:t>
    </dgm:pt>
    <dgm:pt modelId="{58F7A028-F816-4D99-B75B-A468F055E2C0}" type="parTrans" cxnId="{CCFDFC63-0D37-4805-A96F-C8ABE3B34931}">
      <dgm:prSet/>
      <dgm:spPr/>
      <dgm:t>
        <a:bodyPr/>
        <a:lstStyle/>
        <a:p>
          <a:endParaRPr lang="en-US"/>
        </a:p>
      </dgm:t>
    </dgm:pt>
    <dgm:pt modelId="{CFB67696-5ADF-488B-AB76-8C916481EAC9}" type="sibTrans" cxnId="{CCFDFC63-0D37-4805-A96F-C8ABE3B34931}">
      <dgm:prSet/>
      <dgm:spPr/>
      <dgm:t>
        <a:bodyPr/>
        <a:lstStyle/>
        <a:p>
          <a:endParaRPr lang="en-US"/>
        </a:p>
      </dgm:t>
    </dgm:pt>
    <dgm:pt modelId="{17CCC948-CDFE-4260-AB37-1DFE58399BA0}">
      <dgm:prSet/>
      <dgm:spPr/>
      <dgm:t>
        <a:bodyPr/>
        <a:lstStyle/>
        <a:p>
          <a:r>
            <a:rPr lang="en-US" dirty="0"/>
            <a:t>Does not rely on covariate information, thereby relaxing the </a:t>
          </a:r>
          <a:r>
            <a:rPr lang="en-US" i="1" dirty="0"/>
            <a:t>no unmeasured confounding</a:t>
          </a:r>
          <a:r>
            <a:rPr lang="en-US" dirty="0"/>
            <a:t> assumption.</a:t>
          </a:r>
        </a:p>
      </dgm:t>
    </dgm:pt>
    <dgm:pt modelId="{83CB8990-43B6-4A21-959F-63809636615D}" type="parTrans" cxnId="{9B90C1EA-D448-4170-A6F6-0B3D53C73F52}">
      <dgm:prSet/>
      <dgm:spPr/>
      <dgm:t>
        <a:bodyPr/>
        <a:lstStyle/>
        <a:p>
          <a:endParaRPr lang="en-US"/>
        </a:p>
      </dgm:t>
    </dgm:pt>
    <dgm:pt modelId="{5EB4EE67-A332-4004-90F3-D0B4215383B8}" type="sibTrans" cxnId="{9B90C1EA-D448-4170-A6F6-0B3D53C73F52}">
      <dgm:prSet/>
      <dgm:spPr/>
      <dgm:t>
        <a:bodyPr/>
        <a:lstStyle/>
        <a:p>
          <a:endParaRPr lang="en-US"/>
        </a:p>
      </dgm:t>
    </dgm:pt>
    <dgm:pt modelId="{6F27F133-2565-4633-B284-B09A014ADDD8}">
      <dgm:prSet/>
      <dgm:spPr/>
      <dgm:t>
        <a:bodyPr/>
        <a:lstStyle/>
        <a:p>
          <a:r>
            <a:rPr lang="en-US" dirty="0"/>
            <a:t>Cons</a:t>
          </a:r>
        </a:p>
      </dgm:t>
    </dgm:pt>
    <dgm:pt modelId="{C8E515E9-891F-4741-9D59-E1E78679FAAD}" type="parTrans" cxnId="{71A4569B-09EB-448E-B3DA-4E07A9AE4DAA}">
      <dgm:prSet/>
      <dgm:spPr/>
      <dgm:t>
        <a:bodyPr/>
        <a:lstStyle/>
        <a:p>
          <a:endParaRPr lang="en-US"/>
        </a:p>
      </dgm:t>
    </dgm:pt>
    <dgm:pt modelId="{650E813A-1536-4FFB-90AC-A0AB96452D44}" type="sibTrans" cxnId="{71A4569B-09EB-448E-B3DA-4E07A9AE4DAA}">
      <dgm:prSet/>
      <dgm:spPr/>
      <dgm:t>
        <a:bodyPr/>
        <a:lstStyle/>
        <a:p>
          <a:endParaRPr lang="en-US"/>
        </a:p>
      </dgm:t>
    </dgm:pt>
    <dgm:pt modelId="{C668C6CD-2538-4F5E-856B-FDFE08F502E5}">
      <dgm:prSet/>
      <dgm:spPr/>
      <dgm:t>
        <a:bodyPr/>
        <a:lstStyle/>
        <a:p>
          <a:r>
            <a:rPr lang="en-US" dirty="0"/>
            <a:t>This method is only suitable for one-way switching.</a:t>
          </a:r>
        </a:p>
      </dgm:t>
    </dgm:pt>
    <dgm:pt modelId="{A44730E4-8F78-4842-93F5-E35A68F48CCF}" type="parTrans" cxnId="{CE7BD303-DE20-4600-A63C-B58630E2C50B}">
      <dgm:prSet/>
      <dgm:spPr/>
      <dgm:t>
        <a:bodyPr/>
        <a:lstStyle/>
        <a:p>
          <a:endParaRPr lang="en-US"/>
        </a:p>
      </dgm:t>
    </dgm:pt>
    <dgm:pt modelId="{FBED14B7-73A1-4FC6-BAD0-DE7BD0924AA3}" type="sibTrans" cxnId="{CE7BD303-DE20-4600-A63C-B58630E2C50B}">
      <dgm:prSet/>
      <dgm:spPr/>
      <dgm:t>
        <a:bodyPr/>
        <a:lstStyle/>
        <a:p>
          <a:endParaRPr lang="en-US"/>
        </a:p>
      </dgm:t>
    </dgm:pt>
    <dgm:pt modelId="{233F4D73-D11F-441A-9F56-0C790F74CAB9}">
      <dgm:prSet/>
      <dgm:spPr/>
      <dgm:t>
        <a:bodyPr/>
        <a:lstStyle/>
        <a:p>
          <a:r>
            <a:rPr lang="en-US" dirty="0"/>
            <a:t>Remains applicable even with very high levels of treatment switching, including settings where all patients in an arm switch (a scenario where MSM and IPCW may fail).</a:t>
          </a:r>
        </a:p>
      </dgm:t>
    </dgm:pt>
    <dgm:pt modelId="{11AF06B4-8524-4EE6-8641-31FF82B5A3C8}" type="parTrans" cxnId="{FA148658-84DC-4D1F-8FBC-21259D454BA2}">
      <dgm:prSet/>
      <dgm:spPr/>
      <dgm:t>
        <a:bodyPr/>
        <a:lstStyle/>
        <a:p>
          <a:endParaRPr lang="en-US"/>
        </a:p>
      </dgm:t>
    </dgm:pt>
    <dgm:pt modelId="{D2D8D255-F097-4357-A431-0552F6E98EBE}" type="sibTrans" cxnId="{FA148658-84DC-4D1F-8FBC-21259D454BA2}">
      <dgm:prSet/>
      <dgm:spPr/>
      <dgm:t>
        <a:bodyPr/>
        <a:lstStyle/>
        <a:p>
          <a:endParaRPr lang="en-US"/>
        </a:p>
      </dgm:t>
    </dgm:pt>
    <dgm:pt modelId="{263E00D1-8E08-4622-BDD5-8CCF4A9D776B}">
      <dgm:prSet/>
      <dgm:spPr/>
      <dgm:t>
        <a:bodyPr/>
        <a:lstStyle/>
        <a:p>
          <a:r>
            <a:rPr lang="en-US"/>
            <a:t>Increased SE by re-censoring and re-sampling (bootstrap and permutation) on the whole RPSFTM process in computing 95% CI and p-value</a:t>
          </a:r>
          <a:endParaRPr lang="en-US" dirty="0"/>
        </a:p>
      </dgm:t>
    </dgm:pt>
    <dgm:pt modelId="{4BA3B97B-210E-4A1F-A4A7-68B6DC03DC7B}" type="parTrans" cxnId="{3621278F-9EF7-4B98-8FDE-4BC841E0E1F1}">
      <dgm:prSet/>
      <dgm:spPr/>
      <dgm:t>
        <a:bodyPr/>
        <a:lstStyle/>
        <a:p>
          <a:endParaRPr lang="en-US"/>
        </a:p>
      </dgm:t>
    </dgm:pt>
    <dgm:pt modelId="{3035B79E-AB31-428C-B5DB-24E17738DFA8}" type="sibTrans" cxnId="{3621278F-9EF7-4B98-8FDE-4BC841E0E1F1}">
      <dgm:prSet/>
      <dgm:spPr/>
      <dgm:t>
        <a:bodyPr/>
        <a:lstStyle/>
        <a:p>
          <a:endParaRPr lang="en-US"/>
        </a:p>
      </dgm:t>
    </dgm:pt>
    <dgm:pt modelId="{D0D3BC30-C4BB-4F92-87BD-94F49920491D}">
      <dgm:prSet/>
      <dgm:spPr/>
      <dgm:t>
        <a:bodyPr/>
        <a:lstStyle/>
        <a:p>
          <a:r>
            <a:rPr lang="en-US" dirty="0"/>
            <a:t>Computation resources intensive due to re-sampling on the whole process</a:t>
          </a:r>
        </a:p>
      </dgm:t>
    </dgm:pt>
    <dgm:pt modelId="{581769BD-2D30-4F68-8ECA-68FE02A25E7D}" type="parTrans" cxnId="{B825A46B-4186-4D12-89EF-330841372906}">
      <dgm:prSet/>
      <dgm:spPr/>
      <dgm:t>
        <a:bodyPr/>
        <a:lstStyle/>
        <a:p>
          <a:endParaRPr lang="en-US"/>
        </a:p>
      </dgm:t>
    </dgm:pt>
    <dgm:pt modelId="{078E54F0-59E4-4DEF-9A21-DDF0D83234F8}" type="sibTrans" cxnId="{B825A46B-4186-4D12-89EF-330841372906}">
      <dgm:prSet/>
      <dgm:spPr/>
      <dgm:t>
        <a:bodyPr/>
        <a:lstStyle/>
        <a:p>
          <a:endParaRPr lang="en-US"/>
        </a:p>
      </dgm:t>
    </dgm:pt>
    <mc:AlternateContent xmlns:mc="http://schemas.openxmlformats.org/markup-compatibility/2006" xmlns:a14="http://schemas.microsoft.com/office/drawing/2010/main">
      <mc:Choice Requires="a14">
        <dgm:pt modelId="{9D0C07B1-2381-4895-89C9-E1ED3CC2AD33}">
          <dgm:prSet/>
          <dgm:spPr/>
          <dgm:t>
            <a:bodyPr/>
            <a:lstStyle/>
            <a:p>
              <a:r>
                <a:rPr lang="en-US" dirty="0"/>
                <a:t>G-estimation grid search may end up with multiple roots for</a:t>
              </a:r>
              <a14:m>
                <m:oMath xmlns:m="http://schemas.openxmlformats.org/officeDocument/2006/math">
                  <m:r>
                    <a:rPr lang="en-US" b="0" i="0"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𝜓</m:t>
                      </m:r>
                    </m:e>
                  </m:acc>
                </m:oMath>
              </a14:m>
              <a:endParaRPr lang="en-US" dirty="0"/>
            </a:p>
          </dgm:t>
        </dgm:pt>
      </mc:Choice>
      <mc:Fallback xmlns="">
        <dgm:pt modelId="{9D0C07B1-2381-4895-89C9-E1ED3CC2AD33}">
          <dgm:prSet/>
          <dgm:spPr/>
          <dgm:t>
            <a:bodyPr/>
            <a:lstStyle/>
            <a:p>
              <a:r>
                <a:rPr lang="en-US" dirty="0"/>
                <a:t>G-estimation grid search may end up with multiple roots for</a:t>
              </a:r>
              <a:r>
                <a:rPr lang="en-US" b="0" i="0">
                  <a:latin typeface="Cambria Math" panose="02040503050406030204" pitchFamily="18" charset="0"/>
                </a:rPr>
                <a:t> 𝜓 ̂</a:t>
              </a:r>
              <a:endParaRPr lang="en-US" dirty="0"/>
            </a:p>
          </dgm:t>
        </dgm:pt>
      </mc:Fallback>
    </mc:AlternateContent>
    <dgm:pt modelId="{CC16ECFB-4F3F-448B-844B-D9713B8764F3}" type="parTrans" cxnId="{D14DF2DD-DCD2-4D8A-8D06-5D0825EDB910}">
      <dgm:prSet/>
      <dgm:spPr/>
      <dgm:t>
        <a:bodyPr/>
        <a:lstStyle/>
        <a:p>
          <a:endParaRPr lang="en-US"/>
        </a:p>
      </dgm:t>
    </dgm:pt>
    <dgm:pt modelId="{0EE4A4DF-AB07-48BD-A45F-08B619D2E19D}" type="sibTrans" cxnId="{D14DF2DD-DCD2-4D8A-8D06-5D0825EDB910}">
      <dgm:prSet/>
      <dgm:spPr/>
      <dgm:t>
        <a:bodyPr/>
        <a:lstStyle/>
        <a:p>
          <a:endParaRPr lang="en-US"/>
        </a:p>
      </dgm:t>
    </dgm:pt>
    <dgm:pt modelId="{EBD067D6-2988-4A62-AAA1-4112292A23FC}">
      <dgm:prSet/>
      <dgm:spPr/>
      <dgm:t>
        <a:bodyPr/>
        <a:lstStyle/>
        <a:p>
          <a:r>
            <a:rPr lang="en-US" b="1" dirty="0"/>
            <a:t>“Common treatment effect” </a:t>
          </a:r>
          <a:r>
            <a:rPr lang="en-US" dirty="0"/>
            <a:t>assumption is a strong assumption, which may be not true for some oncology trials.</a:t>
          </a:r>
        </a:p>
      </dgm:t>
    </dgm:pt>
    <dgm:pt modelId="{58343E2D-8910-4947-B71B-580C3322C13B}" type="parTrans" cxnId="{A9E1ADC6-670B-41A7-941E-4444E7578081}">
      <dgm:prSet/>
      <dgm:spPr/>
    </dgm:pt>
    <dgm:pt modelId="{E660F05E-1333-4E31-93C4-0F655BC6447D}" type="sibTrans" cxnId="{A9E1ADC6-670B-41A7-941E-4444E7578081}">
      <dgm:prSet/>
      <dgm:spPr/>
    </dgm:pt>
    <dgm:pt modelId="{137579F7-C675-40FF-B810-5C75884353FC}" type="pres">
      <dgm:prSet presAssocID="{D98F2649-FD1A-41A4-80C5-267205795317}" presName="linear" presStyleCnt="0">
        <dgm:presLayoutVars>
          <dgm:dir/>
          <dgm:animLvl val="lvl"/>
          <dgm:resizeHandles val="exact"/>
        </dgm:presLayoutVars>
      </dgm:prSet>
      <dgm:spPr/>
    </dgm:pt>
    <dgm:pt modelId="{45A5A8C3-5F42-422D-984F-62D972E9B8E7}" type="pres">
      <dgm:prSet presAssocID="{47D2E27F-09BC-4F0F-9907-216CBAB4F283}" presName="parentLin" presStyleCnt="0"/>
      <dgm:spPr/>
    </dgm:pt>
    <dgm:pt modelId="{09A09F37-18B8-484B-B84C-758F389A9A80}" type="pres">
      <dgm:prSet presAssocID="{47D2E27F-09BC-4F0F-9907-216CBAB4F283}" presName="parentLeftMargin" presStyleLbl="node1" presStyleIdx="0" presStyleCnt="2"/>
      <dgm:spPr/>
    </dgm:pt>
    <dgm:pt modelId="{C5B13E29-1F10-4368-8F31-45625286BB24}" type="pres">
      <dgm:prSet presAssocID="{47D2E27F-09BC-4F0F-9907-216CBAB4F283}" presName="parentText" presStyleLbl="node1" presStyleIdx="0" presStyleCnt="2">
        <dgm:presLayoutVars>
          <dgm:chMax val="0"/>
          <dgm:bulletEnabled val="1"/>
        </dgm:presLayoutVars>
      </dgm:prSet>
      <dgm:spPr/>
    </dgm:pt>
    <dgm:pt modelId="{893469B5-F942-43B1-BB33-3598357F7C8F}" type="pres">
      <dgm:prSet presAssocID="{47D2E27F-09BC-4F0F-9907-216CBAB4F283}" presName="negativeSpace" presStyleCnt="0"/>
      <dgm:spPr/>
    </dgm:pt>
    <dgm:pt modelId="{7673A4E8-BB66-45B4-BC05-365B95CAC5AE}" type="pres">
      <dgm:prSet presAssocID="{47D2E27F-09BC-4F0F-9907-216CBAB4F283}" presName="childText" presStyleLbl="conFgAcc1" presStyleIdx="0" presStyleCnt="2">
        <dgm:presLayoutVars>
          <dgm:bulletEnabled val="1"/>
        </dgm:presLayoutVars>
      </dgm:prSet>
      <dgm:spPr/>
    </dgm:pt>
    <dgm:pt modelId="{D3DB3A51-1099-4E66-8ADE-EAA5BBA3CD08}" type="pres">
      <dgm:prSet presAssocID="{CFB67696-5ADF-488B-AB76-8C916481EAC9}" presName="spaceBetweenRectangles" presStyleCnt="0"/>
      <dgm:spPr/>
    </dgm:pt>
    <dgm:pt modelId="{D49C4FF3-E74F-4F84-BAE0-11287514AA7A}" type="pres">
      <dgm:prSet presAssocID="{6F27F133-2565-4633-B284-B09A014ADDD8}" presName="parentLin" presStyleCnt="0"/>
      <dgm:spPr/>
    </dgm:pt>
    <dgm:pt modelId="{ACC3FCEF-F4C0-44AC-B6A3-C2FC08C6A02D}" type="pres">
      <dgm:prSet presAssocID="{6F27F133-2565-4633-B284-B09A014ADDD8}" presName="parentLeftMargin" presStyleLbl="node1" presStyleIdx="0" presStyleCnt="2"/>
      <dgm:spPr/>
    </dgm:pt>
    <dgm:pt modelId="{D9333225-DA27-4F9E-951A-07081106DB78}" type="pres">
      <dgm:prSet presAssocID="{6F27F133-2565-4633-B284-B09A014ADDD8}" presName="parentText" presStyleLbl="node1" presStyleIdx="1" presStyleCnt="2">
        <dgm:presLayoutVars>
          <dgm:chMax val="0"/>
          <dgm:bulletEnabled val="1"/>
        </dgm:presLayoutVars>
      </dgm:prSet>
      <dgm:spPr/>
    </dgm:pt>
    <dgm:pt modelId="{41541705-2954-4085-8F29-8D74BB116D20}" type="pres">
      <dgm:prSet presAssocID="{6F27F133-2565-4633-B284-B09A014ADDD8}" presName="negativeSpace" presStyleCnt="0"/>
      <dgm:spPr/>
    </dgm:pt>
    <dgm:pt modelId="{98A5A978-CA9A-49C9-A56E-B8C70D2EDEF9}" type="pres">
      <dgm:prSet presAssocID="{6F27F133-2565-4633-B284-B09A014ADDD8}" presName="childText" presStyleLbl="conFgAcc1" presStyleIdx="1" presStyleCnt="2">
        <dgm:presLayoutVars>
          <dgm:bulletEnabled val="1"/>
        </dgm:presLayoutVars>
      </dgm:prSet>
      <dgm:spPr/>
    </dgm:pt>
  </dgm:ptLst>
  <dgm:cxnLst>
    <dgm:cxn modelId="{CE7BD303-DE20-4600-A63C-B58630E2C50B}" srcId="{6F27F133-2565-4633-B284-B09A014ADDD8}" destId="{C668C6CD-2538-4F5E-856B-FDFE08F502E5}" srcOrd="0" destOrd="0" parTransId="{A44730E4-8F78-4842-93F5-E35A68F48CCF}" sibTransId="{FBED14B7-73A1-4FC6-BAD0-DE7BD0924AA3}"/>
    <dgm:cxn modelId="{19825E06-54C5-49CC-91F4-995D83FC70DD}" type="presOf" srcId="{D0D3BC30-C4BB-4F92-87BD-94F49920491D}" destId="{98A5A978-CA9A-49C9-A56E-B8C70D2EDEF9}" srcOrd="0" destOrd="2" presId="urn:microsoft.com/office/officeart/2005/8/layout/list1"/>
    <dgm:cxn modelId="{B4365736-4D49-429D-B8A3-7049F8EE1771}" type="presOf" srcId="{47D2E27F-09BC-4F0F-9907-216CBAB4F283}" destId="{09A09F37-18B8-484B-B84C-758F389A9A80}" srcOrd="0" destOrd="0" presId="urn:microsoft.com/office/officeart/2005/8/layout/list1"/>
    <dgm:cxn modelId="{CCFDFC63-0D37-4805-A96F-C8ABE3B34931}" srcId="{D98F2649-FD1A-41A4-80C5-267205795317}" destId="{47D2E27F-09BC-4F0F-9907-216CBAB4F283}" srcOrd="0" destOrd="0" parTransId="{58F7A028-F816-4D99-B75B-A468F055E2C0}" sibTransId="{CFB67696-5ADF-488B-AB76-8C916481EAC9}"/>
    <dgm:cxn modelId="{7440B548-27D7-4748-9F51-F0B272D12846}" type="presOf" srcId="{233F4D73-D11F-441A-9F56-0C790F74CAB9}" destId="{7673A4E8-BB66-45B4-BC05-365B95CAC5AE}" srcOrd="0" destOrd="1" presId="urn:microsoft.com/office/officeart/2005/8/layout/list1"/>
    <dgm:cxn modelId="{3671134A-DF9C-4777-A28D-0F52758DA72B}" type="presOf" srcId="{6F27F133-2565-4633-B284-B09A014ADDD8}" destId="{ACC3FCEF-F4C0-44AC-B6A3-C2FC08C6A02D}" srcOrd="0" destOrd="0" presId="urn:microsoft.com/office/officeart/2005/8/layout/list1"/>
    <dgm:cxn modelId="{B825A46B-4186-4D12-89EF-330841372906}" srcId="{6F27F133-2565-4633-B284-B09A014ADDD8}" destId="{D0D3BC30-C4BB-4F92-87BD-94F49920491D}" srcOrd="2" destOrd="0" parTransId="{581769BD-2D30-4F68-8ECA-68FE02A25E7D}" sibTransId="{078E54F0-59E4-4DEF-9A21-DDF0D83234F8}"/>
    <dgm:cxn modelId="{4925F752-A9EB-473B-82D6-984A77AF0892}" type="presOf" srcId="{6F27F133-2565-4633-B284-B09A014ADDD8}" destId="{D9333225-DA27-4F9E-951A-07081106DB78}" srcOrd="1" destOrd="0" presId="urn:microsoft.com/office/officeart/2005/8/layout/list1"/>
    <dgm:cxn modelId="{FA148658-84DC-4D1F-8FBC-21259D454BA2}" srcId="{47D2E27F-09BC-4F0F-9907-216CBAB4F283}" destId="{233F4D73-D11F-441A-9F56-0C790F74CAB9}" srcOrd="1" destOrd="0" parTransId="{11AF06B4-8524-4EE6-8641-31FF82B5A3C8}" sibTransId="{D2D8D255-F097-4357-A431-0552F6E98EBE}"/>
    <dgm:cxn modelId="{6B3B5B8E-1B56-4635-AA96-0E767A0091C4}" type="presOf" srcId="{EBD067D6-2988-4A62-AAA1-4112292A23FC}" destId="{98A5A978-CA9A-49C9-A56E-B8C70D2EDEF9}" srcOrd="0" destOrd="4" presId="urn:microsoft.com/office/officeart/2005/8/layout/list1"/>
    <dgm:cxn modelId="{3621278F-9EF7-4B98-8FDE-4BC841E0E1F1}" srcId="{6F27F133-2565-4633-B284-B09A014ADDD8}" destId="{263E00D1-8E08-4622-BDD5-8CCF4A9D776B}" srcOrd="1" destOrd="0" parTransId="{4BA3B97B-210E-4A1F-A4A7-68B6DC03DC7B}" sibTransId="{3035B79E-AB31-428C-B5DB-24E17738DFA8}"/>
    <dgm:cxn modelId="{71A4569B-09EB-448E-B3DA-4E07A9AE4DAA}" srcId="{D98F2649-FD1A-41A4-80C5-267205795317}" destId="{6F27F133-2565-4633-B284-B09A014ADDD8}" srcOrd="1" destOrd="0" parTransId="{C8E515E9-891F-4741-9D59-E1E78679FAAD}" sibTransId="{650E813A-1536-4FFB-90AC-A0AB96452D44}"/>
    <dgm:cxn modelId="{7337CF9E-A05C-4BAB-B804-DFA26E7BD0E9}" type="presOf" srcId="{47D2E27F-09BC-4F0F-9907-216CBAB4F283}" destId="{C5B13E29-1F10-4368-8F31-45625286BB24}" srcOrd="1" destOrd="0" presId="urn:microsoft.com/office/officeart/2005/8/layout/list1"/>
    <dgm:cxn modelId="{628492A6-4369-4AFF-80A0-9AFAAF1AEC19}" type="presOf" srcId="{9D0C07B1-2381-4895-89C9-E1ED3CC2AD33}" destId="{98A5A978-CA9A-49C9-A56E-B8C70D2EDEF9}" srcOrd="0" destOrd="3" presId="urn:microsoft.com/office/officeart/2005/8/layout/list1"/>
    <dgm:cxn modelId="{A8ED9DA8-0EEB-4192-B48E-4AD80F5209A0}" type="presOf" srcId="{263E00D1-8E08-4622-BDD5-8CCF4A9D776B}" destId="{98A5A978-CA9A-49C9-A56E-B8C70D2EDEF9}" srcOrd="0" destOrd="1" presId="urn:microsoft.com/office/officeart/2005/8/layout/list1"/>
    <dgm:cxn modelId="{DECD2AAF-D80D-4437-BA1A-D1CB75F7A167}" type="presOf" srcId="{D98F2649-FD1A-41A4-80C5-267205795317}" destId="{137579F7-C675-40FF-B810-5C75884353FC}" srcOrd="0" destOrd="0" presId="urn:microsoft.com/office/officeart/2005/8/layout/list1"/>
    <dgm:cxn modelId="{48F88CBD-FC80-4CE1-A001-BE7F75BAD110}" type="presOf" srcId="{C668C6CD-2538-4F5E-856B-FDFE08F502E5}" destId="{98A5A978-CA9A-49C9-A56E-B8C70D2EDEF9}" srcOrd="0" destOrd="0" presId="urn:microsoft.com/office/officeart/2005/8/layout/list1"/>
    <dgm:cxn modelId="{A9E1ADC6-670B-41A7-941E-4444E7578081}" srcId="{6F27F133-2565-4633-B284-B09A014ADDD8}" destId="{EBD067D6-2988-4A62-AAA1-4112292A23FC}" srcOrd="4" destOrd="0" parTransId="{58343E2D-8910-4947-B71B-580C3322C13B}" sibTransId="{E660F05E-1333-4E31-93C4-0F655BC6447D}"/>
    <dgm:cxn modelId="{7FC15DD1-D58F-4370-9DCF-F31E70EB459C}" type="presOf" srcId="{17CCC948-CDFE-4260-AB37-1DFE58399BA0}" destId="{7673A4E8-BB66-45B4-BC05-365B95CAC5AE}" srcOrd="0" destOrd="0" presId="urn:microsoft.com/office/officeart/2005/8/layout/list1"/>
    <dgm:cxn modelId="{D14DF2DD-DCD2-4D8A-8D06-5D0825EDB910}" srcId="{6F27F133-2565-4633-B284-B09A014ADDD8}" destId="{9D0C07B1-2381-4895-89C9-E1ED3CC2AD33}" srcOrd="3" destOrd="0" parTransId="{CC16ECFB-4F3F-448B-844B-D9713B8764F3}" sibTransId="{0EE4A4DF-AB07-48BD-A45F-08B619D2E19D}"/>
    <dgm:cxn modelId="{9B90C1EA-D448-4170-A6F6-0B3D53C73F52}" srcId="{47D2E27F-09BC-4F0F-9907-216CBAB4F283}" destId="{17CCC948-CDFE-4260-AB37-1DFE58399BA0}" srcOrd="0" destOrd="0" parTransId="{83CB8990-43B6-4A21-959F-63809636615D}" sibTransId="{5EB4EE67-A332-4004-90F3-D0B4215383B8}"/>
    <dgm:cxn modelId="{FCBAD382-4FEB-485A-A175-79D059FF71E5}" type="presParOf" srcId="{137579F7-C675-40FF-B810-5C75884353FC}" destId="{45A5A8C3-5F42-422D-984F-62D972E9B8E7}" srcOrd="0" destOrd="0" presId="urn:microsoft.com/office/officeart/2005/8/layout/list1"/>
    <dgm:cxn modelId="{4B2B5CCC-3D42-4875-84C0-7E6B8E3D9EF3}" type="presParOf" srcId="{45A5A8C3-5F42-422D-984F-62D972E9B8E7}" destId="{09A09F37-18B8-484B-B84C-758F389A9A80}" srcOrd="0" destOrd="0" presId="urn:microsoft.com/office/officeart/2005/8/layout/list1"/>
    <dgm:cxn modelId="{3111D05B-C781-40FF-9721-DA40A9830388}" type="presParOf" srcId="{45A5A8C3-5F42-422D-984F-62D972E9B8E7}" destId="{C5B13E29-1F10-4368-8F31-45625286BB24}" srcOrd="1" destOrd="0" presId="urn:microsoft.com/office/officeart/2005/8/layout/list1"/>
    <dgm:cxn modelId="{51AE2E0F-4B79-4A80-A8DE-3B2797A3FDFD}" type="presParOf" srcId="{137579F7-C675-40FF-B810-5C75884353FC}" destId="{893469B5-F942-43B1-BB33-3598357F7C8F}" srcOrd="1" destOrd="0" presId="urn:microsoft.com/office/officeart/2005/8/layout/list1"/>
    <dgm:cxn modelId="{7AC0A886-914B-45B4-AFCA-C431C5E9A8C2}" type="presParOf" srcId="{137579F7-C675-40FF-B810-5C75884353FC}" destId="{7673A4E8-BB66-45B4-BC05-365B95CAC5AE}" srcOrd="2" destOrd="0" presId="urn:microsoft.com/office/officeart/2005/8/layout/list1"/>
    <dgm:cxn modelId="{F89222F5-941B-46AB-B7B8-7D43533331B6}" type="presParOf" srcId="{137579F7-C675-40FF-B810-5C75884353FC}" destId="{D3DB3A51-1099-4E66-8ADE-EAA5BBA3CD08}" srcOrd="3" destOrd="0" presId="urn:microsoft.com/office/officeart/2005/8/layout/list1"/>
    <dgm:cxn modelId="{6ADBC83C-90CB-4681-A74A-9CFE99D6767A}" type="presParOf" srcId="{137579F7-C675-40FF-B810-5C75884353FC}" destId="{D49C4FF3-E74F-4F84-BAE0-11287514AA7A}" srcOrd="4" destOrd="0" presId="urn:microsoft.com/office/officeart/2005/8/layout/list1"/>
    <dgm:cxn modelId="{16069348-9348-43C7-81E8-F1BBB1920193}" type="presParOf" srcId="{D49C4FF3-E74F-4F84-BAE0-11287514AA7A}" destId="{ACC3FCEF-F4C0-44AC-B6A3-C2FC08C6A02D}" srcOrd="0" destOrd="0" presId="urn:microsoft.com/office/officeart/2005/8/layout/list1"/>
    <dgm:cxn modelId="{29E36646-FB7B-4100-BA8E-EFD7CDBCAC37}" type="presParOf" srcId="{D49C4FF3-E74F-4F84-BAE0-11287514AA7A}" destId="{D9333225-DA27-4F9E-951A-07081106DB78}" srcOrd="1" destOrd="0" presId="urn:microsoft.com/office/officeart/2005/8/layout/list1"/>
    <dgm:cxn modelId="{28B18308-2987-4E13-99C0-A2AD699644F2}" type="presParOf" srcId="{137579F7-C675-40FF-B810-5C75884353FC}" destId="{41541705-2954-4085-8F29-8D74BB116D20}" srcOrd="5" destOrd="0" presId="urn:microsoft.com/office/officeart/2005/8/layout/list1"/>
    <dgm:cxn modelId="{92332895-F964-43FC-A6D2-E019CFC6B9D5}" type="presParOf" srcId="{137579F7-C675-40FF-B810-5C75884353FC}" destId="{98A5A978-CA9A-49C9-A56E-B8C70D2EDEF9}"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98F2649-FD1A-41A4-80C5-26720579531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7D2E27F-09BC-4F0F-9907-216CBAB4F283}">
      <dgm:prSet/>
      <dgm:spPr/>
      <dgm:t>
        <a:bodyPr/>
        <a:lstStyle/>
        <a:p>
          <a:r>
            <a:rPr lang="en-US" dirty="0"/>
            <a:t>Pros</a:t>
          </a:r>
        </a:p>
      </dgm:t>
    </dgm:pt>
    <dgm:pt modelId="{58F7A028-F816-4D99-B75B-A468F055E2C0}" type="parTrans" cxnId="{CCFDFC63-0D37-4805-A96F-C8ABE3B34931}">
      <dgm:prSet/>
      <dgm:spPr/>
      <dgm:t>
        <a:bodyPr/>
        <a:lstStyle/>
        <a:p>
          <a:endParaRPr lang="en-US"/>
        </a:p>
      </dgm:t>
    </dgm:pt>
    <dgm:pt modelId="{CFB67696-5ADF-488B-AB76-8C916481EAC9}" type="sibTrans" cxnId="{CCFDFC63-0D37-4805-A96F-C8ABE3B34931}">
      <dgm:prSet/>
      <dgm:spPr/>
      <dgm:t>
        <a:bodyPr/>
        <a:lstStyle/>
        <a:p>
          <a:endParaRPr lang="en-US"/>
        </a:p>
      </dgm:t>
    </dgm:pt>
    <dgm:pt modelId="{17CCC948-CDFE-4260-AB37-1DFE58399BA0}">
      <dgm:prSet/>
      <dgm:spPr/>
      <dgm:t>
        <a:bodyPr/>
        <a:lstStyle/>
        <a:p>
          <a:r>
            <a:rPr lang="en-US" dirty="0"/>
            <a:t>Does not rely on covariate information, thereby relaxing the </a:t>
          </a:r>
          <a:r>
            <a:rPr lang="en-US" i="1" dirty="0"/>
            <a:t>no unmeasured confounding</a:t>
          </a:r>
          <a:r>
            <a:rPr lang="en-US" dirty="0"/>
            <a:t> assumption.</a:t>
          </a:r>
        </a:p>
      </dgm:t>
    </dgm:pt>
    <dgm:pt modelId="{83CB8990-43B6-4A21-959F-63809636615D}" type="parTrans" cxnId="{9B90C1EA-D448-4170-A6F6-0B3D53C73F52}">
      <dgm:prSet/>
      <dgm:spPr/>
      <dgm:t>
        <a:bodyPr/>
        <a:lstStyle/>
        <a:p>
          <a:endParaRPr lang="en-US"/>
        </a:p>
      </dgm:t>
    </dgm:pt>
    <dgm:pt modelId="{5EB4EE67-A332-4004-90F3-D0B4215383B8}" type="sibTrans" cxnId="{9B90C1EA-D448-4170-A6F6-0B3D53C73F52}">
      <dgm:prSet/>
      <dgm:spPr/>
      <dgm:t>
        <a:bodyPr/>
        <a:lstStyle/>
        <a:p>
          <a:endParaRPr lang="en-US"/>
        </a:p>
      </dgm:t>
    </dgm:pt>
    <dgm:pt modelId="{6F27F133-2565-4633-B284-B09A014ADDD8}">
      <dgm:prSet/>
      <dgm:spPr/>
      <dgm:t>
        <a:bodyPr/>
        <a:lstStyle/>
        <a:p>
          <a:r>
            <a:rPr lang="en-US" dirty="0"/>
            <a:t>Cons</a:t>
          </a:r>
        </a:p>
      </dgm:t>
    </dgm:pt>
    <dgm:pt modelId="{C8E515E9-891F-4741-9D59-E1E78679FAAD}" type="parTrans" cxnId="{71A4569B-09EB-448E-B3DA-4E07A9AE4DAA}">
      <dgm:prSet/>
      <dgm:spPr/>
      <dgm:t>
        <a:bodyPr/>
        <a:lstStyle/>
        <a:p>
          <a:endParaRPr lang="en-US"/>
        </a:p>
      </dgm:t>
    </dgm:pt>
    <dgm:pt modelId="{650E813A-1536-4FFB-90AC-A0AB96452D44}" type="sibTrans" cxnId="{71A4569B-09EB-448E-B3DA-4E07A9AE4DAA}">
      <dgm:prSet/>
      <dgm:spPr/>
      <dgm:t>
        <a:bodyPr/>
        <a:lstStyle/>
        <a:p>
          <a:endParaRPr lang="en-US"/>
        </a:p>
      </dgm:t>
    </dgm:pt>
    <dgm:pt modelId="{C668C6CD-2538-4F5E-856B-FDFE08F502E5}">
      <dgm:prSet/>
      <dgm:spPr>
        <a:blipFill>
          <a:blip xmlns:r="http://schemas.openxmlformats.org/officeDocument/2006/relationships" r:embed="rId1"/>
          <a:stretch>
            <a:fillRect/>
          </a:stretch>
        </a:blipFill>
      </dgm:spPr>
      <dgm:t>
        <a:bodyPr/>
        <a:lstStyle/>
        <a:p>
          <a:r>
            <a:rPr lang="en-US">
              <a:noFill/>
            </a:rPr>
            <a:t> </a:t>
          </a:r>
        </a:p>
      </dgm:t>
    </dgm:pt>
    <dgm:pt modelId="{A44730E4-8F78-4842-93F5-E35A68F48CCF}" type="parTrans" cxnId="{CE7BD303-DE20-4600-A63C-B58630E2C50B}">
      <dgm:prSet/>
      <dgm:spPr/>
      <dgm:t>
        <a:bodyPr/>
        <a:lstStyle/>
        <a:p>
          <a:endParaRPr lang="en-US"/>
        </a:p>
      </dgm:t>
    </dgm:pt>
    <dgm:pt modelId="{FBED14B7-73A1-4FC6-BAD0-DE7BD0924AA3}" type="sibTrans" cxnId="{CE7BD303-DE20-4600-A63C-B58630E2C50B}">
      <dgm:prSet/>
      <dgm:spPr/>
      <dgm:t>
        <a:bodyPr/>
        <a:lstStyle/>
        <a:p>
          <a:endParaRPr lang="en-US"/>
        </a:p>
      </dgm:t>
    </dgm:pt>
    <dgm:pt modelId="{233F4D73-D11F-441A-9F56-0C790F74CAB9}">
      <dgm:prSet/>
      <dgm:spPr/>
      <dgm:t>
        <a:bodyPr/>
        <a:lstStyle/>
        <a:p>
          <a:r>
            <a:rPr lang="en-US" dirty="0"/>
            <a:t>Remains applicable even with very high levels of treatment switching, including settings where all patients in an arm switch (a scenario where MSM and IPCW may fail).</a:t>
          </a:r>
        </a:p>
      </dgm:t>
    </dgm:pt>
    <dgm:pt modelId="{11AF06B4-8524-4EE6-8641-31FF82B5A3C8}" type="parTrans" cxnId="{FA148658-84DC-4D1F-8FBC-21259D454BA2}">
      <dgm:prSet/>
      <dgm:spPr/>
      <dgm:t>
        <a:bodyPr/>
        <a:lstStyle/>
        <a:p>
          <a:endParaRPr lang="en-US"/>
        </a:p>
      </dgm:t>
    </dgm:pt>
    <dgm:pt modelId="{D2D8D255-F097-4357-A431-0552F6E98EBE}" type="sibTrans" cxnId="{FA148658-84DC-4D1F-8FBC-21259D454BA2}">
      <dgm:prSet/>
      <dgm:spPr/>
      <dgm:t>
        <a:bodyPr/>
        <a:lstStyle/>
        <a:p>
          <a:endParaRPr lang="en-US"/>
        </a:p>
      </dgm:t>
    </dgm:pt>
    <dgm:pt modelId="{263E00D1-8E08-4622-BDD5-8CCF4A9D776B}">
      <dgm:prSet/>
      <dgm:spPr/>
      <dgm:t>
        <a:bodyPr/>
        <a:lstStyle/>
        <a:p>
          <a:r>
            <a:rPr lang="en-US">
              <a:noFill/>
            </a:rPr>
            <a:t> </a:t>
          </a:r>
        </a:p>
      </dgm:t>
    </dgm:pt>
    <dgm:pt modelId="{4BA3B97B-210E-4A1F-A4A7-68B6DC03DC7B}" type="parTrans" cxnId="{3621278F-9EF7-4B98-8FDE-4BC841E0E1F1}">
      <dgm:prSet/>
      <dgm:spPr/>
      <dgm:t>
        <a:bodyPr/>
        <a:lstStyle/>
        <a:p>
          <a:endParaRPr lang="en-US"/>
        </a:p>
      </dgm:t>
    </dgm:pt>
    <dgm:pt modelId="{3035B79E-AB31-428C-B5DB-24E17738DFA8}" type="sibTrans" cxnId="{3621278F-9EF7-4B98-8FDE-4BC841E0E1F1}">
      <dgm:prSet/>
      <dgm:spPr/>
      <dgm:t>
        <a:bodyPr/>
        <a:lstStyle/>
        <a:p>
          <a:endParaRPr lang="en-US"/>
        </a:p>
      </dgm:t>
    </dgm:pt>
    <dgm:pt modelId="{D0D3BC30-C4BB-4F92-87BD-94F49920491D}">
      <dgm:prSet/>
      <dgm:spPr/>
      <dgm:t>
        <a:bodyPr/>
        <a:lstStyle/>
        <a:p>
          <a:r>
            <a:rPr lang="en-US">
              <a:noFill/>
            </a:rPr>
            <a:t> </a:t>
          </a:r>
        </a:p>
      </dgm:t>
    </dgm:pt>
    <dgm:pt modelId="{581769BD-2D30-4F68-8ECA-68FE02A25E7D}" type="parTrans" cxnId="{B825A46B-4186-4D12-89EF-330841372906}">
      <dgm:prSet/>
      <dgm:spPr/>
      <dgm:t>
        <a:bodyPr/>
        <a:lstStyle/>
        <a:p>
          <a:endParaRPr lang="en-US"/>
        </a:p>
      </dgm:t>
    </dgm:pt>
    <dgm:pt modelId="{078E54F0-59E4-4DEF-9A21-DDF0D83234F8}" type="sibTrans" cxnId="{B825A46B-4186-4D12-89EF-330841372906}">
      <dgm:prSet/>
      <dgm:spPr/>
      <dgm:t>
        <a:bodyPr/>
        <a:lstStyle/>
        <a:p>
          <a:endParaRPr lang="en-US"/>
        </a:p>
      </dgm:t>
    </dgm:pt>
    <dgm:pt modelId="{9D0C07B1-2381-4895-89C9-E1ED3CC2AD33}">
      <dgm:prSet/>
      <dgm:spPr/>
      <dgm:t>
        <a:bodyPr/>
        <a:lstStyle/>
        <a:p>
          <a:r>
            <a:rPr lang="en-US">
              <a:noFill/>
            </a:rPr>
            <a:t> </a:t>
          </a:r>
        </a:p>
      </dgm:t>
    </dgm:pt>
    <dgm:pt modelId="{CC16ECFB-4F3F-448B-844B-D9713B8764F3}" type="parTrans" cxnId="{D14DF2DD-DCD2-4D8A-8D06-5D0825EDB910}">
      <dgm:prSet/>
      <dgm:spPr/>
      <dgm:t>
        <a:bodyPr/>
        <a:lstStyle/>
        <a:p>
          <a:endParaRPr lang="en-US"/>
        </a:p>
      </dgm:t>
    </dgm:pt>
    <dgm:pt modelId="{0EE4A4DF-AB07-48BD-A45F-08B619D2E19D}" type="sibTrans" cxnId="{D14DF2DD-DCD2-4D8A-8D06-5D0825EDB910}">
      <dgm:prSet/>
      <dgm:spPr/>
      <dgm:t>
        <a:bodyPr/>
        <a:lstStyle/>
        <a:p>
          <a:endParaRPr lang="en-US"/>
        </a:p>
      </dgm:t>
    </dgm:pt>
    <dgm:pt modelId="{EBD067D6-2988-4A62-AAA1-4112292A23FC}">
      <dgm:prSet/>
      <dgm:spPr/>
      <dgm:t>
        <a:bodyPr/>
        <a:lstStyle/>
        <a:p>
          <a:r>
            <a:rPr lang="en-US">
              <a:noFill/>
            </a:rPr>
            <a:t> </a:t>
          </a:r>
        </a:p>
      </dgm:t>
    </dgm:pt>
    <dgm:pt modelId="{58343E2D-8910-4947-B71B-580C3322C13B}" type="parTrans" cxnId="{A9E1ADC6-670B-41A7-941E-4444E7578081}">
      <dgm:prSet/>
      <dgm:spPr/>
    </dgm:pt>
    <dgm:pt modelId="{E660F05E-1333-4E31-93C4-0F655BC6447D}" type="sibTrans" cxnId="{A9E1ADC6-670B-41A7-941E-4444E7578081}">
      <dgm:prSet/>
      <dgm:spPr/>
    </dgm:pt>
    <dgm:pt modelId="{137579F7-C675-40FF-B810-5C75884353FC}" type="pres">
      <dgm:prSet presAssocID="{D98F2649-FD1A-41A4-80C5-267205795317}" presName="linear" presStyleCnt="0">
        <dgm:presLayoutVars>
          <dgm:dir/>
          <dgm:animLvl val="lvl"/>
          <dgm:resizeHandles val="exact"/>
        </dgm:presLayoutVars>
      </dgm:prSet>
      <dgm:spPr/>
    </dgm:pt>
    <dgm:pt modelId="{45A5A8C3-5F42-422D-984F-62D972E9B8E7}" type="pres">
      <dgm:prSet presAssocID="{47D2E27F-09BC-4F0F-9907-216CBAB4F283}" presName="parentLin" presStyleCnt="0"/>
      <dgm:spPr/>
    </dgm:pt>
    <dgm:pt modelId="{09A09F37-18B8-484B-B84C-758F389A9A80}" type="pres">
      <dgm:prSet presAssocID="{47D2E27F-09BC-4F0F-9907-216CBAB4F283}" presName="parentLeftMargin" presStyleLbl="node1" presStyleIdx="0" presStyleCnt="2"/>
      <dgm:spPr/>
    </dgm:pt>
    <dgm:pt modelId="{C5B13E29-1F10-4368-8F31-45625286BB24}" type="pres">
      <dgm:prSet presAssocID="{47D2E27F-09BC-4F0F-9907-216CBAB4F283}" presName="parentText" presStyleLbl="node1" presStyleIdx="0" presStyleCnt="2">
        <dgm:presLayoutVars>
          <dgm:chMax val="0"/>
          <dgm:bulletEnabled val="1"/>
        </dgm:presLayoutVars>
      </dgm:prSet>
      <dgm:spPr/>
    </dgm:pt>
    <dgm:pt modelId="{893469B5-F942-43B1-BB33-3598357F7C8F}" type="pres">
      <dgm:prSet presAssocID="{47D2E27F-09BC-4F0F-9907-216CBAB4F283}" presName="negativeSpace" presStyleCnt="0"/>
      <dgm:spPr/>
    </dgm:pt>
    <dgm:pt modelId="{7673A4E8-BB66-45B4-BC05-365B95CAC5AE}" type="pres">
      <dgm:prSet presAssocID="{47D2E27F-09BC-4F0F-9907-216CBAB4F283}" presName="childText" presStyleLbl="conFgAcc1" presStyleIdx="0" presStyleCnt="2">
        <dgm:presLayoutVars>
          <dgm:bulletEnabled val="1"/>
        </dgm:presLayoutVars>
      </dgm:prSet>
      <dgm:spPr/>
    </dgm:pt>
    <dgm:pt modelId="{D3DB3A51-1099-4E66-8ADE-EAA5BBA3CD08}" type="pres">
      <dgm:prSet presAssocID="{CFB67696-5ADF-488B-AB76-8C916481EAC9}" presName="spaceBetweenRectangles" presStyleCnt="0"/>
      <dgm:spPr/>
    </dgm:pt>
    <dgm:pt modelId="{D49C4FF3-E74F-4F84-BAE0-11287514AA7A}" type="pres">
      <dgm:prSet presAssocID="{6F27F133-2565-4633-B284-B09A014ADDD8}" presName="parentLin" presStyleCnt="0"/>
      <dgm:spPr/>
    </dgm:pt>
    <dgm:pt modelId="{ACC3FCEF-F4C0-44AC-B6A3-C2FC08C6A02D}" type="pres">
      <dgm:prSet presAssocID="{6F27F133-2565-4633-B284-B09A014ADDD8}" presName="parentLeftMargin" presStyleLbl="node1" presStyleIdx="0" presStyleCnt="2"/>
      <dgm:spPr/>
    </dgm:pt>
    <dgm:pt modelId="{D9333225-DA27-4F9E-951A-07081106DB78}" type="pres">
      <dgm:prSet presAssocID="{6F27F133-2565-4633-B284-B09A014ADDD8}" presName="parentText" presStyleLbl="node1" presStyleIdx="1" presStyleCnt="2">
        <dgm:presLayoutVars>
          <dgm:chMax val="0"/>
          <dgm:bulletEnabled val="1"/>
        </dgm:presLayoutVars>
      </dgm:prSet>
      <dgm:spPr/>
    </dgm:pt>
    <dgm:pt modelId="{41541705-2954-4085-8F29-8D74BB116D20}" type="pres">
      <dgm:prSet presAssocID="{6F27F133-2565-4633-B284-B09A014ADDD8}" presName="negativeSpace" presStyleCnt="0"/>
      <dgm:spPr/>
    </dgm:pt>
    <dgm:pt modelId="{98A5A978-CA9A-49C9-A56E-B8C70D2EDEF9}" type="pres">
      <dgm:prSet presAssocID="{6F27F133-2565-4633-B284-B09A014ADDD8}" presName="childText" presStyleLbl="conFgAcc1" presStyleIdx="1" presStyleCnt="2">
        <dgm:presLayoutVars>
          <dgm:bulletEnabled val="1"/>
        </dgm:presLayoutVars>
      </dgm:prSet>
      <dgm:spPr/>
    </dgm:pt>
  </dgm:ptLst>
  <dgm:cxnLst>
    <dgm:cxn modelId="{CE7BD303-DE20-4600-A63C-B58630E2C50B}" srcId="{6F27F133-2565-4633-B284-B09A014ADDD8}" destId="{C668C6CD-2538-4F5E-856B-FDFE08F502E5}" srcOrd="0" destOrd="0" parTransId="{A44730E4-8F78-4842-93F5-E35A68F48CCF}" sibTransId="{FBED14B7-73A1-4FC6-BAD0-DE7BD0924AA3}"/>
    <dgm:cxn modelId="{19825E06-54C5-49CC-91F4-995D83FC70DD}" type="presOf" srcId="{D0D3BC30-C4BB-4F92-87BD-94F49920491D}" destId="{98A5A978-CA9A-49C9-A56E-B8C70D2EDEF9}" srcOrd="0" destOrd="2" presId="urn:microsoft.com/office/officeart/2005/8/layout/list1"/>
    <dgm:cxn modelId="{B4365736-4D49-429D-B8A3-7049F8EE1771}" type="presOf" srcId="{47D2E27F-09BC-4F0F-9907-216CBAB4F283}" destId="{09A09F37-18B8-484B-B84C-758F389A9A80}" srcOrd="0" destOrd="0" presId="urn:microsoft.com/office/officeart/2005/8/layout/list1"/>
    <dgm:cxn modelId="{CCFDFC63-0D37-4805-A96F-C8ABE3B34931}" srcId="{D98F2649-FD1A-41A4-80C5-267205795317}" destId="{47D2E27F-09BC-4F0F-9907-216CBAB4F283}" srcOrd="0" destOrd="0" parTransId="{58F7A028-F816-4D99-B75B-A468F055E2C0}" sibTransId="{CFB67696-5ADF-488B-AB76-8C916481EAC9}"/>
    <dgm:cxn modelId="{7440B548-27D7-4748-9F51-F0B272D12846}" type="presOf" srcId="{233F4D73-D11F-441A-9F56-0C790F74CAB9}" destId="{7673A4E8-BB66-45B4-BC05-365B95CAC5AE}" srcOrd="0" destOrd="1" presId="urn:microsoft.com/office/officeart/2005/8/layout/list1"/>
    <dgm:cxn modelId="{3671134A-DF9C-4777-A28D-0F52758DA72B}" type="presOf" srcId="{6F27F133-2565-4633-B284-B09A014ADDD8}" destId="{ACC3FCEF-F4C0-44AC-B6A3-C2FC08C6A02D}" srcOrd="0" destOrd="0" presId="urn:microsoft.com/office/officeart/2005/8/layout/list1"/>
    <dgm:cxn modelId="{B825A46B-4186-4D12-89EF-330841372906}" srcId="{6F27F133-2565-4633-B284-B09A014ADDD8}" destId="{D0D3BC30-C4BB-4F92-87BD-94F49920491D}" srcOrd="2" destOrd="0" parTransId="{581769BD-2D30-4F68-8ECA-68FE02A25E7D}" sibTransId="{078E54F0-59E4-4DEF-9A21-DDF0D83234F8}"/>
    <dgm:cxn modelId="{4925F752-A9EB-473B-82D6-984A77AF0892}" type="presOf" srcId="{6F27F133-2565-4633-B284-B09A014ADDD8}" destId="{D9333225-DA27-4F9E-951A-07081106DB78}" srcOrd="1" destOrd="0" presId="urn:microsoft.com/office/officeart/2005/8/layout/list1"/>
    <dgm:cxn modelId="{FA148658-84DC-4D1F-8FBC-21259D454BA2}" srcId="{47D2E27F-09BC-4F0F-9907-216CBAB4F283}" destId="{233F4D73-D11F-441A-9F56-0C790F74CAB9}" srcOrd="1" destOrd="0" parTransId="{11AF06B4-8524-4EE6-8641-31FF82B5A3C8}" sibTransId="{D2D8D255-F097-4357-A431-0552F6E98EBE}"/>
    <dgm:cxn modelId="{6B3B5B8E-1B56-4635-AA96-0E767A0091C4}" type="presOf" srcId="{EBD067D6-2988-4A62-AAA1-4112292A23FC}" destId="{98A5A978-CA9A-49C9-A56E-B8C70D2EDEF9}" srcOrd="0" destOrd="4" presId="urn:microsoft.com/office/officeart/2005/8/layout/list1"/>
    <dgm:cxn modelId="{3621278F-9EF7-4B98-8FDE-4BC841E0E1F1}" srcId="{6F27F133-2565-4633-B284-B09A014ADDD8}" destId="{263E00D1-8E08-4622-BDD5-8CCF4A9D776B}" srcOrd="1" destOrd="0" parTransId="{4BA3B97B-210E-4A1F-A4A7-68B6DC03DC7B}" sibTransId="{3035B79E-AB31-428C-B5DB-24E17738DFA8}"/>
    <dgm:cxn modelId="{71A4569B-09EB-448E-B3DA-4E07A9AE4DAA}" srcId="{D98F2649-FD1A-41A4-80C5-267205795317}" destId="{6F27F133-2565-4633-B284-B09A014ADDD8}" srcOrd="1" destOrd="0" parTransId="{C8E515E9-891F-4741-9D59-E1E78679FAAD}" sibTransId="{650E813A-1536-4FFB-90AC-A0AB96452D44}"/>
    <dgm:cxn modelId="{7337CF9E-A05C-4BAB-B804-DFA26E7BD0E9}" type="presOf" srcId="{47D2E27F-09BC-4F0F-9907-216CBAB4F283}" destId="{C5B13E29-1F10-4368-8F31-45625286BB24}" srcOrd="1" destOrd="0" presId="urn:microsoft.com/office/officeart/2005/8/layout/list1"/>
    <dgm:cxn modelId="{628492A6-4369-4AFF-80A0-9AFAAF1AEC19}" type="presOf" srcId="{9D0C07B1-2381-4895-89C9-E1ED3CC2AD33}" destId="{98A5A978-CA9A-49C9-A56E-B8C70D2EDEF9}" srcOrd="0" destOrd="3" presId="urn:microsoft.com/office/officeart/2005/8/layout/list1"/>
    <dgm:cxn modelId="{A8ED9DA8-0EEB-4192-B48E-4AD80F5209A0}" type="presOf" srcId="{263E00D1-8E08-4622-BDD5-8CCF4A9D776B}" destId="{98A5A978-CA9A-49C9-A56E-B8C70D2EDEF9}" srcOrd="0" destOrd="1" presId="urn:microsoft.com/office/officeart/2005/8/layout/list1"/>
    <dgm:cxn modelId="{DECD2AAF-D80D-4437-BA1A-D1CB75F7A167}" type="presOf" srcId="{D98F2649-FD1A-41A4-80C5-267205795317}" destId="{137579F7-C675-40FF-B810-5C75884353FC}" srcOrd="0" destOrd="0" presId="urn:microsoft.com/office/officeart/2005/8/layout/list1"/>
    <dgm:cxn modelId="{48F88CBD-FC80-4CE1-A001-BE7F75BAD110}" type="presOf" srcId="{C668C6CD-2538-4F5E-856B-FDFE08F502E5}" destId="{98A5A978-CA9A-49C9-A56E-B8C70D2EDEF9}" srcOrd="0" destOrd="0" presId="urn:microsoft.com/office/officeart/2005/8/layout/list1"/>
    <dgm:cxn modelId="{A9E1ADC6-670B-41A7-941E-4444E7578081}" srcId="{6F27F133-2565-4633-B284-B09A014ADDD8}" destId="{EBD067D6-2988-4A62-AAA1-4112292A23FC}" srcOrd="4" destOrd="0" parTransId="{58343E2D-8910-4947-B71B-580C3322C13B}" sibTransId="{E660F05E-1333-4E31-93C4-0F655BC6447D}"/>
    <dgm:cxn modelId="{7FC15DD1-D58F-4370-9DCF-F31E70EB459C}" type="presOf" srcId="{17CCC948-CDFE-4260-AB37-1DFE58399BA0}" destId="{7673A4E8-BB66-45B4-BC05-365B95CAC5AE}" srcOrd="0" destOrd="0" presId="urn:microsoft.com/office/officeart/2005/8/layout/list1"/>
    <dgm:cxn modelId="{D14DF2DD-DCD2-4D8A-8D06-5D0825EDB910}" srcId="{6F27F133-2565-4633-B284-B09A014ADDD8}" destId="{9D0C07B1-2381-4895-89C9-E1ED3CC2AD33}" srcOrd="3" destOrd="0" parTransId="{CC16ECFB-4F3F-448B-844B-D9713B8764F3}" sibTransId="{0EE4A4DF-AB07-48BD-A45F-08B619D2E19D}"/>
    <dgm:cxn modelId="{9B90C1EA-D448-4170-A6F6-0B3D53C73F52}" srcId="{47D2E27F-09BC-4F0F-9907-216CBAB4F283}" destId="{17CCC948-CDFE-4260-AB37-1DFE58399BA0}" srcOrd="0" destOrd="0" parTransId="{83CB8990-43B6-4A21-959F-63809636615D}" sibTransId="{5EB4EE67-A332-4004-90F3-D0B4215383B8}"/>
    <dgm:cxn modelId="{FCBAD382-4FEB-485A-A175-79D059FF71E5}" type="presParOf" srcId="{137579F7-C675-40FF-B810-5C75884353FC}" destId="{45A5A8C3-5F42-422D-984F-62D972E9B8E7}" srcOrd="0" destOrd="0" presId="urn:microsoft.com/office/officeart/2005/8/layout/list1"/>
    <dgm:cxn modelId="{4B2B5CCC-3D42-4875-84C0-7E6B8E3D9EF3}" type="presParOf" srcId="{45A5A8C3-5F42-422D-984F-62D972E9B8E7}" destId="{09A09F37-18B8-484B-B84C-758F389A9A80}" srcOrd="0" destOrd="0" presId="urn:microsoft.com/office/officeart/2005/8/layout/list1"/>
    <dgm:cxn modelId="{3111D05B-C781-40FF-9721-DA40A9830388}" type="presParOf" srcId="{45A5A8C3-5F42-422D-984F-62D972E9B8E7}" destId="{C5B13E29-1F10-4368-8F31-45625286BB24}" srcOrd="1" destOrd="0" presId="urn:microsoft.com/office/officeart/2005/8/layout/list1"/>
    <dgm:cxn modelId="{51AE2E0F-4B79-4A80-A8DE-3B2797A3FDFD}" type="presParOf" srcId="{137579F7-C675-40FF-B810-5C75884353FC}" destId="{893469B5-F942-43B1-BB33-3598357F7C8F}" srcOrd="1" destOrd="0" presId="urn:microsoft.com/office/officeart/2005/8/layout/list1"/>
    <dgm:cxn modelId="{7AC0A886-914B-45B4-AFCA-C431C5E9A8C2}" type="presParOf" srcId="{137579F7-C675-40FF-B810-5C75884353FC}" destId="{7673A4E8-BB66-45B4-BC05-365B95CAC5AE}" srcOrd="2" destOrd="0" presId="urn:microsoft.com/office/officeart/2005/8/layout/list1"/>
    <dgm:cxn modelId="{F89222F5-941B-46AB-B7B8-7D43533331B6}" type="presParOf" srcId="{137579F7-C675-40FF-B810-5C75884353FC}" destId="{D3DB3A51-1099-4E66-8ADE-EAA5BBA3CD08}" srcOrd="3" destOrd="0" presId="urn:microsoft.com/office/officeart/2005/8/layout/list1"/>
    <dgm:cxn modelId="{6ADBC83C-90CB-4681-A74A-9CFE99D6767A}" type="presParOf" srcId="{137579F7-C675-40FF-B810-5C75884353FC}" destId="{D49C4FF3-E74F-4F84-BAE0-11287514AA7A}" srcOrd="4" destOrd="0" presId="urn:microsoft.com/office/officeart/2005/8/layout/list1"/>
    <dgm:cxn modelId="{16069348-9348-43C7-81E8-F1BBB1920193}" type="presParOf" srcId="{D49C4FF3-E74F-4F84-BAE0-11287514AA7A}" destId="{ACC3FCEF-F4C0-44AC-B6A3-C2FC08C6A02D}" srcOrd="0" destOrd="0" presId="urn:microsoft.com/office/officeart/2005/8/layout/list1"/>
    <dgm:cxn modelId="{29E36646-FB7B-4100-BA8E-EFD7CDBCAC37}" type="presParOf" srcId="{D49C4FF3-E74F-4F84-BAE0-11287514AA7A}" destId="{D9333225-DA27-4F9E-951A-07081106DB78}" srcOrd="1" destOrd="0" presId="urn:microsoft.com/office/officeart/2005/8/layout/list1"/>
    <dgm:cxn modelId="{28B18308-2987-4E13-99C0-A2AD699644F2}" type="presParOf" srcId="{137579F7-C675-40FF-B810-5C75884353FC}" destId="{41541705-2954-4085-8F29-8D74BB116D20}" srcOrd="5" destOrd="0" presId="urn:microsoft.com/office/officeart/2005/8/layout/list1"/>
    <dgm:cxn modelId="{92332895-F964-43FC-A6D2-E019CFC6B9D5}" type="presParOf" srcId="{137579F7-C675-40FF-B810-5C75884353FC}" destId="{98A5A978-CA9A-49C9-A56E-B8C70D2EDEF9}"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DC6A21-2F3F-47CC-8681-5EC84144E98A}">
      <dsp:nvSpPr>
        <dsp:cNvPr id="0" name=""/>
        <dsp:cNvSpPr/>
      </dsp:nvSpPr>
      <dsp:spPr>
        <a:xfrm>
          <a:off x="0" y="14977"/>
          <a:ext cx="11103718" cy="884520"/>
        </a:xfrm>
        <a:prstGeom prst="roundRect">
          <a:avLst/>
        </a:prstGeom>
        <a:solidFill>
          <a:schemeClr val="bg1">
            <a:lumMod val="6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Marginal Structural Model (MSM)</a:t>
          </a:r>
        </a:p>
      </dsp:txBody>
      <dsp:txXfrm>
        <a:off x="43179" y="58156"/>
        <a:ext cx="11017360" cy="798162"/>
      </dsp:txXfrm>
    </dsp:sp>
    <dsp:sp modelId="{668048D6-6964-4C9A-8D99-375A1879ADD5}">
      <dsp:nvSpPr>
        <dsp:cNvPr id="0" name=""/>
        <dsp:cNvSpPr/>
      </dsp:nvSpPr>
      <dsp:spPr>
        <a:xfrm>
          <a:off x="0" y="1003177"/>
          <a:ext cx="11103718" cy="884520"/>
        </a:xfrm>
        <a:prstGeom prst="roundRect">
          <a:avLst/>
        </a:prstGeom>
        <a:solidFill>
          <a:schemeClr val="bg1">
            <a:lumMod val="6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Inverse Probability of Censoring Weighting (IPCW)</a:t>
          </a:r>
        </a:p>
      </dsp:txBody>
      <dsp:txXfrm>
        <a:off x="43179" y="1046356"/>
        <a:ext cx="11017360" cy="798162"/>
      </dsp:txXfrm>
    </dsp:sp>
    <dsp:sp modelId="{D848D16E-D746-4952-88ED-DF9F4449E00D}">
      <dsp:nvSpPr>
        <dsp:cNvPr id="0" name=""/>
        <dsp:cNvSpPr/>
      </dsp:nvSpPr>
      <dsp:spPr>
        <a:xfrm>
          <a:off x="0" y="1991377"/>
          <a:ext cx="11103718" cy="8845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Rank Preserving Structure Failure Time (RPFST) Model</a:t>
          </a:r>
        </a:p>
      </dsp:txBody>
      <dsp:txXfrm>
        <a:off x="43179" y="2034556"/>
        <a:ext cx="11017360" cy="798162"/>
      </dsp:txXfrm>
    </dsp:sp>
    <dsp:sp modelId="{4F65E044-F343-4C95-B0A8-D6695264BB51}">
      <dsp:nvSpPr>
        <dsp:cNvPr id="0" name=""/>
        <dsp:cNvSpPr/>
      </dsp:nvSpPr>
      <dsp:spPr>
        <a:xfrm>
          <a:off x="0" y="2979577"/>
          <a:ext cx="11103718" cy="8845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Two Stage Estimation (TSE)</a:t>
          </a:r>
        </a:p>
      </dsp:txBody>
      <dsp:txXfrm>
        <a:off x="43179" y="3022756"/>
        <a:ext cx="11017360" cy="7981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0C6010-482B-4C26-BD33-595037C5577E}">
      <dsp:nvSpPr>
        <dsp:cNvPr id="0" name=""/>
        <dsp:cNvSpPr/>
      </dsp:nvSpPr>
      <dsp:spPr>
        <a:xfrm>
          <a:off x="0" y="1081170"/>
          <a:ext cx="2957512" cy="1878020"/>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35BFA0-61D5-4945-99CF-257F8E103FE8}">
      <dsp:nvSpPr>
        <dsp:cNvPr id="0" name=""/>
        <dsp:cNvSpPr/>
      </dsp:nvSpPr>
      <dsp:spPr>
        <a:xfrm>
          <a:off x="328612" y="1393352"/>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Latent survival time is the same in both arms</a:t>
          </a:r>
        </a:p>
      </dsp:txBody>
      <dsp:txXfrm>
        <a:off x="383617" y="1448357"/>
        <a:ext cx="2847502" cy="1768010"/>
      </dsp:txXfrm>
    </dsp:sp>
    <dsp:sp modelId="{C34152DD-677C-4592-86AB-C3A795004374}">
      <dsp:nvSpPr>
        <dsp:cNvPr id="0" name=""/>
        <dsp:cNvSpPr/>
      </dsp:nvSpPr>
      <dsp:spPr>
        <a:xfrm>
          <a:off x="3614737" y="1081170"/>
          <a:ext cx="2957512" cy="1878020"/>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28206B-C35D-4798-A094-45EFE421237A}">
      <dsp:nvSpPr>
        <dsp:cNvPr id="0" name=""/>
        <dsp:cNvSpPr/>
      </dsp:nvSpPr>
      <dsp:spPr>
        <a:xfrm>
          <a:off x="3943350" y="1393352"/>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Rank-preserving assumptions</a:t>
          </a:r>
        </a:p>
      </dsp:txBody>
      <dsp:txXfrm>
        <a:off x="3998355" y="1448357"/>
        <a:ext cx="2847502" cy="1768010"/>
      </dsp:txXfrm>
    </dsp:sp>
    <dsp:sp modelId="{6D8A736A-1431-4628-B8F1-0729D420EE9E}">
      <dsp:nvSpPr>
        <dsp:cNvPr id="0" name=""/>
        <dsp:cNvSpPr/>
      </dsp:nvSpPr>
      <dsp:spPr>
        <a:xfrm>
          <a:off x="7229475" y="1081170"/>
          <a:ext cx="2957512" cy="1878020"/>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A783F1-D9A2-4CFB-B9B2-CC1E83CF43B6}">
      <dsp:nvSpPr>
        <dsp:cNvPr id="0" name=""/>
        <dsp:cNvSpPr/>
      </dsp:nvSpPr>
      <dsp:spPr>
        <a:xfrm>
          <a:off x="7558087" y="1393352"/>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kern="1200"/>
            <a:t>Constant treatment effect assumption</a:t>
          </a:r>
          <a:endParaRPr lang="en-US" sz="2700" kern="1200"/>
        </a:p>
      </dsp:txBody>
      <dsp:txXfrm>
        <a:off x="7613092" y="1448357"/>
        <a:ext cx="2847502" cy="17680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73A4E8-BB66-45B4-BC05-365B95CAC5AE}">
      <dsp:nvSpPr>
        <dsp:cNvPr id="0" name=""/>
        <dsp:cNvSpPr/>
      </dsp:nvSpPr>
      <dsp:spPr>
        <a:xfrm>
          <a:off x="0" y="492155"/>
          <a:ext cx="10515600" cy="155925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74904"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Does not rely on covariate information, thereby relaxing the </a:t>
          </a:r>
          <a:r>
            <a:rPr lang="en-US" sz="1800" i="1" kern="1200" dirty="0"/>
            <a:t>no unmeasured confounding</a:t>
          </a:r>
          <a:r>
            <a:rPr lang="en-US" sz="1800" kern="1200" dirty="0"/>
            <a:t> assumption.</a:t>
          </a:r>
        </a:p>
        <a:p>
          <a:pPr marL="171450" lvl="1" indent="-171450" algn="l" defTabSz="800100">
            <a:lnSpc>
              <a:spcPct val="90000"/>
            </a:lnSpc>
            <a:spcBef>
              <a:spcPct val="0"/>
            </a:spcBef>
            <a:spcAft>
              <a:spcPct val="15000"/>
            </a:spcAft>
            <a:buChar char="•"/>
          </a:pPr>
          <a:r>
            <a:rPr lang="en-US" sz="1800" kern="1200" dirty="0"/>
            <a:t>Remains applicable even with very high levels of treatment switching, including settings where all patients in an arm switch (a scenario where MSM and IPCW may fail).</a:t>
          </a:r>
        </a:p>
      </dsp:txBody>
      <dsp:txXfrm>
        <a:off x="0" y="492155"/>
        <a:ext cx="10515600" cy="1559250"/>
      </dsp:txXfrm>
    </dsp:sp>
    <dsp:sp modelId="{C5B13E29-1F10-4368-8F31-45625286BB24}">
      <dsp:nvSpPr>
        <dsp:cNvPr id="0" name=""/>
        <dsp:cNvSpPr/>
      </dsp:nvSpPr>
      <dsp:spPr>
        <a:xfrm>
          <a:off x="525780" y="226475"/>
          <a:ext cx="7360920" cy="5313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kern="1200" dirty="0"/>
            <a:t>Pros</a:t>
          </a:r>
        </a:p>
      </dsp:txBody>
      <dsp:txXfrm>
        <a:off x="551719" y="252414"/>
        <a:ext cx="7309042" cy="479482"/>
      </dsp:txXfrm>
    </dsp:sp>
    <dsp:sp modelId="{98A5A978-CA9A-49C9-A56E-B8C70D2EDEF9}">
      <dsp:nvSpPr>
        <dsp:cNvPr id="0" name=""/>
        <dsp:cNvSpPr/>
      </dsp:nvSpPr>
      <dsp:spPr>
        <a:xfrm>
          <a:off x="0" y="2414286"/>
          <a:ext cx="10515600" cy="2494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74904"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This method is only suitable for one-way switching.</a:t>
          </a:r>
        </a:p>
        <a:p>
          <a:pPr marL="171450" lvl="1" indent="-171450" algn="l" defTabSz="800100">
            <a:lnSpc>
              <a:spcPct val="90000"/>
            </a:lnSpc>
            <a:spcBef>
              <a:spcPct val="0"/>
            </a:spcBef>
            <a:spcAft>
              <a:spcPct val="15000"/>
            </a:spcAft>
            <a:buChar char="•"/>
          </a:pPr>
          <a:r>
            <a:rPr lang="en-US" sz="1800" kern="1200"/>
            <a:t>Increased SE by re-censoring and re-sampling (bootstrap and permutation) on the whole RPSFTM process in computing 95% CI and p-value</a:t>
          </a:r>
          <a:endParaRPr lang="en-US" sz="1800" kern="1200" dirty="0"/>
        </a:p>
        <a:p>
          <a:pPr marL="171450" lvl="1" indent="-171450" algn="l" defTabSz="800100">
            <a:lnSpc>
              <a:spcPct val="90000"/>
            </a:lnSpc>
            <a:spcBef>
              <a:spcPct val="0"/>
            </a:spcBef>
            <a:spcAft>
              <a:spcPct val="15000"/>
            </a:spcAft>
            <a:buChar char="•"/>
          </a:pPr>
          <a:r>
            <a:rPr lang="en-US" sz="1800" kern="1200" dirty="0"/>
            <a:t>Computation resources intensive due to re-sampling on the whole process</a:t>
          </a:r>
        </a:p>
        <a:p>
          <a:pPr marL="171450" lvl="1" indent="-171450" algn="l" defTabSz="800100">
            <a:lnSpc>
              <a:spcPct val="90000"/>
            </a:lnSpc>
            <a:spcBef>
              <a:spcPct val="0"/>
            </a:spcBef>
            <a:spcAft>
              <a:spcPct val="15000"/>
            </a:spcAft>
            <a:buChar char="•"/>
          </a:pPr>
          <a:r>
            <a:rPr lang="en-US" sz="1800" kern="1200" dirty="0"/>
            <a:t>G-estimation grid search may end up with multiple roots for</a:t>
          </a:r>
          <a14:m xmlns:a14="http://schemas.microsoft.com/office/drawing/2010/main">
            <m:oMath xmlns:m="http://schemas.openxmlformats.org/officeDocument/2006/math">
              <m:r>
                <a:rPr lang="en-US" sz="1800" b="0" i="0" kern="1200" smtClean="0">
                  <a:latin typeface="Cambria Math" panose="02040503050406030204" pitchFamily="18" charset="0"/>
                </a:rPr>
                <m:t> </m:t>
              </m:r>
              <m:acc>
                <m:accPr>
                  <m:chr m:val="̂"/>
                  <m:ctrlPr>
                    <a:rPr lang="en-US" sz="1800" b="0" i="1" kern="1200" smtClean="0">
                      <a:latin typeface="Cambria Math" panose="02040503050406030204" pitchFamily="18" charset="0"/>
                    </a:rPr>
                  </m:ctrlPr>
                </m:accPr>
                <m:e>
                  <m:r>
                    <a:rPr lang="en-US" sz="1800" b="0" i="1" kern="1200" smtClean="0">
                      <a:latin typeface="Cambria Math" panose="02040503050406030204" pitchFamily="18" charset="0"/>
                    </a:rPr>
                    <m:t>𝜓</m:t>
                  </m:r>
                </m:e>
              </m:acc>
            </m:oMath>
          </a14:m>
          <a:endParaRPr lang="en-US" sz="1800" kern="1200" dirty="0"/>
        </a:p>
        <a:p>
          <a:pPr marL="171450" lvl="1" indent="-171450" algn="l" defTabSz="800100">
            <a:lnSpc>
              <a:spcPct val="90000"/>
            </a:lnSpc>
            <a:spcBef>
              <a:spcPct val="0"/>
            </a:spcBef>
            <a:spcAft>
              <a:spcPct val="15000"/>
            </a:spcAft>
            <a:buChar char="•"/>
          </a:pPr>
          <a:r>
            <a:rPr lang="en-US" sz="1800" b="1" kern="1200" dirty="0"/>
            <a:t>“Common treatment effect” </a:t>
          </a:r>
          <a:r>
            <a:rPr lang="en-US" sz="1800" kern="1200" dirty="0"/>
            <a:t>assumption is a strong assumption, which may be not true for some oncology trials.</a:t>
          </a:r>
        </a:p>
      </dsp:txBody>
      <dsp:txXfrm>
        <a:off x="0" y="2414286"/>
        <a:ext cx="10515600" cy="2494800"/>
      </dsp:txXfrm>
    </dsp:sp>
    <dsp:sp modelId="{D9333225-DA27-4F9E-951A-07081106DB78}">
      <dsp:nvSpPr>
        <dsp:cNvPr id="0" name=""/>
        <dsp:cNvSpPr/>
      </dsp:nvSpPr>
      <dsp:spPr>
        <a:xfrm>
          <a:off x="525780" y="2148606"/>
          <a:ext cx="7360920" cy="5313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kern="1200" dirty="0"/>
            <a:t>Cons</a:t>
          </a:r>
        </a:p>
      </dsp:txBody>
      <dsp:txXfrm>
        <a:off x="551719" y="2174545"/>
        <a:ext cx="7309042" cy="47948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442700-D23B-4F45-8D8B-152309E96F03}" type="datetimeFigureOut">
              <a:rPr lang="en-US" smtClean="0"/>
              <a:t>1/21/2026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2BF43E-1556-4943-8008-D6873F926059}" type="slidenum">
              <a:rPr lang="en-US" smtClean="0"/>
              <a:t>‹#›</a:t>
            </a:fld>
            <a:endParaRPr lang="en-US"/>
          </a:p>
        </p:txBody>
      </p:sp>
    </p:spTree>
    <p:extLst>
      <p:ext uri="{BB962C8B-B14F-4D97-AF65-F5344CB8AC3E}">
        <p14:creationId xmlns:p14="http://schemas.microsoft.com/office/powerpoint/2010/main" val="3942654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2BF43E-1556-4943-8008-D6873F926059}" type="slidenum">
              <a:rPr lang="en-US" smtClean="0"/>
              <a:t>1</a:t>
            </a:fld>
            <a:endParaRPr lang="en-US"/>
          </a:p>
        </p:txBody>
      </p:sp>
    </p:spTree>
    <p:extLst>
      <p:ext uri="{BB962C8B-B14F-4D97-AF65-F5344CB8AC3E}">
        <p14:creationId xmlns:p14="http://schemas.microsoft.com/office/powerpoint/2010/main" val="2420738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2BF43E-1556-4943-8008-D6873F926059}" type="slidenum">
              <a:rPr lang="en-US" smtClean="0"/>
              <a:t>2</a:t>
            </a:fld>
            <a:endParaRPr lang="en-US"/>
          </a:p>
        </p:txBody>
      </p:sp>
    </p:spTree>
    <p:extLst>
      <p:ext uri="{BB962C8B-B14F-4D97-AF65-F5344CB8AC3E}">
        <p14:creationId xmlns:p14="http://schemas.microsoft.com/office/powerpoint/2010/main" val="1390547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2BF43E-1556-4943-8008-D6873F926059}" type="slidenum">
              <a:rPr lang="en-US" smtClean="0"/>
              <a:t>3</a:t>
            </a:fld>
            <a:endParaRPr lang="en-US"/>
          </a:p>
        </p:txBody>
      </p:sp>
    </p:spTree>
    <p:extLst>
      <p:ext uri="{BB962C8B-B14F-4D97-AF65-F5344CB8AC3E}">
        <p14:creationId xmlns:p14="http://schemas.microsoft.com/office/powerpoint/2010/main" val="3084116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2BF43E-1556-4943-8008-D6873F926059}" type="slidenum">
              <a:rPr lang="en-US" smtClean="0"/>
              <a:t>4</a:t>
            </a:fld>
            <a:endParaRPr lang="en-US"/>
          </a:p>
        </p:txBody>
      </p:sp>
    </p:spTree>
    <p:extLst>
      <p:ext uri="{BB962C8B-B14F-4D97-AF65-F5344CB8AC3E}">
        <p14:creationId xmlns:p14="http://schemas.microsoft.com/office/powerpoint/2010/main" val="1080488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2BF43E-1556-4943-8008-D6873F926059}" type="slidenum">
              <a:rPr lang="en-US" smtClean="0"/>
              <a:t>5</a:t>
            </a:fld>
            <a:endParaRPr lang="en-US"/>
          </a:p>
        </p:txBody>
      </p:sp>
    </p:spTree>
    <p:extLst>
      <p:ext uri="{BB962C8B-B14F-4D97-AF65-F5344CB8AC3E}">
        <p14:creationId xmlns:p14="http://schemas.microsoft.com/office/powerpoint/2010/main" val="3030926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N</a:t>
                </a:r>
                <a:r>
                  <a:rPr lang="en-US" altLang="zh-CN" dirty="0"/>
                  <a:t>ext, let’s see how RPSFTM separates and adjust survival time. </a:t>
                </a:r>
                <a:r>
                  <a:rPr lang="en-US" dirty="0"/>
                  <a:t>On the top bar, we have the patient’s </a:t>
                </a:r>
                <a:r>
                  <a:rPr lang="en-US" b="1" dirty="0"/>
                  <a:t>observed survival time</a:t>
                </a:r>
                <a:r>
                  <a:rPr lang="en-US" dirty="0"/>
                  <a:t>. The blue bar represents the time during which the patient was </a:t>
                </a:r>
                <a:r>
                  <a:rPr lang="en-US" b="1" dirty="0"/>
                  <a:t>not exposed to the active treatment</a:t>
                </a:r>
                <a:r>
                  <a:rPr lang="en-US" dirty="0"/>
                  <a:t>. In one-way switching trials, the blue bar also refers to the time before crossover. This part reflects the natural disease course and is not affected by treatment. The green bar represents the time during which the patient </a:t>
                </a:r>
                <a:r>
                  <a:rPr lang="en-US" b="1" dirty="0"/>
                  <a:t>was actually exposed to the active treatment</a:t>
                </a:r>
                <a:r>
                  <a:rPr lang="en-US" dirty="0"/>
                  <a:t> in the observed world. If the treatment is beneficial, survival during this period is prolonged compared to what would have happened without treatment. So we can express each patient’s observed survival time, </a:t>
                </a:r>
                <a:r>
                  <a:rPr lang="ar-AE" sz="1200" i="0" kern="1200">
                    <a:solidFill>
                      <a:schemeClr val="tx1"/>
                    </a:solidFill>
                    <a:latin typeface="Cambria Math" panose="02040503050406030204" pitchFamily="18" charset="0"/>
                    <a:ea typeface="+mn-ea"/>
                    <a:cs typeface="+mn-cs"/>
                  </a:rPr>
                  <a:t>𝑇_𝑖</a:t>
                </a:r>
                <a:r>
                  <a:rPr lang="ar-AE" dirty="0"/>
                  <a:t>, </a:t>
                </a:r>
                <a:r>
                  <a:rPr lang="en-US" dirty="0"/>
                  <a:t>as the sum of two components:</a:t>
                </a:r>
                <a:r>
                  <a:rPr lang="en-US" baseline="0" dirty="0"/>
                  <a:t> </a:t>
                </a:r>
                <a:r>
                  <a:rPr lang="en-US" dirty="0"/>
                  <a:t>the b</a:t>
                </a:r>
                <a:r>
                  <a:rPr lang="en-US" sz="1200" b="0" i="0" kern="1200">
                    <a:solidFill>
                      <a:schemeClr val="tx1"/>
                    </a:solidFill>
                    <a:latin typeface="Cambria Math" panose="02040503050406030204" pitchFamily="18" charset="0"/>
                    <a:ea typeface="+mn-ea"/>
                    <a:cs typeface="+mn-cs"/>
                  </a:rPr>
                  <a:t>lue bar </a:t>
                </a:r>
                <a:r>
                  <a:rPr lang="ar-AE" sz="1200" i="0" kern="1200">
                    <a:solidFill>
                      <a:schemeClr val="tx1"/>
                    </a:solidFill>
                    <a:latin typeface="Cambria Math" panose="02040503050406030204" pitchFamily="18" charset="0"/>
                    <a:ea typeface="+mn-ea"/>
                    <a:cs typeface="+mn-cs"/>
                  </a:rPr>
                  <a:t>𝑇_(𝑖,</a:t>
                </a:r>
                <a:r>
                  <a:rPr lang="en-US" sz="1200" b="0" i="0" kern="1200">
                    <a:solidFill>
                      <a:schemeClr val="tx1"/>
                    </a:solidFill>
                    <a:latin typeface="+mn-lt"/>
                    <a:ea typeface="+mn-ea"/>
                    <a:cs typeface="+mn-cs"/>
                  </a:rPr>
                  <a:t>"off</a:t>
                </a:r>
                <a:r>
                  <a:rPr lang="en-US" sz="1200" b="0" i="0" kern="1200">
                    <a:solidFill>
                      <a:schemeClr val="tx1"/>
                    </a:solidFill>
                    <a:latin typeface="Cambria Math" panose="02040503050406030204" pitchFamily="18" charset="0"/>
                    <a:ea typeface="+mn-ea"/>
                    <a:cs typeface="+mn-cs"/>
                  </a:rPr>
                  <a:t>" </a:t>
                </a:r>
                <a:r>
                  <a:rPr lang="ar-AE" sz="1200" b="0" i="0" kern="1200">
                    <a:solidFill>
                      <a:schemeClr val="tx1"/>
                    </a:solidFill>
                    <a:latin typeface="Cambria Math" panose="02040503050406030204" pitchFamily="18" charset="0"/>
                    <a:ea typeface="+mn-ea"/>
                    <a:cs typeface="+mn-cs"/>
                  </a:rPr>
                  <a:t>)</a:t>
                </a:r>
                <a:r>
                  <a:rPr lang="ar-AE" dirty="0"/>
                  <a:t>, </a:t>
                </a:r>
                <a:r>
                  <a:rPr lang="en-US" dirty="0"/>
                  <a:t>and the </a:t>
                </a:r>
                <a:r>
                  <a:rPr lang="en-US" dirty="0" err="1"/>
                  <a:t>greenbar</a:t>
                </a:r>
                <a:r>
                  <a:rPr lang="en-US" dirty="0"/>
                  <a:t>, </a:t>
                </a:r>
                <a:r>
                  <a:rPr lang="ar-AE" sz="1200" i="0" kern="1200">
                    <a:solidFill>
                      <a:schemeClr val="tx1"/>
                    </a:solidFill>
                    <a:latin typeface="Cambria Math" panose="02040503050406030204" pitchFamily="18" charset="0"/>
                    <a:ea typeface="+mn-ea"/>
                    <a:cs typeface="+mn-cs"/>
                  </a:rPr>
                  <a:t>𝑇_(𝑖,</a:t>
                </a:r>
                <a:r>
                  <a:rPr lang="en-US" sz="1200" b="0" i="0" kern="1200">
                    <a:solidFill>
                      <a:schemeClr val="tx1"/>
                    </a:solidFill>
                    <a:latin typeface="+mn-lt"/>
                    <a:ea typeface="+mn-ea"/>
                    <a:cs typeface="+mn-cs"/>
                  </a:rPr>
                  <a:t>"on</a:t>
                </a:r>
                <a:r>
                  <a:rPr lang="en-US" sz="1200" b="0" i="0" kern="1200">
                    <a:solidFill>
                      <a:schemeClr val="tx1"/>
                    </a:solidFill>
                    <a:latin typeface="Cambria Math" panose="02040503050406030204" pitchFamily="18" charset="0"/>
                    <a:ea typeface="+mn-ea"/>
                    <a:cs typeface="+mn-cs"/>
                  </a:rPr>
                  <a:t>" </a:t>
                </a:r>
                <a:r>
                  <a:rPr lang="ar-AE" sz="1200" b="0" i="0" kern="1200">
                    <a:solidFill>
                      <a:schemeClr val="tx1"/>
                    </a:solidFill>
                    <a:latin typeface="Cambria Math" panose="02040503050406030204" pitchFamily="18" charset="0"/>
                    <a:ea typeface="+mn-ea"/>
                    <a:cs typeface="+mn-cs"/>
                  </a:rPr>
                  <a:t>)</a:t>
                </a:r>
                <a:r>
                  <a:rPr lang="ar-AE" dirty="0"/>
                  <a:t>.</a:t>
                </a:r>
                <a:br>
                  <a:rPr lang="en-US" dirty="0"/>
                </a:br>
                <a:endParaRPr lang="en-US" dirty="0"/>
              </a:p>
              <a:p>
                <a:r>
                  <a:rPr lang="en-US" dirty="0"/>
                  <a:t>The key assumption of RPSFTM is that </a:t>
                </a:r>
                <a:r>
                  <a:rPr lang="en-US" b="1" dirty="0"/>
                  <a:t>treatment can only affect survival after exposure begins</a:t>
                </a:r>
                <a:r>
                  <a:rPr lang="en-US" dirty="0"/>
                  <a:t>.</a:t>
                </a:r>
                <a:br>
                  <a:rPr lang="en-US" dirty="0"/>
                </a:br>
                <a:r>
                  <a:rPr lang="en-US" dirty="0"/>
                  <a:t>Therefore, the blue portion of time is left unchanged. For the treated period, shown in green, RPSFTM asks a counterfactual question: </a:t>
                </a:r>
                <a:r>
                  <a:rPr lang="en-US" i="1" dirty="0"/>
                  <a:t>What if this patient had never received the active treatment? And </a:t>
                </a:r>
                <a:r>
                  <a:rPr lang="en-US" dirty="0"/>
                  <a:t>The orange bar answered the question.</a:t>
                </a:r>
                <a:br>
                  <a:rPr lang="en-US" dirty="0"/>
                </a:br>
                <a:r>
                  <a:rPr lang="en-US" dirty="0"/>
                  <a:t>It shows the same treated period, but rewritten in a hypothetical world without treatment, where the survival benefit of treatment has been removed.</a:t>
                </a:r>
              </a:p>
              <a:p>
                <a:endParaRPr lang="en-US" dirty="0"/>
              </a:p>
              <a:p>
                <a:r>
                  <a:rPr lang="en-US" dirty="0"/>
                  <a:t>RPSFTM assumes that treatment does not add or remove time directly.</a:t>
                </a:r>
                <a:r>
                  <a:rPr lang="en-US" baseline="0" dirty="0"/>
                  <a:t> </a:t>
                </a:r>
                <a:r>
                  <a:rPr lang="en-US" dirty="0"/>
                  <a:t>Instead, it changes how fast time passes during the treated period.</a:t>
                </a:r>
                <a:r>
                  <a:rPr lang="en-US" baseline="0" dirty="0"/>
                  <a:t> </a:t>
                </a:r>
                <a:r>
                  <a:rPr lang="en-US" dirty="0"/>
                  <a:t>It defines a counterfactual survival time, </a:t>
                </a:r>
                <a:r>
                  <a:rPr lang="ar-AE" sz="1200" i="0" kern="1200">
                    <a:solidFill>
                      <a:schemeClr val="tx1"/>
                    </a:solidFill>
                    <a:latin typeface="+mn-lt"/>
                    <a:ea typeface="+mn-ea"/>
                    <a:cs typeface="+mn-cs"/>
                  </a:rPr>
                  <a:t>𝑈_𝑖 (𝜓)</a:t>
                </a:r>
                <a:r>
                  <a:rPr lang="ar-AE" dirty="0"/>
                  <a:t>, </a:t>
                </a:r>
                <a:r>
                  <a:rPr lang="en-US" dirty="0"/>
                  <a:t>representing how long the patient would have lived without treatment.</a:t>
                </a:r>
                <a:r>
                  <a:rPr lang="en-US" baseline="0" dirty="0"/>
                  <a:t> </a:t>
                </a:r>
                <a:r>
                  <a:rPr lang="en-US" dirty="0"/>
                  <a:t>To construct this, </a:t>
                </a:r>
                <a:r>
                  <a:rPr lang="ar-AE" sz="1200" i="0" kern="1200">
                    <a:solidFill>
                      <a:schemeClr val="tx1"/>
                    </a:solidFill>
                    <a:latin typeface="+mn-lt"/>
                    <a:ea typeface="+mn-ea"/>
                    <a:cs typeface="+mn-cs"/>
                  </a:rPr>
                  <a:t>𝑇_(𝑖,</a:t>
                </a:r>
                <a:r>
                  <a:rPr lang="en-US" sz="1200" b="0" i="0" kern="1200">
                    <a:solidFill>
                      <a:schemeClr val="tx1"/>
                    </a:solidFill>
                    <a:latin typeface="+mn-lt"/>
                    <a:ea typeface="+mn-ea"/>
                    <a:cs typeface="+mn-cs"/>
                  </a:rPr>
                  <a:t>"off</a:t>
                </a:r>
                <a:r>
                  <a:rPr lang="ar-AE" sz="1200" b="0" i="0" kern="1200">
                    <a:solidFill>
                      <a:schemeClr val="tx1"/>
                    </a:solidFill>
                    <a:latin typeface="+mn-lt"/>
                    <a:ea typeface="+mn-ea"/>
                    <a:cs typeface="+mn-cs"/>
                  </a:rPr>
                  <a:t>" )</a:t>
                </a:r>
                <a:r>
                  <a:rPr lang="en-US" dirty="0"/>
                  <a:t> stays the same, while </a:t>
                </a:r>
                <a:r>
                  <a:rPr lang="ar-AE" sz="1200" i="0" kern="1200">
                    <a:solidFill>
                      <a:schemeClr val="tx1"/>
                    </a:solidFill>
                    <a:latin typeface="+mn-lt"/>
                    <a:ea typeface="+mn-ea"/>
                    <a:cs typeface="+mn-cs"/>
                  </a:rPr>
                  <a:t>𝑇_(𝑖,</a:t>
                </a:r>
                <a:r>
                  <a:rPr lang="en-US" sz="1200" b="0" i="0" kern="1200">
                    <a:solidFill>
                      <a:schemeClr val="tx1"/>
                    </a:solidFill>
                    <a:latin typeface="+mn-lt"/>
                    <a:ea typeface="+mn-ea"/>
                    <a:cs typeface="+mn-cs"/>
                  </a:rPr>
                  <a:t>"on</a:t>
                </a:r>
                <a:r>
                  <a:rPr lang="ar-AE" sz="1200" b="0" i="0" kern="1200">
                    <a:solidFill>
                      <a:schemeClr val="tx1"/>
                    </a:solidFill>
                    <a:latin typeface="+mn-lt"/>
                    <a:ea typeface="+mn-ea"/>
                    <a:cs typeface="+mn-cs"/>
                  </a:rPr>
                  <a:t>" )</a:t>
                </a:r>
                <a:r>
                  <a:rPr lang="en-US" dirty="0"/>
                  <a:t> is rescaled by </a:t>
                </a:r>
                <a:r>
                  <a:rPr lang="en-US" sz="1200" b="1" i="0">
                    <a:latin typeface="Cambria Math" panose="02040503050406030204" pitchFamily="18" charset="0"/>
                  </a:rPr>
                  <a:t>𝐞𝐱𝐩⁡(</a:t>
                </a:r>
                <a:r>
                  <a:rPr lang="el-GR" sz="1200" b="1" i="0">
                    <a:latin typeface="Cambria Math" panose="02040503050406030204" pitchFamily="18" charset="0"/>
                  </a:rPr>
                  <a:t>"ψ</a:t>
                </a:r>
                <a:r>
                  <a:rPr lang="en-US" sz="1200" b="1" i="0">
                    <a:latin typeface="Cambria Math" panose="02040503050406030204" pitchFamily="18" charset="0"/>
                  </a:rPr>
                  <a:t>).</a:t>
                </a:r>
                <a:r>
                  <a:rPr lang="en-US" sz="1200" b="0" i="0">
                    <a:latin typeface="Cambria Math" panose="02040503050406030204" pitchFamily="18" charset="0"/>
                  </a:rPr>
                  <a:t> </a:t>
                </a:r>
                <a:r>
                  <a:rPr lang="en-US" i="0">
                    <a:latin typeface="Cambria Math" panose="02040503050406030204" pitchFamily="18" charset="0"/>
                  </a:rPr>
                  <a:t>The term</a:t>
                </a:r>
                <a:r>
                  <a:rPr lang="en-US" b="0" i="0">
                    <a:latin typeface="Cambria Math" panose="02040503050406030204" pitchFamily="18" charset="0"/>
                  </a:rPr>
                  <a:t> </a:t>
                </a:r>
                <a:r>
                  <a:rPr lang="en-US" sz="1200" b="1" i="0">
                    <a:latin typeface="Cambria Math" panose="02040503050406030204" pitchFamily="18" charset="0"/>
                  </a:rPr>
                  <a:t>" 𝐞𝐱𝐩⁡(</a:t>
                </a:r>
                <a:r>
                  <a:rPr lang="el-GR" sz="1200" b="1" i="0">
                    <a:latin typeface="Cambria Math" panose="02040503050406030204" pitchFamily="18" charset="0"/>
                  </a:rPr>
                  <a:t>"ψ</a:t>
                </a:r>
                <a:r>
                  <a:rPr lang="en-US" sz="1200" b="1" i="0">
                    <a:latin typeface="Cambria Math" panose="02040503050406030204" pitchFamily="18" charset="0"/>
                  </a:rPr>
                  <a:t>) </a:t>
                </a:r>
                <a:r>
                  <a:rPr lang="en-US" i="0">
                    <a:latin typeface="Cambria Math" panose="02040503050406030204" pitchFamily="18" charset="0"/>
                  </a:rPr>
                  <a:t>is the acceleration factor, which</a:t>
                </a:r>
                <a:r>
                  <a:rPr lang="en-US" b="0" i="0">
                    <a:latin typeface="Cambria Math" panose="02040503050406030204" pitchFamily="18" charset="0"/>
                  </a:rPr>
                  <a:t> </a:t>
                </a:r>
                <a:r>
                  <a:rPr lang="en-US" i="0">
                    <a:latin typeface="Cambria Math" panose="02040503050406030204" pitchFamily="18" charset="0"/>
                  </a:rPr>
                  <a:t>describes how fast time would pass without treatment.</a:t>
                </a:r>
                <a:r>
                  <a:rPr lang="en-US" i="0"/>
                  <a:t>"</a:t>
                </a:r>
                <a:r>
                  <a:rPr lang="en-US" dirty="0"/>
                  <a:t> If treatment is beneficial, exp(phi) &lt; 1,</a:t>
                </a:r>
                <a:r>
                  <a:rPr lang="en-US" baseline="0" dirty="0"/>
                  <a:t> </a:t>
                </a:r>
                <a:r>
                  <a:rPr lang="en-US" dirty="0"/>
                  <a:t>meaning that time under treatment is compressed in the no-treatment world.</a:t>
                </a:r>
              </a:p>
              <a:p>
                <a:endParaRPr lang="en-US" dirty="0"/>
              </a:p>
              <a:p>
                <a:r>
                  <a:rPr lang="en-US" dirty="0"/>
                  <a:t>We repeat this reconstruction for every patient.</a:t>
                </a:r>
                <a:r>
                  <a:rPr lang="en-US" baseline="0" dirty="0"/>
                  <a:t> </a:t>
                </a:r>
                <a:r>
                  <a:rPr lang="en-US" dirty="0"/>
                  <a:t>In the next step, we will see</a:t>
                </a:r>
                <a:r>
                  <a:rPr lang="en-US" baseline="0" dirty="0"/>
                  <a:t> how </a:t>
                </a:r>
                <a:r>
                  <a:rPr lang="en-US" dirty="0"/>
                  <a:t>to determine the value of </a:t>
                </a:r>
                <a:r>
                  <a:rPr lang="en-US" sz="1200" i="0" kern="1200">
                    <a:solidFill>
                      <a:schemeClr val="tx1"/>
                    </a:solidFill>
                    <a:latin typeface="+mn-lt"/>
                    <a:ea typeface="+mn-ea"/>
                    <a:cs typeface="+mn-cs"/>
                  </a:rPr>
                  <a:t>𝜓</a:t>
                </a:r>
                <a:r>
                  <a:rPr lang="en-US" dirty="0"/>
                  <a:t> that makes these reconstructed survival times consistent between the two randomized groups. </a:t>
                </a:r>
                <a:r>
                  <a:rPr lang="zh-CN" altLang="en-US" dirty="0"/>
                  <a:t>有了</a:t>
                </a:r>
                <a:r>
                  <a:rPr lang="en-US" altLang="zh-CN" dirty="0"/>
                  <a:t>psi</a:t>
                </a:r>
                <a:r>
                  <a:rPr lang="zh-CN" altLang="en-US" dirty="0"/>
                  <a:t>下一步呢？？待补充</a:t>
                </a:r>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8A2BF43E-1556-4943-8008-D6873F926059}" type="slidenum">
              <a:rPr lang="en-US" smtClean="0"/>
              <a:t>6</a:t>
            </a:fld>
            <a:endParaRPr lang="en-US"/>
          </a:p>
        </p:txBody>
      </p:sp>
    </p:spTree>
    <p:extLst>
      <p:ext uri="{BB962C8B-B14F-4D97-AF65-F5344CB8AC3E}">
        <p14:creationId xmlns:p14="http://schemas.microsoft.com/office/powerpoint/2010/main" val="2656150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i="1" u="sng" dirty="0">
                  <a:solidFill>
                    <a:srgbClr val="FFC000"/>
                  </a:solidFill>
                </a:endParaRPr>
              </a:p>
            </p:txBody>
          </p:sp>
        </mc:Choice>
        <mc:Fallback xmlns="">
          <p:sp>
            <p:nvSpPr>
              <p:cNvPr id="3" name="Notes Placeholder 2"/>
              <p:cNvSpPr>
                <a:spLocks noGrp="1"/>
              </p:cNvSpPr>
              <p:nvPr>
                <p:ph type="body" idx="1"/>
              </p:nvPr>
            </p:nvSpPr>
            <p:spPr/>
            <p:txBody>
              <a:bodyPr/>
              <a:lstStyle/>
              <a:p>
                <a:r>
                  <a:rPr lang="en-US" dirty="0"/>
                  <a:t>Before moving on to the calculation of </a:t>
                </a:r>
                <a:r>
                  <a:rPr lang="en-US" sz="1200" i="0" kern="1200">
                    <a:solidFill>
                      <a:schemeClr val="tx1"/>
                    </a:solidFill>
                    <a:latin typeface="+mn-lt"/>
                    <a:ea typeface="+mn-ea"/>
                    <a:cs typeface="+mn-cs"/>
                  </a:rPr>
                  <a:t>𝜓</a:t>
                </a:r>
                <a:r>
                  <a:rPr lang="en-US" dirty="0"/>
                  <a:t>, there is another important step that requires our attention, known as </a:t>
                </a:r>
                <a:r>
                  <a:rPr lang="en-US" b="1" dirty="0" err="1"/>
                  <a:t>recensoring</a:t>
                </a:r>
                <a:r>
                  <a:rPr lang="en-US" dirty="0"/>
                  <a:t>. To explain why </a:t>
                </a:r>
                <a:r>
                  <a:rPr lang="en-US" dirty="0" err="1"/>
                  <a:t>recensoring</a:t>
                </a:r>
                <a:r>
                  <a:rPr lang="en-US" dirty="0"/>
                  <a:t> is needed, let’s consider a simple example.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observed world, for a censored patient we know two things: first, the patient did not experience the event during follow-up, and second, the patient was only observed up to the censoring time </a:t>
                </a:r>
                <a:r>
                  <a:rPr lang="ar-AE" sz="1200" i="0" kern="1200">
                    <a:solidFill>
                      <a:schemeClr val="tx1"/>
                    </a:solidFill>
                    <a:latin typeface="+mn-lt"/>
                    <a:ea typeface="+mn-ea"/>
                    <a:cs typeface="+mn-cs"/>
                  </a:rPr>
                  <a:t>𝐶_𝑖</a:t>
                </a:r>
                <a:r>
                  <a:rPr lang="ar-AE" dirty="0"/>
                  <a:t>. </a:t>
                </a:r>
                <a:r>
                  <a:rPr lang="en-US" dirty="0"/>
                  <a:t>Beyond </a:t>
                </a:r>
                <a:r>
                  <a:rPr lang="ar-AE" sz="1200" i="0" kern="1200">
                    <a:solidFill>
                      <a:schemeClr val="tx1"/>
                    </a:solidFill>
                    <a:latin typeface="+mn-lt"/>
                    <a:ea typeface="+mn-ea"/>
                    <a:cs typeface="+mn-cs"/>
                  </a:rPr>
                  <a:t>𝐶_𝑖</a:t>
                </a:r>
                <a:r>
                  <a:rPr lang="ar-AE" dirty="0"/>
                  <a:t>, </a:t>
                </a:r>
                <a:r>
                  <a:rPr lang="en-US" dirty="0"/>
                  <a:t>no information is available.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we move to the counterfactual no-treatment world, we transform the observed survival time into </a:t>
                </a:r>
                <a:r>
                  <a:rPr lang="ar-AE" sz="1200" i="0" kern="1200">
                    <a:solidFill>
                      <a:schemeClr val="tx1"/>
                    </a:solidFill>
                    <a:latin typeface="+mn-lt"/>
                    <a:ea typeface="+mn-ea"/>
                    <a:cs typeface="+mn-cs"/>
                  </a:rPr>
                  <a:t>𝑈_𝑖 (𝜓)</a:t>
                </a:r>
                <a:r>
                  <a:rPr lang="ar-AE" dirty="0"/>
                  <a:t>. </a:t>
                </a:r>
                <a:r>
                  <a:rPr lang="en-US" dirty="0"/>
                  <a:t>Importantly, the censoring time must also be transformed to </a:t>
                </a:r>
                <a:r>
                  <a:rPr lang="ar-AE" sz="1200" i="0" kern="1200">
                    <a:solidFill>
                      <a:schemeClr val="tx1"/>
                    </a:solidFill>
                    <a:latin typeface="+mn-lt"/>
                    <a:ea typeface="+mn-ea"/>
                    <a:cs typeface="+mn-cs"/>
                  </a:rPr>
                  <a:t>𝐷_𝑖 (𝜓)</a:t>
                </a:r>
                <a:r>
                  <a:rPr lang="ar-AE" dirty="0"/>
                  <a:t>, </a:t>
                </a:r>
                <a:r>
                  <a:rPr lang="en-US" dirty="0"/>
                  <a:t>because the follow-up process is part of the data-generating mechanism.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problem arises when, after time transformation, the counterfactual analysis might</a:t>
                </a:r>
                <a:r>
                  <a:rPr lang="en-US" baseline="0" dirty="0"/>
                  <a:t> use </a:t>
                </a:r>
                <a:r>
                  <a:rPr lang="en-US" dirty="0"/>
                  <a:t>follow-up time that was never observed in the real data. In particular, evaluating </a:t>
                </a:r>
                <a:r>
                  <a:rPr lang="ar-AE" sz="1200" i="0" kern="1200">
                    <a:solidFill>
                      <a:schemeClr val="tx1"/>
                    </a:solidFill>
                    <a:latin typeface="+mn-lt"/>
                    <a:ea typeface="+mn-ea"/>
                    <a:cs typeface="+mn-cs"/>
                  </a:rPr>
                  <a:t>𝑈_𝑖 (𝜓)</a:t>
                </a:r>
                <a:r>
                  <a:rPr lang="en-US" dirty="0"/>
                  <a:t>beyond the observable follow-up window would rely on information that does not exist in the observed world.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Allowing such information would create artificial follow-up, and potentially artificial events, in the counterfactual world. This violates the consistency principle, which requires that counterfactual outcomes cannot make use of information that was not observed in reality. </a:t>
                </a:r>
                <a:r>
                  <a:rPr lang="en-US" dirty="0" err="1"/>
                  <a:t>Recensoring</a:t>
                </a:r>
                <a:r>
                  <a:rPr lang="en-US" dirty="0"/>
                  <a:t> can prevent this problem by restricting the counterfactual analysis to the original observation window</a:t>
                </a:r>
              </a:p>
              <a:p>
                <a:endParaRPr lang="en-US" dirty="0"/>
              </a:p>
            </p:txBody>
          </p:sp>
        </mc:Fallback>
      </mc:AlternateContent>
      <p:sp>
        <p:nvSpPr>
          <p:cNvPr id="4" name="Slide Number Placeholder 3"/>
          <p:cNvSpPr>
            <a:spLocks noGrp="1"/>
          </p:cNvSpPr>
          <p:nvPr>
            <p:ph type="sldNum" sz="quarter" idx="5"/>
          </p:nvPr>
        </p:nvSpPr>
        <p:spPr/>
        <p:txBody>
          <a:bodyPr/>
          <a:lstStyle/>
          <a:p>
            <a:fld id="{8A2BF43E-1556-4943-8008-D6873F926059}" type="slidenum">
              <a:rPr lang="en-US" smtClean="0"/>
              <a:t>7</a:t>
            </a:fld>
            <a:endParaRPr lang="en-US"/>
          </a:p>
        </p:txBody>
      </p:sp>
    </p:spTree>
    <p:extLst>
      <p:ext uri="{BB962C8B-B14F-4D97-AF65-F5344CB8AC3E}">
        <p14:creationId xmlns:p14="http://schemas.microsoft.com/office/powerpoint/2010/main" val="393730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With re-censoring established, we now turn to the main objective: estimating </a:t>
                </a:r>
                <a:r>
                  <a:rPr lang="en-US" sz="1200" i="0" kern="1200">
                    <a:solidFill>
                      <a:schemeClr val="tx1"/>
                    </a:solidFill>
                    <a:latin typeface="+mn-lt"/>
                    <a:ea typeface="+mn-ea"/>
                    <a:cs typeface="+mn-cs"/>
                  </a:rPr>
                  <a:t>𝜓</a:t>
                </a:r>
                <a:r>
                  <a:rPr lang="en-US" dirty="0"/>
                  <a:t>. As discussed in the previous slides, RPSFTM assumes that treatment changes the </a:t>
                </a:r>
                <a:r>
                  <a:rPr lang="en-US" i="1" dirty="0"/>
                  <a:t>rate at which time passes</a:t>
                </a:r>
                <a:r>
                  <a:rPr lang="en-US" dirty="0"/>
                  <a:t> during the treated period. It therefore defines a counterfactual survival time, </a:t>
                </a:r>
                <a:r>
                  <a:rPr lang="ar-AE" sz="1200" i="0" kern="1200">
                    <a:solidFill>
                      <a:schemeClr val="tx1"/>
                    </a:solidFill>
                    <a:latin typeface="+mn-lt"/>
                    <a:ea typeface="+mn-ea"/>
                    <a:cs typeface="+mn-cs"/>
                  </a:rPr>
                  <a:t>𝑈_𝑖 (𝜓)</a:t>
                </a:r>
                <a:r>
                  <a:rPr lang="ar-AE" dirty="0"/>
                  <a:t>, </a:t>
                </a:r>
                <a:r>
                  <a:rPr lang="en-US" dirty="0"/>
                  <a:t>representing survival in a hypothetical world without treatment. To construct this counterfactual time, the observed survival time is decomposed into two parts. </a:t>
                </a:r>
                <a:r>
                  <a:rPr lang="ar-AE" sz="1200" i="0" kern="1200">
                    <a:solidFill>
                      <a:schemeClr val="tx1"/>
                    </a:solidFill>
                    <a:latin typeface="+mn-lt"/>
                    <a:ea typeface="+mn-ea"/>
                    <a:cs typeface="+mn-cs"/>
                  </a:rPr>
                  <a:t>𝑇_(𝑖,</a:t>
                </a:r>
                <a:r>
                  <a:rPr lang="en-US" sz="1200" b="0" i="0" kern="1200">
                    <a:solidFill>
                      <a:schemeClr val="tx1"/>
                    </a:solidFill>
                    <a:latin typeface="+mn-lt"/>
                    <a:ea typeface="+mn-ea"/>
                    <a:cs typeface="+mn-cs"/>
                  </a:rPr>
                  <a:t>"off</a:t>
                </a:r>
                <a:r>
                  <a:rPr lang="ar-AE" sz="1200" b="0" i="0" kern="1200">
                    <a:solidFill>
                      <a:schemeClr val="tx1"/>
                    </a:solidFill>
                    <a:latin typeface="+mn-lt"/>
                    <a:ea typeface="+mn-ea"/>
                    <a:cs typeface="+mn-cs"/>
                  </a:rPr>
                  <a:t>" )</a:t>
                </a:r>
                <a:r>
                  <a:rPr lang="ar-AE" dirty="0"/>
                  <a:t>—</a:t>
                </a:r>
                <a:r>
                  <a:rPr lang="en-US" dirty="0"/>
                  <a:t>which corresponds to time before crossover in one-way switching trials,</a:t>
                </a:r>
                <a:r>
                  <a:rPr lang="en-US" baseline="0" dirty="0"/>
                  <a:t> and this part </a:t>
                </a:r>
                <a:r>
                  <a:rPr lang="en-US" dirty="0"/>
                  <a:t>remains unchanged. In contrast, the time spent after switching, </a:t>
                </a:r>
                <a:r>
                  <a:rPr lang="ar-AE" sz="1200" i="0" kern="1200">
                    <a:solidFill>
                      <a:schemeClr val="tx1"/>
                    </a:solidFill>
                    <a:latin typeface="+mn-lt"/>
                    <a:ea typeface="+mn-ea"/>
                    <a:cs typeface="+mn-cs"/>
                  </a:rPr>
                  <a:t>𝑇_(𝑖,</a:t>
                </a:r>
                <a:r>
                  <a:rPr lang="en-US" sz="1200" b="0" i="0" kern="1200">
                    <a:solidFill>
                      <a:schemeClr val="tx1"/>
                    </a:solidFill>
                    <a:latin typeface="+mn-lt"/>
                    <a:ea typeface="+mn-ea"/>
                    <a:cs typeface="+mn-cs"/>
                  </a:rPr>
                  <a:t>"on</a:t>
                </a:r>
                <a:r>
                  <a:rPr lang="ar-AE" sz="1200" b="0" i="0" kern="1200">
                    <a:solidFill>
                      <a:schemeClr val="tx1"/>
                    </a:solidFill>
                    <a:latin typeface="+mn-lt"/>
                    <a:ea typeface="+mn-ea"/>
                    <a:cs typeface="+mn-cs"/>
                  </a:rPr>
                  <a:t>" )</a:t>
                </a:r>
                <a:r>
                  <a:rPr lang="ar-AE" dirty="0"/>
                  <a:t>, </a:t>
                </a:r>
                <a:r>
                  <a:rPr lang="en-US" dirty="0"/>
                  <a:t>is rescaled by a factor</a:t>
                </a:r>
                <a:r>
                  <a:rPr lang="en-US" baseline="0" dirty="0"/>
                  <a:t> exp(psi). </a:t>
                </a:r>
                <a:r>
                  <a:rPr lang="en-US" dirty="0"/>
                  <a:t>The term </a:t>
                </a:r>
                <a:r>
                  <a:rPr lang="en-US" baseline="0" dirty="0"/>
                  <a:t>exp(psi)</a:t>
                </a:r>
                <a:r>
                  <a:rPr lang="en-US" dirty="0"/>
                  <a:t> is the </a:t>
                </a:r>
                <a:r>
                  <a:rPr lang="en-US" b="1" dirty="0"/>
                  <a:t>acceleration factor</a:t>
                </a:r>
                <a:r>
                  <a:rPr lang="en-US" dirty="0"/>
                  <a:t>, which quantifies how treatment speeds up or slows down the passage of time and is the key parameter we aim to estimate.</a:t>
                </a:r>
              </a:p>
              <a:p>
                <a:endParaRPr lang="en-US" dirty="0"/>
              </a:p>
              <a:p>
                <a:r>
                  <a:rPr lang="en-US" dirty="0"/>
                  <a:t>Our goal is simply to find a value of </a:t>
                </a:r>
                <a:r>
                  <a:rPr lang="en-US" sz="1200" i="0" kern="1200">
                    <a:solidFill>
                      <a:schemeClr val="tx1"/>
                    </a:solidFill>
                    <a:latin typeface="+mn-lt"/>
                    <a:ea typeface="+mn-ea"/>
                    <a:cs typeface="+mn-cs"/>
                  </a:rPr>
                  <a:t>𝜓</a:t>
                </a:r>
                <a:r>
                  <a:rPr lang="en-US" dirty="0"/>
                  <a:t>that makes the treatment and control groups look the same once we move to the no-treatment time scale. That value of </a:t>
                </a:r>
                <a:r>
                  <a:rPr lang="en-US" sz="1200" i="0" kern="1200">
                    <a:solidFill>
                      <a:schemeClr val="tx1"/>
                    </a:solidFill>
                    <a:latin typeface="+mn-lt"/>
                    <a:ea typeface="+mn-ea"/>
                    <a:cs typeface="+mn-cs"/>
                  </a:rPr>
                  <a:t>𝜓</a:t>
                </a:r>
                <a:r>
                  <a:rPr lang="en-US" sz="1200" b="0" i="0" kern="1200">
                    <a:solidFill>
                      <a:schemeClr val="tx1"/>
                    </a:solidFill>
                    <a:latin typeface="Cambria Math" panose="02040503050406030204" pitchFamily="18" charset="0"/>
                    <a:ea typeface="+mn-ea"/>
                    <a:cs typeface="+mn-cs"/>
                  </a:rPr>
                  <a:t> </a:t>
                </a:r>
                <a:r>
                  <a:rPr lang="en-US" dirty="0"/>
                  <a:t>is our estimate of the treatment effect.</a:t>
                </a:r>
              </a:p>
            </p:txBody>
          </p:sp>
        </mc:Fallback>
      </mc:AlternateContent>
      <p:sp>
        <p:nvSpPr>
          <p:cNvPr id="4" name="Slide Number Placeholder 3"/>
          <p:cNvSpPr>
            <a:spLocks noGrp="1"/>
          </p:cNvSpPr>
          <p:nvPr>
            <p:ph type="sldNum" sz="quarter" idx="5"/>
          </p:nvPr>
        </p:nvSpPr>
        <p:spPr/>
        <p:txBody>
          <a:bodyPr/>
          <a:lstStyle/>
          <a:p>
            <a:fld id="{8A2BF43E-1556-4943-8008-D6873F926059}" type="slidenum">
              <a:rPr lang="en-US" smtClean="0"/>
              <a:t>8</a:t>
            </a:fld>
            <a:endParaRPr lang="en-US"/>
          </a:p>
        </p:txBody>
      </p:sp>
    </p:spTree>
    <p:extLst>
      <p:ext uri="{BB962C8B-B14F-4D97-AF65-F5344CB8AC3E}">
        <p14:creationId xmlns:p14="http://schemas.microsoft.com/office/powerpoint/2010/main" val="2601019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i="1" dirty="0"/>
              </a:p>
            </p:txBody>
          </p:sp>
        </mc:Choice>
        <mc:Fallback xmlns="">
          <p:sp>
            <p:nvSpPr>
              <p:cNvPr id="3" name="Notes Placeholder 2"/>
              <p:cNvSpPr>
                <a:spLocks noGrp="1"/>
              </p:cNvSpPr>
              <p:nvPr>
                <p:ph type="body" idx="1"/>
              </p:nvPr>
            </p:nvSpPr>
            <p:spPr/>
            <p:txBody>
              <a:bodyPr/>
              <a:lstStyle/>
              <a:p>
                <a:r>
                  <a:rPr lang="en-US" dirty="0"/>
                  <a:t>Now, let’s walk through the practical steps of estimating psi for RPSFTM. </a:t>
                </a:r>
              </a:p>
              <a:p>
                <a:endParaRPr lang="en-US" dirty="0"/>
              </a:p>
              <a:p>
                <a:r>
                  <a:rPr lang="en-US" b="1" dirty="0"/>
                  <a:t>Step 1</a:t>
                </a:r>
                <a:r>
                  <a:rPr lang="en-US" dirty="0"/>
                  <a:t> is to set a search range for </a:t>
                </a:r>
                <a:r>
                  <a:rPr lang="en-US" sz="1200" i="0" kern="1200">
                    <a:solidFill>
                      <a:schemeClr val="tx1"/>
                    </a:solidFill>
                    <a:latin typeface="+mn-lt"/>
                    <a:ea typeface="+mn-ea"/>
                    <a:cs typeface="+mn-cs"/>
                  </a:rPr>
                  <a:t>𝜓</a:t>
                </a:r>
                <a:r>
                  <a:rPr lang="en-US" dirty="0"/>
                  <a:t>. There is no single correct range. The goal is simply to choose a range that is wide enough so that the solution lies within the search range.</a:t>
                </a:r>
              </a:p>
              <a:p>
                <a:r>
                  <a:rPr lang="en-US" b="1" dirty="0"/>
                  <a:t>Step 2</a:t>
                </a:r>
                <a:r>
                  <a:rPr lang="en-US" dirty="0"/>
                  <a:t> is repeated for each candidate value of </a:t>
                </a:r>
                <a:r>
                  <a:rPr lang="en-US" sz="1200" i="0" kern="1200">
                    <a:solidFill>
                      <a:schemeClr val="tx1"/>
                    </a:solidFill>
                    <a:latin typeface="+mn-lt"/>
                    <a:ea typeface="+mn-ea"/>
                    <a:cs typeface="+mn-cs"/>
                  </a:rPr>
                  <a:t>𝜓</a:t>
                </a:r>
                <a:r>
                  <a:rPr lang="en-US" dirty="0"/>
                  <a:t>in the grid. First, we compute each subject’s counterfactual survival time on the no-treatment time scale. Second, we apply re-censoring if necessary. This step is crucial because time transformation can induce informative censoring. Re-censoring enforces a common follow-up boundary on the transformed time scale and prevents the use of unobserved follow-up information.</a:t>
                </a:r>
              </a:p>
              <a:p>
                <a:r>
                  <a:rPr lang="en-US" dirty="0"/>
                  <a:t>Third, using the transformed and re-censored data, we apply a survival difference test—such as a log-rank test—to assess whether the counterfactual survival times differ between the treated and the control groups. Formally, we are testing whether the transformed survival times are independent of the randomized treatment assignment.</a:t>
                </a:r>
              </a:p>
              <a:p>
                <a:r>
                  <a:rPr lang="en-US" b="1" dirty="0"/>
                  <a:t>Step 3</a:t>
                </a:r>
                <a:r>
                  <a:rPr lang="en-US" dirty="0"/>
                  <a:t> is to solve for </a:t>
                </a:r>
                <a:r>
                  <a:rPr lang="en-US" sz="1200" i="0" kern="1200">
                    <a:solidFill>
                      <a:schemeClr val="tx1"/>
                    </a:solidFill>
                    <a:latin typeface="+mn-lt"/>
                    <a:ea typeface="+mn-ea"/>
                    <a:cs typeface="+mn-cs"/>
                  </a:rPr>
                  <a:t>𝜓</a:t>
                </a:r>
                <a:r>
                  <a:rPr lang="en-US" dirty="0"/>
                  <a:t>. We search all the psi in the grid, and find the value of </a:t>
                </a:r>
                <a:r>
                  <a:rPr lang="en-US" sz="1200" i="0" kern="1200">
                    <a:solidFill>
                      <a:schemeClr val="tx1"/>
                    </a:solidFill>
                    <a:latin typeface="+mn-lt"/>
                    <a:ea typeface="+mn-ea"/>
                    <a:cs typeface="+mn-cs"/>
                  </a:rPr>
                  <a:t>𝜓</a:t>
                </a:r>
                <a:r>
                  <a:rPr lang="en-US" dirty="0"/>
                  <a:t> at which the survival difference between the two randomized groups disappears. Intuitively, this is the value that makes the treatment and control arms look the same on the no-treatment time scale. This value, denoted </a:t>
                </a:r>
                <a:r>
                  <a:rPr lang="ar-AE" sz="1200" i="0" kern="1200">
                    <a:solidFill>
                      <a:schemeClr val="tx1"/>
                    </a:solidFill>
                    <a:latin typeface="+mn-lt"/>
                    <a:ea typeface="+mn-ea"/>
                    <a:cs typeface="+mn-cs"/>
                  </a:rPr>
                  <a:t>𝜓 ̂</a:t>
                </a:r>
                <a:r>
                  <a:rPr lang="ar-AE" dirty="0"/>
                  <a:t>, </a:t>
                </a:r>
                <a:r>
                  <a:rPr lang="en-US" dirty="0"/>
                  <a:t>is the estimated treatment effect. In practice, confidence intervals for </a:t>
                </a:r>
                <a:r>
                  <a:rPr lang="ar-AE" sz="1200" i="0" kern="1200">
                    <a:solidFill>
                      <a:schemeClr val="tx1"/>
                    </a:solidFill>
                    <a:latin typeface="+mn-lt"/>
                    <a:ea typeface="+mn-ea"/>
                    <a:cs typeface="+mn-cs"/>
                  </a:rPr>
                  <a:t>𝜓 ̂</a:t>
                </a:r>
                <a:r>
                  <a:rPr lang="en-US" dirty="0"/>
                  <a:t> are typically obtained using bootstrap methods.</a:t>
                </a:r>
              </a:p>
              <a:p>
                <a:endParaRPr lang="en-US" dirty="0"/>
              </a:p>
              <a:p>
                <a:r>
                  <a:rPr lang="en-US" dirty="0"/>
                  <a:t>This whole process is called G-estimation.</a:t>
                </a:r>
              </a:p>
              <a:p>
                <a:endParaRPr lang="en-US" dirty="0"/>
              </a:p>
              <a:p>
                <a:endParaRPr lang="en-US" dirty="0"/>
              </a:p>
              <a:p>
                <a:r>
                  <a:rPr lang="en-US" i="1" dirty="0"/>
                  <a:t>Under the structural assumptions of RPSFTM, the estimating equation is expected to have a unique solution. If multiple solutions appear in practice, this usually reflects limited information or instability in the data rather than multiple true treatment effects.</a:t>
                </a:r>
              </a:p>
            </p:txBody>
          </p:sp>
        </mc:Fallback>
      </mc:AlternateContent>
      <p:sp>
        <p:nvSpPr>
          <p:cNvPr id="4" name="Slide Number Placeholder 3"/>
          <p:cNvSpPr>
            <a:spLocks noGrp="1"/>
          </p:cNvSpPr>
          <p:nvPr>
            <p:ph type="sldNum" sz="quarter" idx="5"/>
          </p:nvPr>
        </p:nvSpPr>
        <p:spPr/>
        <p:txBody>
          <a:bodyPr/>
          <a:lstStyle/>
          <a:p>
            <a:fld id="{8A2BF43E-1556-4943-8008-D6873F926059}" type="slidenum">
              <a:rPr lang="en-US" smtClean="0"/>
              <a:t>9</a:t>
            </a:fld>
            <a:endParaRPr lang="en-US"/>
          </a:p>
        </p:txBody>
      </p:sp>
    </p:spTree>
    <p:extLst>
      <p:ext uri="{BB962C8B-B14F-4D97-AF65-F5344CB8AC3E}">
        <p14:creationId xmlns:p14="http://schemas.microsoft.com/office/powerpoint/2010/main" val="2458714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8A2BF43E-1556-4943-8008-D6873F926059}" type="slidenum">
              <a:rPr lang="en-US" smtClean="0"/>
              <a:t>10</a:t>
            </a:fld>
            <a:endParaRPr lang="en-US"/>
          </a:p>
        </p:txBody>
      </p:sp>
    </p:spTree>
    <p:extLst>
      <p:ext uri="{BB962C8B-B14F-4D97-AF65-F5344CB8AC3E}">
        <p14:creationId xmlns:p14="http://schemas.microsoft.com/office/powerpoint/2010/main" val="6497790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2BF43E-1556-4943-8008-D6873F926059}" type="slidenum">
              <a:rPr lang="en-US" smtClean="0"/>
              <a:t>11</a:t>
            </a:fld>
            <a:endParaRPr lang="en-US"/>
          </a:p>
        </p:txBody>
      </p:sp>
    </p:spTree>
    <p:extLst>
      <p:ext uri="{BB962C8B-B14F-4D97-AF65-F5344CB8AC3E}">
        <p14:creationId xmlns:p14="http://schemas.microsoft.com/office/powerpoint/2010/main" val="4150694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2BF43E-1556-4943-8008-D6873F926059}" type="slidenum">
              <a:rPr lang="en-US" smtClean="0"/>
              <a:t>12</a:t>
            </a:fld>
            <a:endParaRPr lang="en-US"/>
          </a:p>
        </p:txBody>
      </p:sp>
    </p:spTree>
    <p:extLst>
      <p:ext uri="{BB962C8B-B14F-4D97-AF65-F5344CB8AC3E}">
        <p14:creationId xmlns:p14="http://schemas.microsoft.com/office/powerpoint/2010/main" val="1944375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2BF43E-1556-4943-8008-D6873F926059}" type="slidenum">
              <a:rPr lang="en-US" smtClean="0"/>
              <a:t>13</a:t>
            </a:fld>
            <a:endParaRPr lang="en-US"/>
          </a:p>
        </p:txBody>
      </p:sp>
    </p:spTree>
    <p:extLst>
      <p:ext uri="{BB962C8B-B14F-4D97-AF65-F5344CB8AC3E}">
        <p14:creationId xmlns:p14="http://schemas.microsoft.com/office/powerpoint/2010/main" val="4286282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2BF43E-1556-4943-8008-D6873F926059}" type="slidenum">
              <a:rPr lang="en-US" smtClean="0"/>
              <a:t>14</a:t>
            </a:fld>
            <a:endParaRPr lang="en-US"/>
          </a:p>
        </p:txBody>
      </p:sp>
    </p:spTree>
    <p:extLst>
      <p:ext uri="{BB962C8B-B14F-4D97-AF65-F5344CB8AC3E}">
        <p14:creationId xmlns:p14="http://schemas.microsoft.com/office/powerpoint/2010/main" val="2441328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7FB31A-F8AF-4500-9677-10A1D497E7C9}" type="slidenum">
              <a:rPr lang="en-US" smtClean="0"/>
              <a:t>15</a:t>
            </a:fld>
            <a:endParaRPr lang="en-US"/>
          </a:p>
        </p:txBody>
      </p:sp>
    </p:spTree>
    <p:extLst>
      <p:ext uri="{BB962C8B-B14F-4D97-AF65-F5344CB8AC3E}">
        <p14:creationId xmlns:p14="http://schemas.microsoft.com/office/powerpoint/2010/main" val="35846486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Instead of using “common treatment assumption”, TSE method uses covariate information in the re-scaling.</a:t>
            </a:r>
          </a:p>
          <a:p>
            <a:endParaRPr lang="en-US" dirty="0"/>
          </a:p>
        </p:txBody>
      </p:sp>
      <p:sp>
        <p:nvSpPr>
          <p:cNvPr id="4" name="Slide Number Placeholder 3"/>
          <p:cNvSpPr>
            <a:spLocks noGrp="1"/>
          </p:cNvSpPr>
          <p:nvPr>
            <p:ph type="sldNum" sz="quarter" idx="5"/>
          </p:nvPr>
        </p:nvSpPr>
        <p:spPr/>
        <p:txBody>
          <a:bodyPr/>
          <a:lstStyle/>
          <a:p>
            <a:fld id="{425966CD-5314-49CC-9AA6-D4C5FC4F6813}" type="slidenum">
              <a:rPr lang="en-US" smtClean="0"/>
              <a:t>16</a:t>
            </a:fld>
            <a:endParaRPr lang="en-US"/>
          </a:p>
        </p:txBody>
      </p:sp>
    </p:spTree>
    <p:extLst>
      <p:ext uri="{BB962C8B-B14F-4D97-AF65-F5344CB8AC3E}">
        <p14:creationId xmlns:p14="http://schemas.microsoft.com/office/powerpoint/2010/main" val="32413942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5966CD-5314-49CC-9AA6-D4C5FC4F6813}" type="slidenum">
              <a:rPr lang="en-US" smtClean="0"/>
              <a:t>17</a:t>
            </a:fld>
            <a:endParaRPr lang="en-US"/>
          </a:p>
        </p:txBody>
      </p:sp>
    </p:spTree>
    <p:extLst>
      <p:ext uri="{BB962C8B-B14F-4D97-AF65-F5344CB8AC3E}">
        <p14:creationId xmlns:p14="http://schemas.microsoft.com/office/powerpoint/2010/main" val="2014571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5966CD-5314-49CC-9AA6-D4C5FC4F6813}" type="slidenum">
              <a:rPr lang="en-US" smtClean="0"/>
              <a:t>18</a:t>
            </a:fld>
            <a:endParaRPr lang="en-US"/>
          </a:p>
        </p:txBody>
      </p:sp>
    </p:spTree>
    <p:extLst>
      <p:ext uri="{BB962C8B-B14F-4D97-AF65-F5344CB8AC3E}">
        <p14:creationId xmlns:p14="http://schemas.microsoft.com/office/powerpoint/2010/main" val="26910092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5966CD-5314-49CC-9AA6-D4C5FC4F6813}" type="slidenum">
              <a:rPr lang="en-US" smtClean="0"/>
              <a:t>19</a:t>
            </a:fld>
            <a:endParaRPr lang="en-US"/>
          </a:p>
        </p:txBody>
      </p:sp>
    </p:spTree>
    <p:extLst>
      <p:ext uri="{BB962C8B-B14F-4D97-AF65-F5344CB8AC3E}">
        <p14:creationId xmlns:p14="http://schemas.microsoft.com/office/powerpoint/2010/main" val="25871018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5966CD-5314-49CC-9AA6-D4C5FC4F6813}" type="slidenum">
              <a:rPr lang="en-US" smtClean="0"/>
              <a:t>41</a:t>
            </a:fld>
            <a:endParaRPr lang="en-US"/>
          </a:p>
        </p:txBody>
      </p:sp>
    </p:spTree>
    <p:extLst>
      <p:ext uri="{BB962C8B-B14F-4D97-AF65-F5344CB8AC3E}">
        <p14:creationId xmlns:p14="http://schemas.microsoft.com/office/powerpoint/2010/main" val="3973973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435E7-6AEF-0D32-1E6F-9C3FCF3DE0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B02F1C-0F6D-A600-C470-C11A77B8D2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4748CA-020E-EEF4-746D-71B1E5759EC5}"/>
              </a:ext>
            </a:extLst>
          </p:cNvPr>
          <p:cNvSpPr>
            <a:spLocks noGrp="1"/>
          </p:cNvSpPr>
          <p:nvPr>
            <p:ph type="dt" sz="half" idx="10"/>
          </p:nvPr>
        </p:nvSpPr>
        <p:spPr/>
        <p:txBody>
          <a:bodyPr/>
          <a:lstStyle/>
          <a:p>
            <a:fld id="{D8991BB1-521D-4241-B394-9124E4C4AA2B}" type="datetimeFigureOut">
              <a:rPr lang="en-US" smtClean="0"/>
              <a:t>1/21/2026</a:t>
            </a:fld>
            <a:endParaRPr lang="en-US"/>
          </a:p>
        </p:txBody>
      </p:sp>
      <p:sp>
        <p:nvSpPr>
          <p:cNvPr id="5" name="Footer Placeholder 4">
            <a:extLst>
              <a:ext uri="{FF2B5EF4-FFF2-40B4-BE49-F238E27FC236}">
                <a16:creationId xmlns:a16="http://schemas.microsoft.com/office/drawing/2014/main" id="{BA5DF927-20D1-2189-8E6D-DADC4CEAB8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92C4CB-D264-5173-3BDD-1EF1D8A76B1F}"/>
              </a:ext>
            </a:extLst>
          </p:cNvPr>
          <p:cNvSpPr>
            <a:spLocks noGrp="1"/>
          </p:cNvSpPr>
          <p:nvPr>
            <p:ph type="sldNum" sz="quarter" idx="12"/>
          </p:nvPr>
        </p:nvSpPr>
        <p:spPr/>
        <p:txBody>
          <a:bodyPr/>
          <a:lstStyle/>
          <a:p>
            <a:fld id="{FA54177C-75AA-4B3F-AE15-1205439295CF}" type="slidenum">
              <a:rPr lang="en-US" smtClean="0"/>
              <a:t>‹#›</a:t>
            </a:fld>
            <a:endParaRPr lang="en-US"/>
          </a:p>
        </p:txBody>
      </p:sp>
    </p:spTree>
    <p:extLst>
      <p:ext uri="{BB962C8B-B14F-4D97-AF65-F5344CB8AC3E}">
        <p14:creationId xmlns:p14="http://schemas.microsoft.com/office/powerpoint/2010/main" val="3783507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52E4-FD62-43D9-D469-EDE6D2488E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FD4A22-F1DF-EED4-0624-2CA2E88000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7628D7-736A-28C1-7259-EA41E93FDC32}"/>
              </a:ext>
            </a:extLst>
          </p:cNvPr>
          <p:cNvSpPr>
            <a:spLocks noGrp="1"/>
          </p:cNvSpPr>
          <p:nvPr>
            <p:ph type="dt" sz="half" idx="10"/>
          </p:nvPr>
        </p:nvSpPr>
        <p:spPr/>
        <p:txBody>
          <a:bodyPr/>
          <a:lstStyle/>
          <a:p>
            <a:fld id="{D8991BB1-521D-4241-B394-9124E4C4AA2B}" type="datetimeFigureOut">
              <a:rPr lang="en-US" smtClean="0"/>
              <a:t>1/21/2026</a:t>
            </a:fld>
            <a:endParaRPr lang="en-US"/>
          </a:p>
        </p:txBody>
      </p:sp>
      <p:sp>
        <p:nvSpPr>
          <p:cNvPr id="5" name="Footer Placeholder 4">
            <a:extLst>
              <a:ext uri="{FF2B5EF4-FFF2-40B4-BE49-F238E27FC236}">
                <a16:creationId xmlns:a16="http://schemas.microsoft.com/office/drawing/2014/main" id="{0B87F52D-74BD-6182-523F-9C0FC376BF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64E0E1-2A6D-768E-DB1B-0CA1C29D70C4}"/>
              </a:ext>
            </a:extLst>
          </p:cNvPr>
          <p:cNvSpPr>
            <a:spLocks noGrp="1"/>
          </p:cNvSpPr>
          <p:nvPr>
            <p:ph type="sldNum" sz="quarter" idx="12"/>
          </p:nvPr>
        </p:nvSpPr>
        <p:spPr/>
        <p:txBody>
          <a:bodyPr/>
          <a:lstStyle/>
          <a:p>
            <a:fld id="{FA54177C-75AA-4B3F-AE15-1205439295CF}" type="slidenum">
              <a:rPr lang="en-US" smtClean="0"/>
              <a:t>‹#›</a:t>
            </a:fld>
            <a:endParaRPr lang="en-US"/>
          </a:p>
        </p:txBody>
      </p:sp>
    </p:spTree>
    <p:extLst>
      <p:ext uri="{BB962C8B-B14F-4D97-AF65-F5344CB8AC3E}">
        <p14:creationId xmlns:p14="http://schemas.microsoft.com/office/powerpoint/2010/main" val="3680697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E00A6-9432-F47A-03EB-AC19A17201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1DB7E2-2931-FB3A-B402-063DF8F3398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2C506A-085B-B3AA-14D9-332FB1CA97D8}"/>
              </a:ext>
            </a:extLst>
          </p:cNvPr>
          <p:cNvSpPr>
            <a:spLocks noGrp="1"/>
          </p:cNvSpPr>
          <p:nvPr>
            <p:ph type="dt" sz="half" idx="10"/>
          </p:nvPr>
        </p:nvSpPr>
        <p:spPr/>
        <p:txBody>
          <a:bodyPr/>
          <a:lstStyle/>
          <a:p>
            <a:fld id="{D8991BB1-521D-4241-B394-9124E4C4AA2B}" type="datetimeFigureOut">
              <a:rPr lang="en-US" smtClean="0"/>
              <a:t>1/21/2026</a:t>
            </a:fld>
            <a:endParaRPr lang="en-US"/>
          </a:p>
        </p:txBody>
      </p:sp>
      <p:sp>
        <p:nvSpPr>
          <p:cNvPr id="5" name="Footer Placeholder 4">
            <a:extLst>
              <a:ext uri="{FF2B5EF4-FFF2-40B4-BE49-F238E27FC236}">
                <a16:creationId xmlns:a16="http://schemas.microsoft.com/office/drawing/2014/main" id="{F313A77C-73A0-DB79-BBA0-54BDB690EC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468EC2-C4AA-F09B-F6BE-3C13009573F1}"/>
              </a:ext>
            </a:extLst>
          </p:cNvPr>
          <p:cNvSpPr>
            <a:spLocks noGrp="1"/>
          </p:cNvSpPr>
          <p:nvPr>
            <p:ph type="sldNum" sz="quarter" idx="12"/>
          </p:nvPr>
        </p:nvSpPr>
        <p:spPr/>
        <p:txBody>
          <a:bodyPr/>
          <a:lstStyle/>
          <a:p>
            <a:fld id="{FA54177C-75AA-4B3F-AE15-1205439295CF}" type="slidenum">
              <a:rPr lang="en-US" smtClean="0"/>
              <a:t>‹#›</a:t>
            </a:fld>
            <a:endParaRPr lang="en-US"/>
          </a:p>
        </p:txBody>
      </p:sp>
    </p:spTree>
    <p:extLst>
      <p:ext uri="{BB962C8B-B14F-4D97-AF65-F5344CB8AC3E}">
        <p14:creationId xmlns:p14="http://schemas.microsoft.com/office/powerpoint/2010/main" val="3684113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D6E83-DDFC-7914-F2CE-8D9DF6AD9E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368145-EA48-A46F-071A-EE980B181F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CFC27C-14CC-8CEE-0E5C-26EE9E6E86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93C0BE-6921-9B38-44B4-AF59A19285F6}"/>
              </a:ext>
            </a:extLst>
          </p:cNvPr>
          <p:cNvSpPr>
            <a:spLocks noGrp="1"/>
          </p:cNvSpPr>
          <p:nvPr>
            <p:ph type="dt" sz="half" idx="10"/>
          </p:nvPr>
        </p:nvSpPr>
        <p:spPr/>
        <p:txBody>
          <a:bodyPr/>
          <a:lstStyle/>
          <a:p>
            <a:fld id="{D8991BB1-521D-4241-B394-9124E4C4AA2B}" type="datetimeFigureOut">
              <a:rPr lang="en-US" smtClean="0"/>
              <a:t>1/21/2026</a:t>
            </a:fld>
            <a:endParaRPr lang="en-US"/>
          </a:p>
        </p:txBody>
      </p:sp>
      <p:sp>
        <p:nvSpPr>
          <p:cNvPr id="6" name="Footer Placeholder 5">
            <a:extLst>
              <a:ext uri="{FF2B5EF4-FFF2-40B4-BE49-F238E27FC236}">
                <a16:creationId xmlns:a16="http://schemas.microsoft.com/office/drawing/2014/main" id="{835379A6-F704-046E-E76D-0B9C8348F9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A601B3-7F02-BF28-F4A0-84BF12C4854E}"/>
              </a:ext>
            </a:extLst>
          </p:cNvPr>
          <p:cNvSpPr>
            <a:spLocks noGrp="1"/>
          </p:cNvSpPr>
          <p:nvPr>
            <p:ph type="sldNum" sz="quarter" idx="12"/>
          </p:nvPr>
        </p:nvSpPr>
        <p:spPr/>
        <p:txBody>
          <a:bodyPr/>
          <a:lstStyle/>
          <a:p>
            <a:fld id="{FA54177C-75AA-4B3F-AE15-1205439295CF}" type="slidenum">
              <a:rPr lang="en-US" smtClean="0"/>
              <a:t>‹#›</a:t>
            </a:fld>
            <a:endParaRPr lang="en-US"/>
          </a:p>
        </p:txBody>
      </p:sp>
    </p:spTree>
    <p:extLst>
      <p:ext uri="{BB962C8B-B14F-4D97-AF65-F5344CB8AC3E}">
        <p14:creationId xmlns:p14="http://schemas.microsoft.com/office/powerpoint/2010/main" val="3861947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D38A-E8A0-C1B4-079A-E3CB9AFE3D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160151-D79B-5DDB-DABC-B79D745C4B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3D2B34-22CC-1E63-7328-A0C9FD539E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720C67-7630-615B-5250-7625BC7A14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3C4C2F-F865-497C-6D52-747D75A188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1E14EB-B11F-2851-FB84-618EC25F0085}"/>
              </a:ext>
            </a:extLst>
          </p:cNvPr>
          <p:cNvSpPr>
            <a:spLocks noGrp="1"/>
          </p:cNvSpPr>
          <p:nvPr>
            <p:ph type="dt" sz="half" idx="10"/>
          </p:nvPr>
        </p:nvSpPr>
        <p:spPr/>
        <p:txBody>
          <a:bodyPr/>
          <a:lstStyle/>
          <a:p>
            <a:fld id="{D8991BB1-521D-4241-B394-9124E4C4AA2B}" type="datetimeFigureOut">
              <a:rPr lang="en-US" smtClean="0"/>
              <a:t>1/21/2026</a:t>
            </a:fld>
            <a:endParaRPr lang="en-US"/>
          </a:p>
        </p:txBody>
      </p:sp>
      <p:sp>
        <p:nvSpPr>
          <p:cNvPr id="8" name="Footer Placeholder 7">
            <a:extLst>
              <a:ext uri="{FF2B5EF4-FFF2-40B4-BE49-F238E27FC236}">
                <a16:creationId xmlns:a16="http://schemas.microsoft.com/office/drawing/2014/main" id="{B4EA710A-D4E5-7AA8-4702-21ADFCF23E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0C5597-7109-91D5-D2BF-334DDFA5179C}"/>
              </a:ext>
            </a:extLst>
          </p:cNvPr>
          <p:cNvSpPr>
            <a:spLocks noGrp="1"/>
          </p:cNvSpPr>
          <p:nvPr>
            <p:ph type="sldNum" sz="quarter" idx="12"/>
          </p:nvPr>
        </p:nvSpPr>
        <p:spPr/>
        <p:txBody>
          <a:bodyPr/>
          <a:lstStyle/>
          <a:p>
            <a:fld id="{FA54177C-75AA-4B3F-AE15-1205439295CF}" type="slidenum">
              <a:rPr lang="en-US" smtClean="0"/>
              <a:t>‹#›</a:t>
            </a:fld>
            <a:endParaRPr lang="en-US"/>
          </a:p>
        </p:txBody>
      </p:sp>
    </p:spTree>
    <p:extLst>
      <p:ext uri="{BB962C8B-B14F-4D97-AF65-F5344CB8AC3E}">
        <p14:creationId xmlns:p14="http://schemas.microsoft.com/office/powerpoint/2010/main" val="1380347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E2F2F-440E-91CF-68AF-6C204BC7A2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009CEC-4FBE-F775-FF6B-D978D5F959AA}"/>
              </a:ext>
            </a:extLst>
          </p:cNvPr>
          <p:cNvSpPr>
            <a:spLocks noGrp="1"/>
          </p:cNvSpPr>
          <p:nvPr>
            <p:ph type="dt" sz="half" idx="10"/>
          </p:nvPr>
        </p:nvSpPr>
        <p:spPr/>
        <p:txBody>
          <a:bodyPr/>
          <a:lstStyle/>
          <a:p>
            <a:fld id="{D8991BB1-521D-4241-B394-9124E4C4AA2B}" type="datetimeFigureOut">
              <a:rPr lang="en-US" smtClean="0"/>
              <a:t>1/21/2026</a:t>
            </a:fld>
            <a:endParaRPr lang="en-US"/>
          </a:p>
        </p:txBody>
      </p:sp>
      <p:sp>
        <p:nvSpPr>
          <p:cNvPr id="4" name="Footer Placeholder 3">
            <a:extLst>
              <a:ext uri="{FF2B5EF4-FFF2-40B4-BE49-F238E27FC236}">
                <a16:creationId xmlns:a16="http://schemas.microsoft.com/office/drawing/2014/main" id="{41E337BA-A52E-B320-649A-67EF1EF025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86E8BF-2A36-D564-D55A-06EA341A00AB}"/>
              </a:ext>
            </a:extLst>
          </p:cNvPr>
          <p:cNvSpPr>
            <a:spLocks noGrp="1"/>
          </p:cNvSpPr>
          <p:nvPr>
            <p:ph type="sldNum" sz="quarter" idx="12"/>
          </p:nvPr>
        </p:nvSpPr>
        <p:spPr/>
        <p:txBody>
          <a:bodyPr/>
          <a:lstStyle/>
          <a:p>
            <a:fld id="{FA54177C-75AA-4B3F-AE15-1205439295CF}" type="slidenum">
              <a:rPr lang="en-US" smtClean="0"/>
              <a:t>‹#›</a:t>
            </a:fld>
            <a:endParaRPr lang="en-US"/>
          </a:p>
        </p:txBody>
      </p:sp>
    </p:spTree>
    <p:extLst>
      <p:ext uri="{BB962C8B-B14F-4D97-AF65-F5344CB8AC3E}">
        <p14:creationId xmlns:p14="http://schemas.microsoft.com/office/powerpoint/2010/main" val="2082825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A2D685-3BA3-AEE1-800F-81FA9E0EF2B0}"/>
              </a:ext>
            </a:extLst>
          </p:cNvPr>
          <p:cNvSpPr>
            <a:spLocks noGrp="1"/>
          </p:cNvSpPr>
          <p:nvPr>
            <p:ph type="dt" sz="half" idx="10"/>
          </p:nvPr>
        </p:nvSpPr>
        <p:spPr/>
        <p:txBody>
          <a:bodyPr/>
          <a:lstStyle/>
          <a:p>
            <a:fld id="{D8991BB1-521D-4241-B394-9124E4C4AA2B}" type="datetimeFigureOut">
              <a:rPr lang="en-US" smtClean="0"/>
              <a:t>1/21/2026</a:t>
            </a:fld>
            <a:endParaRPr lang="en-US"/>
          </a:p>
        </p:txBody>
      </p:sp>
      <p:sp>
        <p:nvSpPr>
          <p:cNvPr id="3" name="Footer Placeholder 2">
            <a:extLst>
              <a:ext uri="{FF2B5EF4-FFF2-40B4-BE49-F238E27FC236}">
                <a16:creationId xmlns:a16="http://schemas.microsoft.com/office/drawing/2014/main" id="{B595DDD0-B5A3-A20A-DF9A-4A99D0EC9A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63FDB0-455D-6592-FB43-0029B9903DEF}"/>
              </a:ext>
            </a:extLst>
          </p:cNvPr>
          <p:cNvSpPr>
            <a:spLocks noGrp="1"/>
          </p:cNvSpPr>
          <p:nvPr>
            <p:ph type="sldNum" sz="quarter" idx="12"/>
          </p:nvPr>
        </p:nvSpPr>
        <p:spPr/>
        <p:txBody>
          <a:bodyPr/>
          <a:lstStyle/>
          <a:p>
            <a:fld id="{FA54177C-75AA-4B3F-AE15-1205439295CF}" type="slidenum">
              <a:rPr lang="en-US" smtClean="0"/>
              <a:t>‹#›</a:t>
            </a:fld>
            <a:endParaRPr lang="en-US"/>
          </a:p>
        </p:txBody>
      </p:sp>
    </p:spTree>
    <p:extLst>
      <p:ext uri="{BB962C8B-B14F-4D97-AF65-F5344CB8AC3E}">
        <p14:creationId xmlns:p14="http://schemas.microsoft.com/office/powerpoint/2010/main" val="4236680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7FCE7-5D20-59FA-CD4B-7781C8510F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9B30AB-3707-8242-E25D-38FF46ACA0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583098-84C4-D5B6-77F7-BFDC51F3AD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9238CB-8928-803A-908B-E7B0C6C2ACA9}"/>
              </a:ext>
            </a:extLst>
          </p:cNvPr>
          <p:cNvSpPr>
            <a:spLocks noGrp="1"/>
          </p:cNvSpPr>
          <p:nvPr>
            <p:ph type="dt" sz="half" idx="10"/>
          </p:nvPr>
        </p:nvSpPr>
        <p:spPr/>
        <p:txBody>
          <a:bodyPr/>
          <a:lstStyle/>
          <a:p>
            <a:fld id="{D8991BB1-521D-4241-B394-9124E4C4AA2B}" type="datetimeFigureOut">
              <a:rPr lang="en-US" smtClean="0"/>
              <a:t>1/21/2026</a:t>
            </a:fld>
            <a:endParaRPr lang="en-US"/>
          </a:p>
        </p:txBody>
      </p:sp>
      <p:sp>
        <p:nvSpPr>
          <p:cNvPr id="6" name="Footer Placeholder 5">
            <a:extLst>
              <a:ext uri="{FF2B5EF4-FFF2-40B4-BE49-F238E27FC236}">
                <a16:creationId xmlns:a16="http://schemas.microsoft.com/office/drawing/2014/main" id="{E653F785-9F5F-EFA5-3E79-5E580A39CB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C83159-B641-7677-779F-FC9A824460F8}"/>
              </a:ext>
            </a:extLst>
          </p:cNvPr>
          <p:cNvSpPr>
            <a:spLocks noGrp="1"/>
          </p:cNvSpPr>
          <p:nvPr>
            <p:ph type="sldNum" sz="quarter" idx="12"/>
          </p:nvPr>
        </p:nvSpPr>
        <p:spPr/>
        <p:txBody>
          <a:bodyPr/>
          <a:lstStyle/>
          <a:p>
            <a:fld id="{FA54177C-75AA-4B3F-AE15-1205439295CF}" type="slidenum">
              <a:rPr lang="en-US" smtClean="0"/>
              <a:t>‹#›</a:t>
            </a:fld>
            <a:endParaRPr lang="en-US"/>
          </a:p>
        </p:txBody>
      </p:sp>
    </p:spTree>
    <p:extLst>
      <p:ext uri="{BB962C8B-B14F-4D97-AF65-F5344CB8AC3E}">
        <p14:creationId xmlns:p14="http://schemas.microsoft.com/office/powerpoint/2010/main" val="2768959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E167B-FA86-FB6F-86B7-34EAEF80CC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8EB852-957A-691E-21F8-98C6CC524E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968698-E3D5-5424-E4B3-143F4B5F8A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B96B15-239C-B5FD-B411-A7672743AB78}"/>
              </a:ext>
            </a:extLst>
          </p:cNvPr>
          <p:cNvSpPr>
            <a:spLocks noGrp="1"/>
          </p:cNvSpPr>
          <p:nvPr>
            <p:ph type="dt" sz="half" idx="10"/>
          </p:nvPr>
        </p:nvSpPr>
        <p:spPr/>
        <p:txBody>
          <a:bodyPr/>
          <a:lstStyle/>
          <a:p>
            <a:fld id="{D8991BB1-521D-4241-B394-9124E4C4AA2B}" type="datetimeFigureOut">
              <a:rPr lang="en-US" smtClean="0"/>
              <a:t>1/21/2026</a:t>
            </a:fld>
            <a:endParaRPr lang="en-US"/>
          </a:p>
        </p:txBody>
      </p:sp>
      <p:sp>
        <p:nvSpPr>
          <p:cNvPr id="6" name="Footer Placeholder 5">
            <a:extLst>
              <a:ext uri="{FF2B5EF4-FFF2-40B4-BE49-F238E27FC236}">
                <a16:creationId xmlns:a16="http://schemas.microsoft.com/office/drawing/2014/main" id="{15D84D94-6A96-A72A-78CC-31B43B0801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EC3FEC-4E34-8DB3-F428-1D114BA95DBA}"/>
              </a:ext>
            </a:extLst>
          </p:cNvPr>
          <p:cNvSpPr>
            <a:spLocks noGrp="1"/>
          </p:cNvSpPr>
          <p:nvPr>
            <p:ph type="sldNum" sz="quarter" idx="12"/>
          </p:nvPr>
        </p:nvSpPr>
        <p:spPr/>
        <p:txBody>
          <a:bodyPr/>
          <a:lstStyle/>
          <a:p>
            <a:fld id="{FA54177C-75AA-4B3F-AE15-1205439295CF}" type="slidenum">
              <a:rPr lang="en-US" smtClean="0"/>
              <a:t>‹#›</a:t>
            </a:fld>
            <a:endParaRPr lang="en-US"/>
          </a:p>
        </p:txBody>
      </p:sp>
    </p:spTree>
    <p:extLst>
      <p:ext uri="{BB962C8B-B14F-4D97-AF65-F5344CB8AC3E}">
        <p14:creationId xmlns:p14="http://schemas.microsoft.com/office/powerpoint/2010/main" val="2158259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5DC4F-6E23-02DB-3AAB-DD1A42351E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BF86B3-E425-9B78-A373-2096D8B8DE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7C67FC-C320-5F7B-A8F3-87380A993E05}"/>
              </a:ext>
            </a:extLst>
          </p:cNvPr>
          <p:cNvSpPr>
            <a:spLocks noGrp="1"/>
          </p:cNvSpPr>
          <p:nvPr>
            <p:ph type="dt" sz="half" idx="10"/>
          </p:nvPr>
        </p:nvSpPr>
        <p:spPr/>
        <p:txBody>
          <a:bodyPr/>
          <a:lstStyle/>
          <a:p>
            <a:fld id="{D8991BB1-521D-4241-B394-9124E4C4AA2B}" type="datetimeFigureOut">
              <a:rPr lang="en-US" smtClean="0"/>
              <a:t>1/21/2026</a:t>
            </a:fld>
            <a:endParaRPr lang="en-US"/>
          </a:p>
        </p:txBody>
      </p:sp>
      <p:sp>
        <p:nvSpPr>
          <p:cNvPr id="5" name="Footer Placeholder 4">
            <a:extLst>
              <a:ext uri="{FF2B5EF4-FFF2-40B4-BE49-F238E27FC236}">
                <a16:creationId xmlns:a16="http://schemas.microsoft.com/office/drawing/2014/main" id="{AAA36FEA-EA1B-4722-8717-27AC64D582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EB6DFF-0409-46F0-03A0-BFEDAE0CF703}"/>
              </a:ext>
            </a:extLst>
          </p:cNvPr>
          <p:cNvSpPr>
            <a:spLocks noGrp="1"/>
          </p:cNvSpPr>
          <p:nvPr>
            <p:ph type="sldNum" sz="quarter" idx="12"/>
          </p:nvPr>
        </p:nvSpPr>
        <p:spPr/>
        <p:txBody>
          <a:bodyPr/>
          <a:lstStyle/>
          <a:p>
            <a:fld id="{FA54177C-75AA-4B3F-AE15-1205439295CF}" type="slidenum">
              <a:rPr lang="en-US" smtClean="0"/>
              <a:t>‹#›</a:t>
            </a:fld>
            <a:endParaRPr lang="en-US"/>
          </a:p>
        </p:txBody>
      </p:sp>
    </p:spTree>
    <p:extLst>
      <p:ext uri="{BB962C8B-B14F-4D97-AF65-F5344CB8AC3E}">
        <p14:creationId xmlns:p14="http://schemas.microsoft.com/office/powerpoint/2010/main" val="1118084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918F59-01F5-DC67-0DD3-43F660BF8D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7281EB-DD87-DD84-F28A-B11DFB4BA2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E4D307-DD0F-6479-6B7E-7AA40D6F72E9}"/>
              </a:ext>
            </a:extLst>
          </p:cNvPr>
          <p:cNvSpPr>
            <a:spLocks noGrp="1"/>
          </p:cNvSpPr>
          <p:nvPr>
            <p:ph type="dt" sz="half" idx="10"/>
          </p:nvPr>
        </p:nvSpPr>
        <p:spPr/>
        <p:txBody>
          <a:bodyPr/>
          <a:lstStyle/>
          <a:p>
            <a:fld id="{D8991BB1-521D-4241-B394-9124E4C4AA2B}" type="datetimeFigureOut">
              <a:rPr lang="en-US" smtClean="0"/>
              <a:t>1/21/2026</a:t>
            </a:fld>
            <a:endParaRPr lang="en-US"/>
          </a:p>
        </p:txBody>
      </p:sp>
      <p:sp>
        <p:nvSpPr>
          <p:cNvPr id="5" name="Footer Placeholder 4">
            <a:extLst>
              <a:ext uri="{FF2B5EF4-FFF2-40B4-BE49-F238E27FC236}">
                <a16:creationId xmlns:a16="http://schemas.microsoft.com/office/drawing/2014/main" id="{526261C4-0641-A4E6-A5EA-6349A38172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085542-2B33-AE99-5315-8F1D2208DFCD}"/>
              </a:ext>
            </a:extLst>
          </p:cNvPr>
          <p:cNvSpPr>
            <a:spLocks noGrp="1"/>
          </p:cNvSpPr>
          <p:nvPr>
            <p:ph type="sldNum" sz="quarter" idx="12"/>
          </p:nvPr>
        </p:nvSpPr>
        <p:spPr/>
        <p:txBody>
          <a:bodyPr/>
          <a:lstStyle/>
          <a:p>
            <a:fld id="{FA54177C-75AA-4B3F-AE15-1205439295CF}" type="slidenum">
              <a:rPr lang="en-US" smtClean="0"/>
              <a:t>‹#›</a:t>
            </a:fld>
            <a:endParaRPr lang="en-US"/>
          </a:p>
        </p:txBody>
      </p:sp>
    </p:spTree>
    <p:extLst>
      <p:ext uri="{BB962C8B-B14F-4D97-AF65-F5344CB8AC3E}">
        <p14:creationId xmlns:p14="http://schemas.microsoft.com/office/powerpoint/2010/main" val="286611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B45078-0827-B278-377D-9F67A4EE2D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D1161D-A1D4-1812-193A-A041EDD83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F76DB6-DFDA-F3CE-F62E-8C964567A1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991BB1-521D-4241-B394-9124E4C4AA2B}" type="datetimeFigureOut">
              <a:rPr lang="en-US" smtClean="0"/>
              <a:t>1/21/2026</a:t>
            </a:fld>
            <a:endParaRPr lang="en-US"/>
          </a:p>
        </p:txBody>
      </p:sp>
      <p:sp>
        <p:nvSpPr>
          <p:cNvPr id="5" name="Footer Placeholder 4">
            <a:extLst>
              <a:ext uri="{FF2B5EF4-FFF2-40B4-BE49-F238E27FC236}">
                <a16:creationId xmlns:a16="http://schemas.microsoft.com/office/drawing/2014/main" id="{4905225E-43F2-2C1B-D355-31C945FF27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AB074A-BA51-95F0-3012-D35C05B978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54177C-75AA-4B3F-AE15-1205439295CF}" type="slidenum">
              <a:rPr lang="en-US" smtClean="0"/>
              <a:t>‹#›</a:t>
            </a:fld>
            <a:endParaRPr lang="en-US"/>
          </a:p>
        </p:txBody>
      </p:sp>
    </p:spTree>
    <p:extLst>
      <p:ext uri="{BB962C8B-B14F-4D97-AF65-F5344CB8AC3E}">
        <p14:creationId xmlns:p14="http://schemas.microsoft.com/office/powerpoint/2010/main" val="3095570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cran.r-project.org/web/packages/rpsftm/vignettes/rpsftm_vignette.ht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3.xml"/><Relationship Id="rId5" Type="http://schemas.openxmlformats.org/officeDocument/2006/relationships/diagramQuickStyle" Target="../diagrams/quickStyle3.xml"/><Relationship Id="rId10"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7DBE615-83F6-33B2-4293-B2E7D714ECB1}"/>
              </a:ext>
            </a:extLst>
          </p:cNvPr>
          <p:cNvSpPr>
            <a:spLocks noGrp="1"/>
          </p:cNvSpPr>
          <p:nvPr>
            <p:ph type="ctrTitle"/>
          </p:nvPr>
        </p:nvSpPr>
        <p:spPr>
          <a:xfrm>
            <a:off x="1524000" y="1122363"/>
            <a:ext cx="9144000" cy="2387600"/>
          </a:xfrm>
        </p:spPr>
        <p:txBody>
          <a:bodyPr>
            <a:normAutofit fontScale="90000"/>
          </a:bodyPr>
          <a:lstStyle/>
          <a:p>
            <a:r>
              <a:rPr lang="en-US" dirty="0"/>
              <a:t>Survival Analysis Methods Correcting  for Treatment Switching Effects in  RCTs: Theory and SAS/R Code (Part II)</a:t>
            </a:r>
          </a:p>
        </p:txBody>
      </p:sp>
      <p:sp>
        <p:nvSpPr>
          <p:cNvPr id="5" name="Subtitle 2">
            <a:extLst>
              <a:ext uri="{FF2B5EF4-FFF2-40B4-BE49-F238E27FC236}">
                <a16:creationId xmlns:a16="http://schemas.microsoft.com/office/drawing/2014/main" id="{B9FD5DF3-9113-073B-FB01-B946120D22F6}"/>
              </a:ext>
            </a:extLst>
          </p:cNvPr>
          <p:cNvSpPr>
            <a:spLocks noGrp="1"/>
          </p:cNvSpPr>
          <p:nvPr>
            <p:ph type="subTitle" idx="1"/>
          </p:nvPr>
        </p:nvSpPr>
        <p:spPr>
          <a:xfrm>
            <a:off x="1524000" y="3602038"/>
            <a:ext cx="9144000" cy="1655762"/>
          </a:xfrm>
        </p:spPr>
        <p:txBody>
          <a:bodyPr>
            <a:normAutofit/>
          </a:bodyPr>
          <a:lstStyle/>
          <a:p>
            <a:endParaRPr lang="en-US" dirty="0"/>
          </a:p>
          <a:p>
            <a:r>
              <a:rPr lang="en-US" dirty="0"/>
              <a:t>ASA short course recap</a:t>
            </a:r>
          </a:p>
          <a:p>
            <a:r>
              <a:rPr lang="en-US" dirty="0"/>
              <a:t>Wenyi Fan, Biwei Cao</a:t>
            </a:r>
          </a:p>
        </p:txBody>
      </p:sp>
    </p:spTree>
    <p:extLst>
      <p:ext uri="{BB962C8B-B14F-4D97-AF65-F5344CB8AC3E}">
        <p14:creationId xmlns:p14="http://schemas.microsoft.com/office/powerpoint/2010/main" val="884635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053B3-1221-9588-4821-F7568BEFAA2E}"/>
              </a:ext>
            </a:extLst>
          </p:cNvPr>
          <p:cNvSpPr>
            <a:spLocks noGrp="1"/>
          </p:cNvSpPr>
          <p:nvPr>
            <p:ph type="title"/>
          </p:nvPr>
        </p:nvSpPr>
        <p:spPr/>
        <p:txBody>
          <a:bodyPr/>
          <a:lstStyle/>
          <a:p>
            <a:r>
              <a:rPr lang="en-US" dirty="0"/>
              <a:t>Recap</a:t>
            </a:r>
            <a:br>
              <a:rPr lang="en-US" dirty="0"/>
            </a:br>
            <a:r>
              <a:rPr lang="en-US" sz="3200" i="1" dirty="0"/>
              <a:t>Why Treatment-Switching Is a Problem</a:t>
            </a:r>
            <a:endParaRPr lang="en-US" i="1" dirty="0"/>
          </a:p>
        </p:txBody>
      </p:sp>
      <p:sp>
        <p:nvSpPr>
          <p:cNvPr id="3" name="Content Placeholder 2">
            <a:extLst>
              <a:ext uri="{FF2B5EF4-FFF2-40B4-BE49-F238E27FC236}">
                <a16:creationId xmlns:a16="http://schemas.microsoft.com/office/drawing/2014/main" id="{01AF2408-1E48-42C0-F471-18D7F63A37FA}"/>
              </a:ext>
            </a:extLst>
          </p:cNvPr>
          <p:cNvSpPr>
            <a:spLocks noGrp="1"/>
          </p:cNvSpPr>
          <p:nvPr>
            <p:ph idx="1"/>
          </p:nvPr>
        </p:nvSpPr>
        <p:spPr>
          <a:xfrm>
            <a:off x="838200" y="2075005"/>
            <a:ext cx="10515600" cy="4556125"/>
          </a:xfrm>
        </p:spPr>
        <p:txBody>
          <a:bodyPr/>
          <a:lstStyle/>
          <a:p>
            <a:r>
              <a:rPr lang="en-US" dirty="0"/>
              <a:t>Treatment switching is common in oncology trials</a:t>
            </a:r>
            <a:br>
              <a:rPr lang="en-US" dirty="0"/>
            </a:br>
            <a:r>
              <a:rPr lang="en-US" dirty="0"/>
              <a:t>e.g., progression → crossover to active therapy</a:t>
            </a:r>
          </a:p>
          <a:p>
            <a:r>
              <a:rPr lang="en-US" dirty="0"/>
              <a:t>Leads to non-compliance and post-randomization confounding</a:t>
            </a:r>
          </a:p>
          <a:p>
            <a:r>
              <a:rPr lang="en-US" dirty="0"/>
              <a:t>ITT preserves randomization but </a:t>
            </a:r>
            <a:r>
              <a:rPr lang="en-US" b="1" dirty="0"/>
              <a:t>treatment effect is diluted or biased</a:t>
            </a:r>
          </a:p>
          <a:p>
            <a:pPr lvl="1"/>
            <a:r>
              <a:rPr lang="en-US" dirty="0"/>
              <a:t>One-way Switching</a:t>
            </a:r>
          </a:p>
          <a:p>
            <a:pPr lvl="1"/>
            <a:r>
              <a:rPr lang="en-US" dirty="0"/>
              <a:t>Two-way Switching</a:t>
            </a:r>
          </a:p>
          <a:p>
            <a:r>
              <a:rPr lang="en-US" dirty="0"/>
              <a:t>Need causal methods to reconstruct a “no-switching” counterfactual</a:t>
            </a:r>
          </a:p>
        </p:txBody>
      </p:sp>
    </p:spTree>
    <p:extLst>
      <p:ext uri="{BB962C8B-B14F-4D97-AF65-F5344CB8AC3E}">
        <p14:creationId xmlns:p14="http://schemas.microsoft.com/office/powerpoint/2010/main" val="547832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extBox 4">
            <a:extLst>
              <a:ext uri="{FF2B5EF4-FFF2-40B4-BE49-F238E27FC236}">
                <a16:creationId xmlns:a16="http://schemas.microsoft.com/office/drawing/2014/main" id="{8BA53C71-CAC1-9B55-09DC-71B4EE4B283D}"/>
              </a:ext>
            </a:extLst>
          </p:cNvPr>
          <p:cNvGraphicFramePr/>
          <p:nvPr>
            <p:extLst>
              <p:ext uri="{D42A27DB-BD31-4B8C-83A1-F6EECF244321}">
                <p14:modId xmlns:p14="http://schemas.microsoft.com/office/powerpoint/2010/main" val="3922192480"/>
              </p:ext>
            </p:extLst>
          </p:nvPr>
        </p:nvGraphicFramePr>
        <p:xfrm>
          <a:off x="544141" y="1489462"/>
          <a:ext cx="11103718" cy="3879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1385E1BF-6EC2-A1BE-9058-684A4125A512}"/>
              </a:ext>
            </a:extLst>
          </p:cNvPr>
          <p:cNvSpPr txBox="1"/>
          <p:nvPr/>
        </p:nvSpPr>
        <p:spPr>
          <a:xfrm>
            <a:off x="447675" y="371475"/>
            <a:ext cx="6743000" cy="646331"/>
          </a:xfrm>
          <a:prstGeom prst="rect">
            <a:avLst/>
          </a:prstGeom>
          <a:noFill/>
        </p:spPr>
        <p:txBody>
          <a:bodyPr wrap="none" rtlCol="0">
            <a:spAutoFit/>
          </a:bodyPr>
          <a:lstStyle/>
          <a:p>
            <a:r>
              <a:rPr lang="en-US" sz="3600" b="1" dirty="0"/>
              <a:t>Four Causal Inference Methods</a:t>
            </a:r>
          </a:p>
        </p:txBody>
      </p:sp>
    </p:spTree>
    <p:extLst>
      <p:ext uri="{BB962C8B-B14F-4D97-AF65-F5344CB8AC3E}">
        <p14:creationId xmlns:p14="http://schemas.microsoft.com/office/powerpoint/2010/main" val="2696821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C3A4C-7936-9587-C2B5-88A2F9A827BA}"/>
              </a:ext>
            </a:extLst>
          </p:cNvPr>
          <p:cNvSpPr>
            <a:spLocks noGrp="1"/>
          </p:cNvSpPr>
          <p:nvPr>
            <p:ph type="title"/>
          </p:nvPr>
        </p:nvSpPr>
        <p:spPr>
          <a:xfrm>
            <a:off x="123305" y="-117013"/>
            <a:ext cx="10515600" cy="1325563"/>
          </a:xfrm>
        </p:spPr>
        <p:txBody>
          <a:bodyPr/>
          <a:lstStyle/>
          <a:p>
            <a:r>
              <a:rPr lang="en-US" dirty="0"/>
              <a:t>Recap</a:t>
            </a:r>
            <a:br>
              <a:rPr lang="en-US" dirty="0"/>
            </a:br>
            <a:r>
              <a:rPr lang="en-US" sz="3200" i="1" dirty="0"/>
              <a:t>Weighting Methods</a:t>
            </a:r>
            <a:endParaRPr lang="en-US" i="1" dirty="0"/>
          </a:p>
        </p:txBody>
      </p:sp>
      <p:sp>
        <p:nvSpPr>
          <p:cNvPr id="3" name="Content Placeholder 2">
            <a:extLst>
              <a:ext uri="{FF2B5EF4-FFF2-40B4-BE49-F238E27FC236}">
                <a16:creationId xmlns:a16="http://schemas.microsoft.com/office/drawing/2014/main" id="{74A2E84A-0B57-CB0B-194A-0172BE77B278}"/>
              </a:ext>
            </a:extLst>
          </p:cNvPr>
          <p:cNvSpPr>
            <a:spLocks noGrp="1"/>
          </p:cNvSpPr>
          <p:nvPr>
            <p:ph idx="1"/>
          </p:nvPr>
        </p:nvSpPr>
        <p:spPr>
          <a:xfrm>
            <a:off x="356062" y="1253331"/>
            <a:ext cx="11231880" cy="4351338"/>
          </a:xfrm>
        </p:spPr>
        <p:txBody>
          <a:bodyPr/>
          <a:lstStyle/>
          <a:p>
            <a:r>
              <a:rPr lang="en-US" dirty="0"/>
              <a:t>MSM handles time-dependent confounding</a:t>
            </a:r>
          </a:p>
          <a:p>
            <a:r>
              <a:rPr lang="en-US" dirty="0"/>
              <a:t>IPCW addresses informative censoring</a:t>
            </a:r>
          </a:p>
          <a:p>
            <a:r>
              <a:rPr lang="en-US" dirty="0"/>
              <a:t>Both are </a:t>
            </a:r>
            <a:r>
              <a:rPr lang="en-US" b="1" dirty="0"/>
              <a:t>weighting-based methods </a:t>
            </a:r>
            <a:r>
              <a:rPr lang="en-US" dirty="0"/>
              <a:t>(inverse-probability weighting)</a:t>
            </a:r>
            <a:br>
              <a:rPr lang="en-US" dirty="0"/>
            </a:br>
            <a:r>
              <a:rPr lang="en-US" dirty="0"/>
              <a:t>— create a pseudo-population where treatment &amp; censoring behave “as-if random”</a:t>
            </a:r>
          </a:p>
          <a:p>
            <a:r>
              <a:rPr lang="en-US" dirty="0"/>
              <a:t>Assumptions:</a:t>
            </a:r>
          </a:p>
          <a:p>
            <a:endParaRPr lang="en-US" dirty="0"/>
          </a:p>
        </p:txBody>
      </p:sp>
      <p:graphicFrame>
        <p:nvGraphicFramePr>
          <p:cNvPr id="5" name="Table 4">
            <a:extLst>
              <a:ext uri="{FF2B5EF4-FFF2-40B4-BE49-F238E27FC236}">
                <a16:creationId xmlns:a16="http://schemas.microsoft.com/office/drawing/2014/main" id="{495DB7B5-9A16-A22F-33CC-475B33AB7F24}"/>
              </a:ext>
            </a:extLst>
          </p:cNvPr>
          <p:cNvGraphicFramePr>
            <a:graphicFrameLocks noGrp="1"/>
          </p:cNvGraphicFramePr>
          <p:nvPr>
            <p:extLst>
              <p:ext uri="{D42A27DB-BD31-4B8C-83A1-F6EECF244321}">
                <p14:modId xmlns:p14="http://schemas.microsoft.com/office/powerpoint/2010/main" val="3546055747"/>
              </p:ext>
            </p:extLst>
          </p:nvPr>
        </p:nvGraphicFramePr>
        <p:xfrm>
          <a:off x="1435100" y="4076513"/>
          <a:ext cx="9321800" cy="2424040"/>
        </p:xfrm>
        <a:graphic>
          <a:graphicData uri="http://schemas.openxmlformats.org/drawingml/2006/table">
            <a:tbl>
              <a:tblPr firstRow="1" bandRow="1">
                <a:tableStyleId>{5C22544A-7EE6-4342-B048-85BDC9FD1C3A}</a:tableStyleId>
              </a:tblPr>
              <a:tblGrid>
                <a:gridCol w="1308100">
                  <a:extLst>
                    <a:ext uri="{9D8B030D-6E8A-4147-A177-3AD203B41FA5}">
                      <a16:colId xmlns:a16="http://schemas.microsoft.com/office/drawing/2014/main" val="4075426861"/>
                    </a:ext>
                  </a:extLst>
                </a:gridCol>
                <a:gridCol w="8013700">
                  <a:extLst>
                    <a:ext uri="{9D8B030D-6E8A-4147-A177-3AD203B41FA5}">
                      <a16:colId xmlns:a16="http://schemas.microsoft.com/office/drawing/2014/main" val="1731685709"/>
                    </a:ext>
                  </a:extLst>
                </a:gridCol>
              </a:tblGrid>
              <a:tr h="561486">
                <a:tc>
                  <a:txBody>
                    <a:bodyPr/>
                    <a:lstStyle/>
                    <a:p>
                      <a:r>
                        <a:rPr lang="en-US" dirty="0"/>
                        <a:t>Method</a:t>
                      </a:r>
                    </a:p>
                  </a:txBody>
                  <a:tcPr/>
                </a:tc>
                <a:tc>
                  <a:txBody>
                    <a:bodyPr/>
                    <a:lstStyle/>
                    <a:p>
                      <a:r>
                        <a:rPr lang="en-US" dirty="0"/>
                        <a:t>Key Assumptions</a:t>
                      </a:r>
                    </a:p>
                  </a:txBody>
                  <a:tcPr/>
                </a:tc>
                <a:extLst>
                  <a:ext uri="{0D108BD9-81ED-4DB2-BD59-A6C34878D82A}">
                    <a16:rowId xmlns:a16="http://schemas.microsoft.com/office/drawing/2014/main" val="261825888"/>
                  </a:ext>
                </a:extLst>
              </a:tr>
              <a:tr h="948154">
                <a:tc>
                  <a:txBody>
                    <a:bodyPr/>
                    <a:lstStyle/>
                    <a:p>
                      <a:r>
                        <a:rPr lang="en-US" dirty="0"/>
                        <a:t>MSM</a:t>
                      </a:r>
                    </a:p>
                  </a:txBody>
                  <a:tcPr/>
                </a:tc>
                <a:tc>
                  <a:txBody>
                    <a:bodyPr/>
                    <a:lstStyle/>
                    <a:p>
                      <a:r>
                        <a:rPr lang="en-US" dirty="0"/>
                        <a:t>1</a:t>
                      </a:r>
                      <a:r>
                        <a:rPr lang="en-US" b="1" dirty="0"/>
                        <a:t>) No unmeasured time-varying confounding  2) Treatment Positivity 3</a:t>
                      </a:r>
                      <a:r>
                        <a:rPr lang="en-US" dirty="0"/>
                        <a:t>) Correct treatment model 4) Consistency</a:t>
                      </a:r>
                    </a:p>
                  </a:txBody>
                  <a:tcPr/>
                </a:tc>
                <a:extLst>
                  <a:ext uri="{0D108BD9-81ED-4DB2-BD59-A6C34878D82A}">
                    <a16:rowId xmlns:a16="http://schemas.microsoft.com/office/drawing/2014/main" val="3353036622"/>
                  </a:ext>
                </a:extLst>
              </a:tr>
              <a:tr h="561486">
                <a:tc>
                  <a:txBody>
                    <a:bodyPr/>
                    <a:lstStyle/>
                    <a:p>
                      <a:r>
                        <a:rPr lang="en-US" dirty="0"/>
                        <a:t>IPCW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1) No unmeasured affecting censoring 2) Censoring positivity  </a:t>
                      </a:r>
                      <a:r>
                        <a:rPr lang="en-US" dirty="0"/>
                        <a:t>3) Correct censoring model 4) Consistency</a:t>
                      </a:r>
                    </a:p>
                    <a:p>
                      <a:pPr>
                        <a:buNone/>
                      </a:pPr>
                      <a:endParaRPr lang="en-US" dirty="0"/>
                    </a:p>
                  </a:txBody>
                  <a:tcPr anchor="ctr"/>
                </a:tc>
                <a:extLst>
                  <a:ext uri="{0D108BD9-81ED-4DB2-BD59-A6C34878D82A}">
                    <a16:rowId xmlns:a16="http://schemas.microsoft.com/office/drawing/2014/main" val="281528009"/>
                  </a:ext>
                </a:extLst>
              </a:tr>
            </a:tbl>
          </a:graphicData>
        </a:graphic>
      </p:graphicFrame>
    </p:spTree>
    <p:extLst>
      <p:ext uri="{BB962C8B-B14F-4D97-AF65-F5344CB8AC3E}">
        <p14:creationId xmlns:p14="http://schemas.microsoft.com/office/powerpoint/2010/main" val="486663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EC355-7EF9-5DE4-F271-F8982DBB6F87}"/>
              </a:ext>
            </a:extLst>
          </p:cNvPr>
          <p:cNvSpPr>
            <a:spLocks noGrp="1"/>
          </p:cNvSpPr>
          <p:nvPr>
            <p:ph type="title"/>
          </p:nvPr>
        </p:nvSpPr>
        <p:spPr>
          <a:xfrm>
            <a:off x="0" y="136525"/>
            <a:ext cx="11488188" cy="1325563"/>
          </a:xfrm>
        </p:spPr>
        <p:txBody>
          <a:bodyPr>
            <a:normAutofit fontScale="90000"/>
          </a:bodyPr>
          <a:lstStyle/>
          <a:p>
            <a:r>
              <a:rPr lang="en-US" sz="4000" b="1" dirty="0"/>
              <a:t>Rank Preserving Structure Failure Time Model (RPSFTM)</a:t>
            </a:r>
            <a:br>
              <a:rPr lang="en-US" sz="4000" b="1" dirty="0"/>
            </a:br>
            <a:r>
              <a:rPr lang="en-US" sz="3100" i="1" dirty="0"/>
              <a:t>Conceptually</a:t>
            </a:r>
            <a:br>
              <a:rPr lang="en-US" b="1" dirty="0"/>
            </a:br>
            <a:endParaRPr lang="en-US" b="1" dirty="0"/>
          </a:p>
        </p:txBody>
      </p:sp>
      <p:sp>
        <p:nvSpPr>
          <p:cNvPr id="8" name="TextBox 7">
            <a:extLst>
              <a:ext uri="{FF2B5EF4-FFF2-40B4-BE49-F238E27FC236}">
                <a16:creationId xmlns:a16="http://schemas.microsoft.com/office/drawing/2014/main" id="{754FBAEF-9D2A-A044-54E2-79E8B081937A}"/>
              </a:ext>
            </a:extLst>
          </p:cNvPr>
          <p:cNvSpPr txBox="1"/>
          <p:nvPr/>
        </p:nvSpPr>
        <p:spPr>
          <a:xfrm>
            <a:off x="350287" y="3960272"/>
            <a:ext cx="11071629" cy="331885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Observed survival = </a:t>
            </a:r>
            <a:r>
              <a:rPr lang="en-US" dirty="0">
                <a:latin typeface="Arial" panose="020B0604020202020204" pitchFamily="34" charset="0"/>
                <a:cs typeface="Arial" panose="020B0604020202020204" pitchFamily="34" charset="0"/>
              </a:rPr>
              <a:t>Time </a:t>
            </a:r>
            <a:r>
              <a:rPr lang="en-US" b="1" dirty="0">
                <a:latin typeface="Arial" panose="020B0604020202020204" pitchFamily="34" charset="0"/>
                <a:cs typeface="Arial" panose="020B0604020202020204" pitchFamily="34" charset="0"/>
              </a:rPr>
              <a:t>before switching + </a:t>
            </a:r>
            <a:r>
              <a:rPr lang="en-US" dirty="0">
                <a:latin typeface="Arial" panose="020B0604020202020204" pitchFamily="34" charset="0"/>
                <a:cs typeface="Arial" panose="020B0604020202020204" pitchFamily="34" charset="0"/>
              </a:rPr>
              <a:t>Time </a:t>
            </a:r>
            <a:r>
              <a:rPr lang="en-US" b="1" dirty="0">
                <a:latin typeface="Arial" panose="020B0604020202020204" pitchFamily="34" charset="0"/>
                <a:cs typeface="Arial" panose="020B0604020202020204" pitchFamily="34" charset="0"/>
              </a:rPr>
              <a:t>after switching</a:t>
            </a:r>
          </a:p>
          <a:p>
            <a:pPr marL="742950" lvl="1"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Treatment can only affect survival after it begins</a:t>
            </a:r>
            <a:endParaRPr lang="en-US" b="1"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For the </a:t>
            </a:r>
            <a:r>
              <a:rPr lang="en-US" sz="2000" b="1" dirty="0"/>
              <a:t>time after switching</a:t>
            </a:r>
            <a:r>
              <a:rPr lang="en-US" b="1" dirty="0">
                <a:latin typeface="Arial" panose="020B0604020202020204" pitchFamily="34" charset="0"/>
                <a:cs typeface="Arial" panose="020B0604020202020204" pitchFamily="34" charset="0"/>
              </a:rPr>
              <a:t>, RPSFTM asks a “what if” question:</a:t>
            </a:r>
          </a:p>
          <a:p>
            <a:pPr marL="742950" lvl="1" indent="-285750">
              <a:lnSpc>
                <a:spcPct val="150000"/>
              </a:lnSpc>
              <a:buFont typeface="Arial" panose="020B0604020202020204" pitchFamily="34" charset="0"/>
              <a:buChar char="•"/>
            </a:pPr>
            <a:r>
              <a:rPr lang="en-US" sz="2000" i="1" dirty="0"/>
              <a:t>What if this patient had never switched to the alternative treatment</a:t>
            </a:r>
          </a:p>
          <a:p>
            <a:pPr marL="742950" lvl="1"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If treatment is beneficial, survival during the treated period is longer than it would have been</a:t>
            </a:r>
          </a:p>
          <a:p>
            <a:pPr marL="742950" lvl="1"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RPSFTM removes this benefit by shortening the post-treatment time</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RPSFTM then finds the amount of shortening that makes the two randomized groups align</a:t>
            </a: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90A0A3A3-CA75-614E-283A-F58CF8102771}"/>
              </a:ext>
            </a:extLst>
          </p:cNvPr>
          <p:cNvSpPr/>
          <p:nvPr/>
        </p:nvSpPr>
        <p:spPr>
          <a:xfrm>
            <a:off x="350288" y="1399616"/>
            <a:ext cx="3829721" cy="59076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dirty="0"/>
              <a:t>Time before switching </a:t>
            </a:r>
          </a:p>
        </p:txBody>
      </p:sp>
      <p:sp>
        <p:nvSpPr>
          <p:cNvPr id="16" name="Rectangle 15">
            <a:extLst>
              <a:ext uri="{FF2B5EF4-FFF2-40B4-BE49-F238E27FC236}">
                <a16:creationId xmlns:a16="http://schemas.microsoft.com/office/drawing/2014/main" id="{A220DB16-7CC1-7A10-11D4-EFC7342347F2}"/>
              </a:ext>
            </a:extLst>
          </p:cNvPr>
          <p:cNvSpPr/>
          <p:nvPr/>
        </p:nvSpPr>
        <p:spPr>
          <a:xfrm>
            <a:off x="4180009" y="1399616"/>
            <a:ext cx="6566989" cy="59076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a:t>Observed time after switching</a:t>
            </a:r>
          </a:p>
        </p:txBody>
      </p:sp>
      <p:sp>
        <p:nvSpPr>
          <p:cNvPr id="17" name="Rectangle 16">
            <a:extLst>
              <a:ext uri="{FF2B5EF4-FFF2-40B4-BE49-F238E27FC236}">
                <a16:creationId xmlns:a16="http://schemas.microsoft.com/office/drawing/2014/main" id="{0AD4FEEC-4509-35D7-8B4D-F311393BC8A8}"/>
              </a:ext>
            </a:extLst>
          </p:cNvPr>
          <p:cNvSpPr/>
          <p:nvPr/>
        </p:nvSpPr>
        <p:spPr>
          <a:xfrm>
            <a:off x="4180009" y="2448847"/>
            <a:ext cx="4762601" cy="590760"/>
          </a:xfrm>
          <a:prstGeom prst="rect">
            <a:avLst/>
          </a:prstGeom>
          <a:solidFill>
            <a:schemeClr val="accent2"/>
          </a:solidFill>
          <a:ln>
            <a:solidFill>
              <a:schemeClr val="accent2"/>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a:t>Counterfactual time after switching </a:t>
            </a:r>
          </a:p>
        </p:txBody>
      </p:sp>
      <p:sp>
        <p:nvSpPr>
          <p:cNvPr id="18" name="Rectangle 17">
            <a:extLst>
              <a:ext uri="{FF2B5EF4-FFF2-40B4-BE49-F238E27FC236}">
                <a16:creationId xmlns:a16="http://schemas.microsoft.com/office/drawing/2014/main" id="{11AB5804-16EE-2129-508F-51C284A27BFA}"/>
              </a:ext>
            </a:extLst>
          </p:cNvPr>
          <p:cNvSpPr/>
          <p:nvPr/>
        </p:nvSpPr>
        <p:spPr>
          <a:xfrm>
            <a:off x="350288" y="2453716"/>
            <a:ext cx="3829721" cy="59076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dirty="0"/>
              <a:t>Time before switching</a:t>
            </a:r>
          </a:p>
        </p:txBody>
      </p:sp>
      <p:sp>
        <p:nvSpPr>
          <p:cNvPr id="19" name="Left Brace 18">
            <a:extLst>
              <a:ext uri="{FF2B5EF4-FFF2-40B4-BE49-F238E27FC236}">
                <a16:creationId xmlns:a16="http://schemas.microsoft.com/office/drawing/2014/main" id="{A32FAF00-407C-49AD-7FF1-9CACD1896565}"/>
              </a:ext>
            </a:extLst>
          </p:cNvPr>
          <p:cNvSpPr/>
          <p:nvPr/>
        </p:nvSpPr>
        <p:spPr>
          <a:xfrm rot="5400000">
            <a:off x="5432282" y="-3849107"/>
            <a:ext cx="228099" cy="1016349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5D4F863A-5585-4B7E-60C5-25C2C45D26E1}"/>
              </a:ext>
            </a:extLst>
          </p:cNvPr>
          <p:cNvSpPr txBox="1"/>
          <p:nvPr/>
        </p:nvSpPr>
        <p:spPr>
          <a:xfrm>
            <a:off x="4379122" y="793254"/>
            <a:ext cx="3082405" cy="369332"/>
          </a:xfrm>
          <a:prstGeom prst="rect">
            <a:avLst/>
          </a:prstGeom>
          <a:noFill/>
        </p:spPr>
        <p:txBody>
          <a:bodyPr wrap="square" rtlCol="0">
            <a:spAutoFit/>
          </a:bodyPr>
          <a:lstStyle/>
          <a:p>
            <a:r>
              <a:rPr lang="en-US" dirty="0"/>
              <a:t>Observed survival time</a:t>
            </a:r>
          </a:p>
        </p:txBody>
      </p:sp>
      <p:sp>
        <p:nvSpPr>
          <p:cNvPr id="21" name="Right Brace 20">
            <a:extLst>
              <a:ext uri="{FF2B5EF4-FFF2-40B4-BE49-F238E27FC236}">
                <a16:creationId xmlns:a16="http://schemas.microsoft.com/office/drawing/2014/main" id="{9C119B9A-D790-16D9-471B-88E11E161934}"/>
              </a:ext>
            </a:extLst>
          </p:cNvPr>
          <p:cNvSpPr/>
          <p:nvPr/>
        </p:nvSpPr>
        <p:spPr>
          <a:xfrm rot="5400000">
            <a:off x="4497236" y="-925999"/>
            <a:ext cx="318353" cy="8383652"/>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A16CF7B6-27F8-F131-31ED-5C66A64BBE52}"/>
              </a:ext>
            </a:extLst>
          </p:cNvPr>
          <p:cNvSpPr txBox="1"/>
          <p:nvPr/>
        </p:nvSpPr>
        <p:spPr>
          <a:xfrm>
            <a:off x="3378363" y="3381006"/>
            <a:ext cx="3434772" cy="369332"/>
          </a:xfrm>
          <a:prstGeom prst="rect">
            <a:avLst/>
          </a:prstGeom>
          <a:noFill/>
        </p:spPr>
        <p:txBody>
          <a:bodyPr wrap="square" rtlCol="0">
            <a:spAutoFit/>
          </a:bodyPr>
          <a:lstStyle/>
          <a:p>
            <a:r>
              <a:rPr lang="en-US" dirty="0"/>
              <a:t>Counterfactual survival time</a:t>
            </a:r>
          </a:p>
        </p:txBody>
      </p:sp>
      <p:sp>
        <p:nvSpPr>
          <p:cNvPr id="23" name="TextBox 22">
            <a:extLst>
              <a:ext uri="{FF2B5EF4-FFF2-40B4-BE49-F238E27FC236}">
                <a16:creationId xmlns:a16="http://schemas.microsoft.com/office/drawing/2014/main" id="{9617C317-55C5-0701-818F-D7B938A68A44}"/>
              </a:ext>
            </a:extLst>
          </p:cNvPr>
          <p:cNvSpPr txBox="1"/>
          <p:nvPr/>
        </p:nvSpPr>
        <p:spPr>
          <a:xfrm>
            <a:off x="9091590" y="2609779"/>
            <a:ext cx="1973556" cy="954448"/>
          </a:xfrm>
          <a:prstGeom prst="rect">
            <a:avLst/>
          </a:prstGeom>
          <a:noFill/>
        </p:spPr>
        <p:txBody>
          <a:bodyPr wrap="square">
            <a:spAutoFit/>
          </a:bodyPr>
          <a:lstStyle/>
          <a:p>
            <a:r>
              <a:rPr lang="en-US" b="1" dirty="0"/>
              <a:t>Survival time attributable to treatment</a:t>
            </a:r>
          </a:p>
        </p:txBody>
      </p:sp>
      <p:sp>
        <p:nvSpPr>
          <p:cNvPr id="24" name="Right Brace 23">
            <a:extLst>
              <a:ext uri="{FF2B5EF4-FFF2-40B4-BE49-F238E27FC236}">
                <a16:creationId xmlns:a16="http://schemas.microsoft.com/office/drawing/2014/main" id="{1A791403-8C0B-1D5E-6C04-508AC4497A8F}"/>
              </a:ext>
            </a:extLst>
          </p:cNvPr>
          <p:cNvSpPr/>
          <p:nvPr/>
        </p:nvSpPr>
        <p:spPr>
          <a:xfrm rot="5400000">
            <a:off x="9649119" y="1427767"/>
            <a:ext cx="340014" cy="1855743"/>
          </a:xfrm>
          <a:prstGeom prst="rightBrace">
            <a:avLst/>
          </a:prstGeom>
          <a:ln w="381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45940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p:cTn id="28" dur="500" fill="hold"/>
                                        <p:tgtEl>
                                          <p:spTgt spid="20"/>
                                        </p:tgtEl>
                                        <p:attrNameLst>
                                          <p:attrName>ppt_w</p:attrName>
                                        </p:attrNameLst>
                                      </p:cBhvr>
                                      <p:tavLst>
                                        <p:tav tm="0">
                                          <p:val>
                                            <p:fltVal val="0"/>
                                          </p:val>
                                        </p:tav>
                                        <p:tav tm="100000">
                                          <p:val>
                                            <p:strVal val="#ppt_w"/>
                                          </p:val>
                                        </p:tav>
                                      </p:tavLst>
                                    </p:anim>
                                    <p:anim calcmode="lin" valueType="num">
                                      <p:cBhvr>
                                        <p:cTn id="29" dur="500" fill="hold"/>
                                        <p:tgtEl>
                                          <p:spTgt spid="20"/>
                                        </p:tgtEl>
                                        <p:attrNameLst>
                                          <p:attrName>ppt_h</p:attrName>
                                        </p:attrNameLst>
                                      </p:cBhvr>
                                      <p:tavLst>
                                        <p:tav tm="0">
                                          <p:val>
                                            <p:fltVal val="0"/>
                                          </p:val>
                                        </p:tav>
                                        <p:tav tm="100000">
                                          <p:val>
                                            <p:strVal val="#ppt_h"/>
                                          </p:val>
                                        </p:tav>
                                      </p:tavLst>
                                    </p:anim>
                                    <p:animEffect transition="in" filter="fade">
                                      <p:cBhvr>
                                        <p:cTn id="30" dur="500"/>
                                        <p:tgtEl>
                                          <p:spTgt spid="20"/>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p:cTn id="33" dur="500" fill="hold"/>
                                        <p:tgtEl>
                                          <p:spTgt spid="19"/>
                                        </p:tgtEl>
                                        <p:attrNameLst>
                                          <p:attrName>ppt_w</p:attrName>
                                        </p:attrNameLst>
                                      </p:cBhvr>
                                      <p:tavLst>
                                        <p:tav tm="0">
                                          <p:val>
                                            <p:fltVal val="0"/>
                                          </p:val>
                                        </p:tav>
                                        <p:tav tm="100000">
                                          <p:val>
                                            <p:strVal val="#ppt_w"/>
                                          </p:val>
                                        </p:tav>
                                      </p:tavLst>
                                    </p:anim>
                                    <p:anim calcmode="lin" valueType="num">
                                      <p:cBhvr>
                                        <p:cTn id="34" dur="500" fill="hold"/>
                                        <p:tgtEl>
                                          <p:spTgt spid="19"/>
                                        </p:tgtEl>
                                        <p:attrNameLst>
                                          <p:attrName>ppt_h</p:attrName>
                                        </p:attrNameLst>
                                      </p:cBhvr>
                                      <p:tavLst>
                                        <p:tav tm="0">
                                          <p:val>
                                            <p:fltVal val="0"/>
                                          </p:val>
                                        </p:tav>
                                        <p:tav tm="100000">
                                          <p:val>
                                            <p:strVal val="#ppt_h"/>
                                          </p:val>
                                        </p:tav>
                                      </p:tavLst>
                                    </p:anim>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8">
                                            <p:txEl>
                                              <p:pRg st="1" end="1"/>
                                            </p:txEl>
                                          </p:spTgt>
                                        </p:tgtEl>
                                        <p:attrNameLst>
                                          <p:attrName>style.visibility</p:attrName>
                                        </p:attrNameLst>
                                      </p:cBhvr>
                                      <p:to>
                                        <p:strVal val="visible"/>
                                      </p:to>
                                    </p:set>
                                    <p:anim calcmode="lin" valueType="num">
                                      <p:cBhvr>
                                        <p:cTn id="40" dur="500" fill="hold"/>
                                        <p:tgtEl>
                                          <p:spTgt spid="8">
                                            <p:txEl>
                                              <p:pRg st="1" end="1"/>
                                            </p:txEl>
                                          </p:spTgt>
                                        </p:tgtEl>
                                        <p:attrNameLst>
                                          <p:attrName>ppt_w</p:attrName>
                                        </p:attrNameLst>
                                      </p:cBhvr>
                                      <p:tavLst>
                                        <p:tav tm="0">
                                          <p:val>
                                            <p:fltVal val="0"/>
                                          </p:val>
                                        </p:tav>
                                        <p:tav tm="100000">
                                          <p:val>
                                            <p:strVal val="#ppt_w"/>
                                          </p:val>
                                        </p:tav>
                                      </p:tavLst>
                                    </p:anim>
                                    <p:anim calcmode="lin" valueType="num">
                                      <p:cBhvr>
                                        <p:cTn id="41" dur="500" fill="hold"/>
                                        <p:tgtEl>
                                          <p:spTgt spid="8">
                                            <p:txEl>
                                              <p:pRg st="1" end="1"/>
                                            </p:txEl>
                                          </p:spTgt>
                                        </p:tgtEl>
                                        <p:attrNameLst>
                                          <p:attrName>ppt_h</p:attrName>
                                        </p:attrNameLst>
                                      </p:cBhvr>
                                      <p:tavLst>
                                        <p:tav tm="0">
                                          <p:val>
                                            <p:fltVal val="0"/>
                                          </p:val>
                                        </p:tav>
                                        <p:tav tm="100000">
                                          <p:val>
                                            <p:strVal val="#ppt_h"/>
                                          </p:val>
                                        </p:tav>
                                      </p:tavLst>
                                    </p:anim>
                                    <p:animEffect transition="in" filter="fade">
                                      <p:cBhvr>
                                        <p:cTn id="42" dur="500"/>
                                        <p:tgtEl>
                                          <p:spTgt spid="8">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p:cTn id="47" dur="500" fill="hold"/>
                                        <p:tgtEl>
                                          <p:spTgt spid="18"/>
                                        </p:tgtEl>
                                        <p:attrNameLst>
                                          <p:attrName>ppt_w</p:attrName>
                                        </p:attrNameLst>
                                      </p:cBhvr>
                                      <p:tavLst>
                                        <p:tav tm="0">
                                          <p:val>
                                            <p:fltVal val="0"/>
                                          </p:val>
                                        </p:tav>
                                        <p:tav tm="100000">
                                          <p:val>
                                            <p:strVal val="#ppt_w"/>
                                          </p:val>
                                        </p:tav>
                                      </p:tavLst>
                                    </p:anim>
                                    <p:anim calcmode="lin" valueType="num">
                                      <p:cBhvr>
                                        <p:cTn id="48" dur="500" fill="hold"/>
                                        <p:tgtEl>
                                          <p:spTgt spid="18"/>
                                        </p:tgtEl>
                                        <p:attrNameLst>
                                          <p:attrName>ppt_h</p:attrName>
                                        </p:attrNameLst>
                                      </p:cBhvr>
                                      <p:tavLst>
                                        <p:tav tm="0">
                                          <p:val>
                                            <p:fltVal val="0"/>
                                          </p:val>
                                        </p:tav>
                                        <p:tav tm="100000">
                                          <p:val>
                                            <p:strVal val="#ppt_h"/>
                                          </p:val>
                                        </p:tav>
                                      </p:tavLst>
                                    </p:anim>
                                    <p:animEffect transition="in" filter="fade">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nodeType="clickEffect">
                                  <p:stCondLst>
                                    <p:cond delay="0"/>
                                  </p:stCondLst>
                                  <p:childTnLst>
                                    <p:set>
                                      <p:cBhvr>
                                        <p:cTn id="53" dur="1" fill="hold">
                                          <p:stCondLst>
                                            <p:cond delay="0"/>
                                          </p:stCondLst>
                                        </p:cTn>
                                        <p:tgtEl>
                                          <p:spTgt spid="8">
                                            <p:txEl>
                                              <p:pRg st="2" end="2"/>
                                            </p:txEl>
                                          </p:spTgt>
                                        </p:tgtEl>
                                        <p:attrNameLst>
                                          <p:attrName>style.visibility</p:attrName>
                                        </p:attrNameLst>
                                      </p:cBhvr>
                                      <p:to>
                                        <p:strVal val="visible"/>
                                      </p:to>
                                    </p:set>
                                    <p:anim calcmode="lin" valueType="num">
                                      <p:cBhvr>
                                        <p:cTn id="54" dur="500" fill="hold"/>
                                        <p:tgtEl>
                                          <p:spTgt spid="8">
                                            <p:txEl>
                                              <p:pRg st="2" end="2"/>
                                            </p:txEl>
                                          </p:spTgt>
                                        </p:tgtEl>
                                        <p:attrNameLst>
                                          <p:attrName>ppt_w</p:attrName>
                                        </p:attrNameLst>
                                      </p:cBhvr>
                                      <p:tavLst>
                                        <p:tav tm="0">
                                          <p:val>
                                            <p:fltVal val="0"/>
                                          </p:val>
                                        </p:tav>
                                        <p:tav tm="100000">
                                          <p:val>
                                            <p:strVal val="#ppt_w"/>
                                          </p:val>
                                        </p:tav>
                                      </p:tavLst>
                                    </p:anim>
                                    <p:anim calcmode="lin" valueType="num">
                                      <p:cBhvr>
                                        <p:cTn id="55" dur="500" fill="hold"/>
                                        <p:tgtEl>
                                          <p:spTgt spid="8">
                                            <p:txEl>
                                              <p:pRg st="2" end="2"/>
                                            </p:txEl>
                                          </p:spTgt>
                                        </p:tgtEl>
                                        <p:attrNameLst>
                                          <p:attrName>ppt_h</p:attrName>
                                        </p:attrNameLst>
                                      </p:cBhvr>
                                      <p:tavLst>
                                        <p:tav tm="0">
                                          <p:val>
                                            <p:fltVal val="0"/>
                                          </p:val>
                                        </p:tav>
                                        <p:tav tm="100000">
                                          <p:val>
                                            <p:strVal val="#ppt_h"/>
                                          </p:val>
                                        </p:tav>
                                      </p:tavLst>
                                    </p:anim>
                                    <p:animEffect transition="in" filter="fade">
                                      <p:cBhvr>
                                        <p:cTn id="56" dur="500"/>
                                        <p:tgtEl>
                                          <p:spTgt spid="8">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nodeType="clickEffect">
                                  <p:stCondLst>
                                    <p:cond delay="0"/>
                                  </p:stCondLst>
                                  <p:childTnLst>
                                    <p:set>
                                      <p:cBhvr>
                                        <p:cTn id="60" dur="1" fill="hold">
                                          <p:stCondLst>
                                            <p:cond delay="0"/>
                                          </p:stCondLst>
                                        </p:cTn>
                                        <p:tgtEl>
                                          <p:spTgt spid="8">
                                            <p:txEl>
                                              <p:pRg st="3" end="3"/>
                                            </p:txEl>
                                          </p:spTgt>
                                        </p:tgtEl>
                                        <p:attrNameLst>
                                          <p:attrName>style.visibility</p:attrName>
                                        </p:attrNameLst>
                                      </p:cBhvr>
                                      <p:to>
                                        <p:strVal val="visible"/>
                                      </p:to>
                                    </p:set>
                                    <p:anim calcmode="lin" valueType="num">
                                      <p:cBhvr>
                                        <p:cTn id="61" dur="500" fill="hold"/>
                                        <p:tgtEl>
                                          <p:spTgt spid="8">
                                            <p:txEl>
                                              <p:pRg st="3" end="3"/>
                                            </p:txEl>
                                          </p:spTgt>
                                        </p:tgtEl>
                                        <p:attrNameLst>
                                          <p:attrName>ppt_w</p:attrName>
                                        </p:attrNameLst>
                                      </p:cBhvr>
                                      <p:tavLst>
                                        <p:tav tm="0">
                                          <p:val>
                                            <p:fltVal val="0"/>
                                          </p:val>
                                        </p:tav>
                                        <p:tav tm="100000">
                                          <p:val>
                                            <p:strVal val="#ppt_w"/>
                                          </p:val>
                                        </p:tav>
                                      </p:tavLst>
                                    </p:anim>
                                    <p:anim calcmode="lin" valueType="num">
                                      <p:cBhvr>
                                        <p:cTn id="62" dur="500" fill="hold"/>
                                        <p:tgtEl>
                                          <p:spTgt spid="8">
                                            <p:txEl>
                                              <p:pRg st="3" end="3"/>
                                            </p:txEl>
                                          </p:spTgt>
                                        </p:tgtEl>
                                        <p:attrNameLst>
                                          <p:attrName>ppt_h</p:attrName>
                                        </p:attrNameLst>
                                      </p:cBhvr>
                                      <p:tavLst>
                                        <p:tav tm="0">
                                          <p:val>
                                            <p:fltVal val="0"/>
                                          </p:val>
                                        </p:tav>
                                        <p:tav tm="100000">
                                          <p:val>
                                            <p:strVal val="#ppt_h"/>
                                          </p:val>
                                        </p:tav>
                                      </p:tavLst>
                                    </p:anim>
                                    <p:animEffect transition="in" filter="fade">
                                      <p:cBhvr>
                                        <p:cTn id="63" dur="500"/>
                                        <p:tgtEl>
                                          <p:spTgt spid="8">
                                            <p:txEl>
                                              <p:pRg st="3" end="3"/>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nodeType="clickEffect">
                                  <p:stCondLst>
                                    <p:cond delay="0"/>
                                  </p:stCondLst>
                                  <p:childTnLst>
                                    <p:set>
                                      <p:cBhvr>
                                        <p:cTn id="67" dur="1" fill="hold">
                                          <p:stCondLst>
                                            <p:cond delay="0"/>
                                          </p:stCondLst>
                                        </p:cTn>
                                        <p:tgtEl>
                                          <p:spTgt spid="8">
                                            <p:txEl>
                                              <p:pRg st="4" end="4"/>
                                            </p:txEl>
                                          </p:spTgt>
                                        </p:tgtEl>
                                        <p:attrNameLst>
                                          <p:attrName>style.visibility</p:attrName>
                                        </p:attrNameLst>
                                      </p:cBhvr>
                                      <p:to>
                                        <p:strVal val="visible"/>
                                      </p:to>
                                    </p:set>
                                    <p:anim calcmode="lin" valueType="num">
                                      <p:cBhvr>
                                        <p:cTn id="68" dur="500" fill="hold"/>
                                        <p:tgtEl>
                                          <p:spTgt spid="8">
                                            <p:txEl>
                                              <p:pRg st="4" end="4"/>
                                            </p:txEl>
                                          </p:spTgt>
                                        </p:tgtEl>
                                        <p:attrNameLst>
                                          <p:attrName>ppt_w</p:attrName>
                                        </p:attrNameLst>
                                      </p:cBhvr>
                                      <p:tavLst>
                                        <p:tav tm="0">
                                          <p:val>
                                            <p:fltVal val="0"/>
                                          </p:val>
                                        </p:tav>
                                        <p:tav tm="100000">
                                          <p:val>
                                            <p:strVal val="#ppt_w"/>
                                          </p:val>
                                        </p:tav>
                                      </p:tavLst>
                                    </p:anim>
                                    <p:anim calcmode="lin" valueType="num">
                                      <p:cBhvr>
                                        <p:cTn id="69" dur="500" fill="hold"/>
                                        <p:tgtEl>
                                          <p:spTgt spid="8">
                                            <p:txEl>
                                              <p:pRg st="4" end="4"/>
                                            </p:txEl>
                                          </p:spTgt>
                                        </p:tgtEl>
                                        <p:attrNameLst>
                                          <p:attrName>ppt_h</p:attrName>
                                        </p:attrNameLst>
                                      </p:cBhvr>
                                      <p:tavLst>
                                        <p:tav tm="0">
                                          <p:val>
                                            <p:fltVal val="0"/>
                                          </p:val>
                                        </p:tav>
                                        <p:tav tm="100000">
                                          <p:val>
                                            <p:strVal val="#ppt_h"/>
                                          </p:val>
                                        </p:tav>
                                      </p:tavLst>
                                    </p:anim>
                                    <p:animEffect transition="in" filter="fade">
                                      <p:cBhvr>
                                        <p:cTn id="70" dur="500"/>
                                        <p:tgtEl>
                                          <p:spTgt spid="8">
                                            <p:txEl>
                                              <p:pRg st="4" end="4"/>
                                            </p:txEl>
                                          </p:spTgt>
                                        </p:tgtEl>
                                      </p:cBhvr>
                                    </p:animEffect>
                                  </p:childTnLst>
                                </p:cTn>
                              </p:par>
                              <p:par>
                                <p:cTn id="71" presetID="53" presetClass="entr" presetSubtype="16" fill="hold" nodeType="withEffect">
                                  <p:stCondLst>
                                    <p:cond delay="0"/>
                                  </p:stCondLst>
                                  <p:childTnLst>
                                    <p:set>
                                      <p:cBhvr>
                                        <p:cTn id="72" dur="1" fill="hold">
                                          <p:stCondLst>
                                            <p:cond delay="0"/>
                                          </p:stCondLst>
                                        </p:cTn>
                                        <p:tgtEl>
                                          <p:spTgt spid="8">
                                            <p:txEl>
                                              <p:pRg st="5" end="5"/>
                                            </p:txEl>
                                          </p:spTgt>
                                        </p:tgtEl>
                                        <p:attrNameLst>
                                          <p:attrName>style.visibility</p:attrName>
                                        </p:attrNameLst>
                                      </p:cBhvr>
                                      <p:to>
                                        <p:strVal val="visible"/>
                                      </p:to>
                                    </p:set>
                                    <p:anim calcmode="lin" valueType="num">
                                      <p:cBhvr>
                                        <p:cTn id="73" dur="500" fill="hold"/>
                                        <p:tgtEl>
                                          <p:spTgt spid="8">
                                            <p:txEl>
                                              <p:pRg st="5" end="5"/>
                                            </p:txEl>
                                          </p:spTgt>
                                        </p:tgtEl>
                                        <p:attrNameLst>
                                          <p:attrName>ppt_w</p:attrName>
                                        </p:attrNameLst>
                                      </p:cBhvr>
                                      <p:tavLst>
                                        <p:tav tm="0">
                                          <p:val>
                                            <p:fltVal val="0"/>
                                          </p:val>
                                        </p:tav>
                                        <p:tav tm="100000">
                                          <p:val>
                                            <p:strVal val="#ppt_w"/>
                                          </p:val>
                                        </p:tav>
                                      </p:tavLst>
                                    </p:anim>
                                    <p:anim calcmode="lin" valueType="num">
                                      <p:cBhvr>
                                        <p:cTn id="74" dur="500" fill="hold"/>
                                        <p:tgtEl>
                                          <p:spTgt spid="8">
                                            <p:txEl>
                                              <p:pRg st="5" end="5"/>
                                            </p:txEl>
                                          </p:spTgt>
                                        </p:tgtEl>
                                        <p:attrNameLst>
                                          <p:attrName>ppt_h</p:attrName>
                                        </p:attrNameLst>
                                      </p:cBhvr>
                                      <p:tavLst>
                                        <p:tav tm="0">
                                          <p:val>
                                            <p:fltVal val="0"/>
                                          </p:val>
                                        </p:tav>
                                        <p:tav tm="100000">
                                          <p:val>
                                            <p:strVal val="#ppt_h"/>
                                          </p:val>
                                        </p:tav>
                                      </p:tavLst>
                                    </p:anim>
                                    <p:animEffect transition="in" filter="fade">
                                      <p:cBhvr>
                                        <p:cTn id="75" dur="500"/>
                                        <p:tgtEl>
                                          <p:spTgt spid="8">
                                            <p:txEl>
                                              <p:pRg st="5" end="5"/>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17"/>
                                        </p:tgtEl>
                                        <p:attrNameLst>
                                          <p:attrName>style.visibility</p:attrName>
                                        </p:attrNameLst>
                                      </p:cBhvr>
                                      <p:to>
                                        <p:strVal val="visible"/>
                                      </p:to>
                                    </p:set>
                                    <p:anim calcmode="lin" valueType="num">
                                      <p:cBhvr>
                                        <p:cTn id="80" dur="500" fill="hold"/>
                                        <p:tgtEl>
                                          <p:spTgt spid="17"/>
                                        </p:tgtEl>
                                        <p:attrNameLst>
                                          <p:attrName>ppt_w</p:attrName>
                                        </p:attrNameLst>
                                      </p:cBhvr>
                                      <p:tavLst>
                                        <p:tav tm="0">
                                          <p:val>
                                            <p:fltVal val="0"/>
                                          </p:val>
                                        </p:tav>
                                        <p:tav tm="100000">
                                          <p:val>
                                            <p:strVal val="#ppt_w"/>
                                          </p:val>
                                        </p:tav>
                                      </p:tavLst>
                                    </p:anim>
                                    <p:anim calcmode="lin" valueType="num">
                                      <p:cBhvr>
                                        <p:cTn id="81" dur="500" fill="hold"/>
                                        <p:tgtEl>
                                          <p:spTgt spid="17"/>
                                        </p:tgtEl>
                                        <p:attrNameLst>
                                          <p:attrName>ppt_h</p:attrName>
                                        </p:attrNameLst>
                                      </p:cBhvr>
                                      <p:tavLst>
                                        <p:tav tm="0">
                                          <p:val>
                                            <p:fltVal val="0"/>
                                          </p:val>
                                        </p:tav>
                                        <p:tav tm="100000">
                                          <p:val>
                                            <p:strVal val="#ppt_h"/>
                                          </p:val>
                                        </p:tav>
                                      </p:tavLst>
                                    </p:anim>
                                    <p:animEffect transition="in" filter="fade">
                                      <p:cBhvr>
                                        <p:cTn id="82" dur="500"/>
                                        <p:tgtEl>
                                          <p:spTgt spid="17"/>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21"/>
                                        </p:tgtEl>
                                        <p:attrNameLst>
                                          <p:attrName>style.visibility</p:attrName>
                                        </p:attrNameLst>
                                      </p:cBhvr>
                                      <p:to>
                                        <p:strVal val="visible"/>
                                      </p:to>
                                    </p:set>
                                    <p:anim calcmode="lin" valueType="num">
                                      <p:cBhvr>
                                        <p:cTn id="85" dur="500" fill="hold"/>
                                        <p:tgtEl>
                                          <p:spTgt spid="21"/>
                                        </p:tgtEl>
                                        <p:attrNameLst>
                                          <p:attrName>ppt_w</p:attrName>
                                        </p:attrNameLst>
                                      </p:cBhvr>
                                      <p:tavLst>
                                        <p:tav tm="0">
                                          <p:val>
                                            <p:fltVal val="0"/>
                                          </p:val>
                                        </p:tav>
                                        <p:tav tm="100000">
                                          <p:val>
                                            <p:strVal val="#ppt_w"/>
                                          </p:val>
                                        </p:tav>
                                      </p:tavLst>
                                    </p:anim>
                                    <p:anim calcmode="lin" valueType="num">
                                      <p:cBhvr>
                                        <p:cTn id="86" dur="500" fill="hold"/>
                                        <p:tgtEl>
                                          <p:spTgt spid="21"/>
                                        </p:tgtEl>
                                        <p:attrNameLst>
                                          <p:attrName>ppt_h</p:attrName>
                                        </p:attrNameLst>
                                      </p:cBhvr>
                                      <p:tavLst>
                                        <p:tav tm="0">
                                          <p:val>
                                            <p:fltVal val="0"/>
                                          </p:val>
                                        </p:tav>
                                        <p:tav tm="100000">
                                          <p:val>
                                            <p:strVal val="#ppt_h"/>
                                          </p:val>
                                        </p:tav>
                                      </p:tavLst>
                                    </p:anim>
                                    <p:animEffect transition="in" filter="fade">
                                      <p:cBhvr>
                                        <p:cTn id="87" dur="500"/>
                                        <p:tgtEl>
                                          <p:spTgt spid="21"/>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22"/>
                                        </p:tgtEl>
                                        <p:attrNameLst>
                                          <p:attrName>style.visibility</p:attrName>
                                        </p:attrNameLst>
                                      </p:cBhvr>
                                      <p:to>
                                        <p:strVal val="visible"/>
                                      </p:to>
                                    </p:set>
                                    <p:anim calcmode="lin" valueType="num">
                                      <p:cBhvr>
                                        <p:cTn id="90" dur="500" fill="hold"/>
                                        <p:tgtEl>
                                          <p:spTgt spid="22"/>
                                        </p:tgtEl>
                                        <p:attrNameLst>
                                          <p:attrName>ppt_w</p:attrName>
                                        </p:attrNameLst>
                                      </p:cBhvr>
                                      <p:tavLst>
                                        <p:tav tm="0">
                                          <p:val>
                                            <p:fltVal val="0"/>
                                          </p:val>
                                        </p:tav>
                                        <p:tav tm="100000">
                                          <p:val>
                                            <p:strVal val="#ppt_w"/>
                                          </p:val>
                                        </p:tav>
                                      </p:tavLst>
                                    </p:anim>
                                    <p:anim calcmode="lin" valueType="num">
                                      <p:cBhvr>
                                        <p:cTn id="91" dur="500" fill="hold"/>
                                        <p:tgtEl>
                                          <p:spTgt spid="22"/>
                                        </p:tgtEl>
                                        <p:attrNameLst>
                                          <p:attrName>ppt_h</p:attrName>
                                        </p:attrNameLst>
                                      </p:cBhvr>
                                      <p:tavLst>
                                        <p:tav tm="0">
                                          <p:val>
                                            <p:fltVal val="0"/>
                                          </p:val>
                                        </p:tav>
                                        <p:tav tm="100000">
                                          <p:val>
                                            <p:strVal val="#ppt_h"/>
                                          </p:val>
                                        </p:tav>
                                      </p:tavLst>
                                    </p:anim>
                                    <p:animEffect transition="in" filter="fade">
                                      <p:cBhvr>
                                        <p:cTn id="92" dur="500"/>
                                        <p:tgtEl>
                                          <p:spTgt spid="22"/>
                                        </p:tgtEl>
                                      </p:cBhvr>
                                    </p:animEffect>
                                  </p:childTnLst>
                                </p:cTn>
                              </p:par>
                            </p:childTnLst>
                          </p:cTn>
                        </p:par>
                      </p:childTnLst>
                    </p:cTn>
                  </p:par>
                  <p:par>
                    <p:cTn id="93" fill="hold">
                      <p:stCondLst>
                        <p:cond delay="indefinite"/>
                      </p:stCondLst>
                      <p:childTnLst>
                        <p:par>
                          <p:cTn id="94" fill="hold">
                            <p:stCondLst>
                              <p:cond delay="0"/>
                            </p:stCondLst>
                            <p:childTnLst>
                              <p:par>
                                <p:cTn id="95" presetID="53" presetClass="entr" presetSubtype="16" fill="hold" nodeType="clickEffect">
                                  <p:stCondLst>
                                    <p:cond delay="0"/>
                                  </p:stCondLst>
                                  <p:childTnLst>
                                    <p:set>
                                      <p:cBhvr>
                                        <p:cTn id="96" dur="1" fill="hold">
                                          <p:stCondLst>
                                            <p:cond delay="0"/>
                                          </p:stCondLst>
                                        </p:cTn>
                                        <p:tgtEl>
                                          <p:spTgt spid="8">
                                            <p:txEl>
                                              <p:pRg st="6" end="6"/>
                                            </p:txEl>
                                          </p:spTgt>
                                        </p:tgtEl>
                                        <p:attrNameLst>
                                          <p:attrName>style.visibility</p:attrName>
                                        </p:attrNameLst>
                                      </p:cBhvr>
                                      <p:to>
                                        <p:strVal val="visible"/>
                                      </p:to>
                                    </p:set>
                                    <p:anim calcmode="lin" valueType="num">
                                      <p:cBhvr>
                                        <p:cTn id="97" dur="500" fill="hold"/>
                                        <p:tgtEl>
                                          <p:spTgt spid="8">
                                            <p:txEl>
                                              <p:pRg st="6" end="6"/>
                                            </p:txEl>
                                          </p:spTgt>
                                        </p:tgtEl>
                                        <p:attrNameLst>
                                          <p:attrName>ppt_w</p:attrName>
                                        </p:attrNameLst>
                                      </p:cBhvr>
                                      <p:tavLst>
                                        <p:tav tm="0">
                                          <p:val>
                                            <p:fltVal val="0"/>
                                          </p:val>
                                        </p:tav>
                                        <p:tav tm="100000">
                                          <p:val>
                                            <p:strVal val="#ppt_w"/>
                                          </p:val>
                                        </p:tav>
                                      </p:tavLst>
                                    </p:anim>
                                    <p:anim calcmode="lin" valueType="num">
                                      <p:cBhvr>
                                        <p:cTn id="98" dur="500" fill="hold"/>
                                        <p:tgtEl>
                                          <p:spTgt spid="8">
                                            <p:txEl>
                                              <p:pRg st="6" end="6"/>
                                            </p:txEl>
                                          </p:spTgt>
                                        </p:tgtEl>
                                        <p:attrNameLst>
                                          <p:attrName>ppt_h</p:attrName>
                                        </p:attrNameLst>
                                      </p:cBhvr>
                                      <p:tavLst>
                                        <p:tav tm="0">
                                          <p:val>
                                            <p:fltVal val="0"/>
                                          </p:val>
                                        </p:tav>
                                        <p:tav tm="100000">
                                          <p:val>
                                            <p:strVal val="#ppt_h"/>
                                          </p:val>
                                        </p:tav>
                                      </p:tavLst>
                                    </p:anim>
                                    <p:animEffect transition="in" filter="fade">
                                      <p:cBhvr>
                                        <p:cTn id="99" dur="500"/>
                                        <p:tgtEl>
                                          <p:spTgt spid="8">
                                            <p:txEl>
                                              <p:pRg st="6" end="6"/>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grpId="0" nodeType="clickEffect">
                                  <p:stCondLst>
                                    <p:cond delay="0"/>
                                  </p:stCondLst>
                                  <p:childTnLst>
                                    <p:set>
                                      <p:cBhvr>
                                        <p:cTn id="103" dur="1" fill="hold">
                                          <p:stCondLst>
                                            <p:cond delay="0"/>
                                          </p:stCondLst>
                                        </p:cTn>
                                        <p:tgtEl>
                                          <p:spTgt spid="23"/>
                                        </p:tgtEl>
                                        <p:attrNameLst>
                                          <p:attrName>style.visibility</p:attrName>
                                        </p:attrNameLst>
                                      </p:cBhvr>
                                      <p:to>
                                        <p:strVal val="visible"/>
                                      </p:to>
                                    </p:set>
                                    <p:anim calcmode="lin" valueType="num">
                                      <p:cBhvr>
                                        <p:cTn id="104" dur="500" fill="hold"/>
                                        <p:tgtEl>
                                          <p:spTgt spid="23"/>
                                        </p:tgtEl>
                                        <p:attrNameLst>
                                          <p:attrName>ppt_w</p:attrName>
                                        </p:attrNameLst>
                                      </p:cBhvr>
                                      <p:tavLst>
                                        <p:tav tm="0">
                                          <p:val>
                                            <p:fltVal val="0"/>
                                          </p:val>
                                        </p:tav>
                                        <p:tav tm="100000">
                                          <p:val>
                                            <p:strVal val="#ppt_w"/>
                                          </p:val>
                                        </p:tav>
                                      </p:tavLst>
                                    </p:anim>
                                    <p:anim calcmode="lin" valueType="num">
                                      <p:cBhvr>
                                        <p:cTn id="105" dur="500" fill="hold"/>
                                        <p:tgtEl>
                                          <p:spTgt spid="23"/>
                                        </p:tgtEl>
                                        <p:attrNameLst>
                                          <p:attrName>ppt_h</p:attrName>
                                        </p:attrNameLst>
                                      </p:cBhvr>
                                      <p:tavLst>
                                        <p:tav tm="0">
                                          <p:val>
                                            <p:fltVal val="0"/>
                                          </p:val>
                                        </p:tav>
                                        <p:tav tm="100000">
                                          <p:val>
                                            <p:strVal val="#ppt_h"/>
                                          </p:val>
                                        </p:tav>
                                      </p:tavLst>
                                    </p:anim>
                                    <p:animEffect transition="in" filter="fade">
                                      <p:cBhvr>
                                        <p:cTn id="106" dur="500"/>
                                        <p:tgtEl>
                                          <p:spTgt spid="23"/>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24"/>
                                        </p:tgtEl>
                                        <p:attrNameLst>
                                          <p:attrName>style.visibility</p:attrName>
                                        </p:attrNameLst>
                                      </p:cBhvr>
                                      <p:to>
                                        <p:strVal val="visible"/>
                                      </p:to>
                                    </p:set>
                                    <p:anim calcmode="lin" valueType="num">
                                      <p:cBhvr>
                                        <p:cTn id="109" dur="500" fill="hold"/>
                                        <p:tgtEl>
                                          <p:spTgt spid="24"/>
                                        </p:tgtEl>
                                        <p:attrNameLst>
                                          <p:attrName>ppt_w</p:attrName>
                                        </p:attrNameLst>
                                      </p:cBhvr>
                                      <p:tavLst>
                                        <p:tav tm="0">
                                          <p:val>
                                            <p:fltVal val="0"/>
                                          </p:val>
                                        </p:tav>
                                        <p:tav tm="100000">
                                          <p:val>
                                            <p:strVal val="#ppt_w"/>
                                          </p:val>
                                        </p:tav>
                                      </p:tavLst>
                                    </p:anim>
                                    <p:anim calcmode="lin" valueType="num">
                                      <p:cBhvr>
                                        <p:cTn id="110" dur="500" fill="hold"/>
                                        <p:tgtEl>
                                          <p:spTgt spid="24"/>
                                        </p:tgtEl>
                                        <p:attrNameLst>
                                          <p:attrName>ppt_h</p:attrName>
                                        </p:attrNameLst>
                                      </p:cBhvr>
                                      <p:tavLst>
                                        <p:tav tm="0">
                                          <p:val>
                                            <p:fltVal val="0"/>
                                          </p:val>
                                        </p:tav>
                                        <p:tav tm="100000">
                                          <p:val>
                                            <p:strVal val="#ppt_h"/>
                                          </p:val>
                                        </p:tav>
                                      </p:tavLst>
                                    </p:anim>
                                    <p:animEffect transition="in" filter="fade">
                                      <p:cBhvr>
                                        <p:cTn id="11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p:bldP spid="21" grpId="0" animBg="1"/>
      <p:bldP spid="22" grpId="0"/>
      <p:bldP spid="23" grpId="0"/>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5CFB3-4588-739F-4534-3BA21FFC49FE}"/>
              </a:ext>
            </a:extLst>
          </p:cNvPr>
          <p:cNvSpPr>
            <a:spLocks noGrp="1"/>
          </p:cNvSpPr>
          <p:nvPr>
            <p:ph type="title"/>
          </p:nvPr>
        </p:nvSpPr>
        <p:spPr>
          <a:xfrm>
            <a:off x="0" y="161925"/>
            <a:ext cx="8813800" cy="561975"/>
          </a:xfrm>
        </p:spPr>
        <p:txBody>
          <a:bodyPr>
            <a:noAutofit/>
          </a:bodyPr>
          <a:lstStyle/>
          <a:p>
            <a:r>
              <a:rPr lang="en-US" sz="2800" b="1" dirty="0"/>
              <a:t>Rank Preserving Structure Failure Time Model (RPSFTM)</a:t>
            </a:r>
            <a:br>
              <a:rPr lang="en-US" sz="3600" b="1" dirty="0"/>
            </a:br>
            <a:r>
              <a:rPr lang="en-US" sz="2800" i="1" dirty="0"/>
              <a:t>M</a:t>
            </a:r>
            <a:r>
              <a:rPr lang="en-US" altLang="zh-CN" sz="2800" i="1" dirty="0"/>
              <a:t>athematical Formulation</a:t>
            </a:r>
            <a:endParaRPr lang="en-US" sz="36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B9DB1A-A01E-579C-0652-6700EAE6F9BC}"/>
                  </a:ext>
                </a:extLst>
              </p:cNvPr>
              <p:cNvSpPr>
                <a:spLocks noGrp="1"/>
              </p:cNvSpPr>
              <p:nvPr>
                <p:ph idx="1"/>
              </p:nvPr>
            </p:nvSpPr>
            <p:spPr>
              <a:xfrm>
                <a:off x="0" y="4323806"/>
                <a:ext cx="11912600" cy="2724694"/>
              </a:xfrm>
            </p:spPr>
            <p:txBody>
              <a:bodyPr>
                <a:normAutofit/>
              </a:bodyPr>
              <a:lstStyle/>
              <a:p>
                <a:pPr>
                  <a:lnSpc>
                    <a:spcPct val="150000"/>
                  </a:lnSpc>
                </a:pPr>
                <a:r>
                  <a:rPr lang="en-US" sz="2400" b="1" dirty="0"/>
                  <a:t>Counterfactual Survival Time: </a:t>
                </a:r>
                <a14:m>
                  <m:oMath xmlns:m="http://schemas.openxmlformats.org/officeDocument/2006/math">
                    <m:sSub>
                      <m:sSubPr>
                        <m:ctrlPr>
                          <a:rPr lang="en-US" sz="2400" b="1" i="1" smtClean="0">
                            <a:solidFill>
                              <a:srgbClr val="FF0000"/>
                            </a:solidFill>
                            <a:latin typeface="Cambria Math" panose="02040503050406030204" pitchFamily="18" charset="0"/>
                          </a:rPr>
                        </m:ctrlPr>
                      </m:sSubPr>
                      <m:e>
                        <m:sSub>
                          <m:sSubPr>
                            <m:ctrlPr>
                              <a:rPr lang="en-US"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𝑼</m:t>
                            </m:r>
                          </m:e>
                          <m:sub>
                            <m:r>
                              <a:rPr lang="en-US" sz="2400" b="1" i="1" smtClean="0">
                                <a:solidFill>
                                  <a:srgbClr val="FF0000"/>
                                </a:solidFill>
                                <a:latin typeface="Cambria Math" panose="02040503050406030204" pitchFamily="18" charset="0"/>
                              </a:rPr>
                              <m:t>𝒊</m:t>
                            </m:r>
                          </m:sub>
                        </m:sSub>
                        <m:r>
                          <a:rPr lang="en-US" sz="2400" b="1" i="1" smtClean="0">
                            <a:solidFill>
                              <a:srgbClr val="FF0000"/>
                            </a:solidFill>
                            <a:latin typeface="Cambria Math" panose="02040503050406030204" pitchFamily="18" charset="0"/>
                          </a:rPr>
                          <m:t>(</m:t>
                        </m:r>
                        <m:r>
                          <m:rPr>
                            <m:nor/>
                          </m:rPr>
                          <a:rPr lang="el-GR" sz="2400" b="1">
                            <a:solidFill>
                              <a:srgbClr val="FF0000"/>
                            </a:solidFill>
                          </a:rPr>
                          <m:t>ψ</m:t>
                        </m:r>
                        <m:r>
                          <m:rPr>
                            <m:nor/>
                          </m:rPr>
                          <a:rPr lang="en-US" sz="2400" b="1" i="0" smtClean="0">
                            <a:solidFill>
                              <a:srgbClr val="FF0000"/>
                            </a:solidFill>
                          </a:rPr>
                          <m:t>)</m:t>
                        </m:r>
                        <m:r>
                          <a:rPr lang="en-US" sz="2400" b="1" i="1" smtClean="0">
                            <a:solidFill>
                              <a:srgbClr val="FF0000"/>
                            </a:solidFill>
                            <a:latin typeface="Cambria Math" panose="02040503050406030204" pitchFamily="18" charset="0"/>
                          </a:rPr>
                          <m:t>= </m:t>
                        </m:r>
                        <m:r>
                          <a:rPr lang="en-US" sz="2400" b="1" i="1">
                            <a:solidFill>
                              <a:srgbClr val="FF0000"/>
                            </a:solidFill>
                            <a:latin typeface="Cambria Math" panose="02040503050406030204" pitchFamily="18" charset="0"/>
                          </a:rPr>
                          <m:t>𝑻</m:t>
                        </m:r>
                      </m:e>
                      <m:sub>
                        <m:r>
                          <a:rPr lang="en-US" sz="2400" b="1" i="1">
                            <a:solidFill>
                              <a:srgbClr val="FF0000"/>
                            </a:solidFill>
                            <a:latin typeface="Cambria Math" panose="02040503050406030204" pitchFamily="18" charset="0"/>
                          </a:rPr>
                          <m:t>𝒊</m:t>
                        </m:r>
                        <m:r>
                          <a:rPr lang="en-US" sz="2400" b="1" i="1">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𝒐𝒇𝒇</m:t>
                        </m:r>
                      </m:sub>
                    </m:sSub>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𝑻</m:t>
                        </m:r>
                      </m:e>
                      <m:sub>
                        <m:r>
                          <a:rPr lang="en-US" sz="2400" b="1" i="1">
                            <a:solidFill>
                              <a:srgbClr val="FF0000"/>
                            </a:solidFill>
                            <a:latin typeface="Cambria Math" panose="02040503050406030204" pitchFamily="18" charset="0"/>
                          </a:rPr>
                          <m:t>𝒊</m:t>
                        </m:r>
                        <m:r>
                          <a:rPr lang="en-US" sz="2400" b="1" i="1">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𝒐𝒏</m:t>
                        </m:r>
                      </m:sub>
                    </m:sSub>
                    <m:r>
                      <a:rPr lang="en-US" sz="2400" b="1" i="0" smtClean="0">
                        <a:solidFill>
                          <a:srgbClr val="FF0000"/>
                        </a:solidFill>
                        <a:latin typeface="Cambria Math" panose="02040503050406030204" pitchFamily="18" charset="0"/>
                      </a:rPr>
                      <m:t>𝐞𝐱𝐩</m:t>
                    </m:r>
                    <m:r>
                      <a:rPr lang="en-US" sz="2400" b="1" i="1" smtClean="0">
                        <a:solidFill>
                          <a:srgbClr val="FF0000"/>
                        </a:solidFill>
                        <a:latin typeface="Cambria Math" panose="02040503050406030204" pitchFamily="18" charset="0"/>
                      </a:rPr>
                      <m:t>⁡(</m:t>
                    </m:r>
                    <m:r>
                      <m:rPr>
                        <m:nor/>
                      </m:rPr>
                      <a:rPr lang="el-GR" sz="2400" b="1">
                        <a:solidFill>
                          <a:srgbClr val="FF0000"/>
                        </a:solidFill>
                      </a:rPr>
                      <m:t>ψ</m:t>
                    </m:r>
                    <m:r>
                      <m:rPr>
                        <m:nor/>
                      </m:rPr>
                      <a:rPr lang="en-US" sz="2400" b="1" i="0" smtClean="0">
                        <a:solidFill>
                          <a:srgbClr val="FF0000"/>
                        </a:solidFill>
                      </a:rPr>
                      <m:t>)</m:t>
                    </m:r>
                  </m:oMath>
                </a14:m>
                <a:endParaRPr lang="en-US" sz="2400" b="1" dirty="0">
                  <a:solidFill>
                    <a:srgbClr val="FF0000"/>
                  </a:solidFill>
                </a:endParaRPr>
              </a:p>
              <a:p>
                <a:pPr lvl="1">
                  <a:lnSpc>
                    <a:spcPct val="150000"/>
                  </a:lnSpc>
                </a:pPr>
                <a:r>
                  <a:rPr lang="en-US" dirty="0"/>
                  <a:t>The pre-treatment time remains unchanged; The treated time is rescaled by a factor </a:t>
                </a:r>
                <a14:m>
                  <m:oMath xmlns:m="http://schemas.openxmlformats.org/officeDocument/2006/math">
                    <m:r>
                      <m:rPr>
                        <m:sty m:val="p"/>
                      </m:rPr>
                      <a:rPr lang="en-US">
                        <a:latin typeface="Cambria Math" panose="02040503050406030204" pitchFamily="18" charset="0"/>
                      </a:rPr>
                      <m:t>exp</m:t>
                    </m:r>
                    <m:r>
                      <a:rPr lang="en-US" i="1">
                        <a:latin typeface="Cambria Math" panose="02040503050406030204" pitchFamily="18" charset="0"/>
                      </a:rPr>
                      <m:t>⁡(</m:t>
                    </m:r>
                    <m:r>
                      <m:rPr>
                        <m:nor/>
                      </m:rPr>
                      <a:rPr lang="el-GR"/>
                      <m:t>ψ</m:t>
                    </m:r>
                    <m:r>
                      <m:rPr>
                        <m:nor/>
                      </m:rPr>
                      <a:rPr lang="en-US"/>
                      <m:t>)</m:t>
                    </m:r>
                  </m:oMath>
                </a14:m>
                <a:endParaRPr lang="en-US" dirty="0"/>
              </a:p>
              <a:p>
                <a:endParaRPr lang="en-US" b="1" dirty="0"/>
              </a:p>
              <a:p>
                <a:endParaRPr lang="en-US" dirty="0"/>
              </a:p>
            </p:txBody>
          </p:sp>
        </mc:Choice>
        <mc:Fallback xmlns="">
          <p:sp>
            <p:nvSpPr>
              <p:cNvPr id="3" name="Content Placeholder 2">
                <a:extLst>
                  <a:ext uri="{FF2B5EF4-FFF2-40B4-BE49-F238E27FC236}">
                    <a16:creationId xmlns:a16="http://schemas.microsoft.com/office/drawing/2014/main" id="{FBB9DB1A-A01E-579C-0652-6700EAE6F9BC}"/>
                  </a:ext>
                </a:extLst>
              </p:cNvPr>
              <p:cNvSpPr>
                <a:spLocks noGrp="1" noRot="1" noChangeAspect="1" noMove="1" noResize="1" noEditPoints="1" noAdjustHandles="1" noChangeArrowheads="1" noChangeShapeType="1" noTextEdit="1"/>
              </p:cNvSpPr>
              <p:nvPr>
                <p:ph idx="1"/>
              </p:nvPr>
            </p:nvSpPr>
            <p:spPr>
              <a:xfrm>
                <a:off x="0" y="4323806"/>
                <a:ext cx="11912600" cy="2724694"/>
              </a:xfrm>
              <a:blipFill>
                <a:blip r:embed="rId3"/>
                <a:stretch>
                  <a:fillRect l="-6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76BC9A6-7DCE-5D18-E228-16A33F435F23}"/>
                  </a:ext>
                </a:extLst>
              </p:cNvPr>
              <p:cNvSpPr txBox="1"/>
              <p:nvPr/>
            </p:nvSpPr>
            <p:spPr>
              <a:xfrm>
                <a:off x="1" y="3415434"/>
                <a:ext cx="10933610" cy="110228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b="1" dirty="0"/>
                  <a:t>Observed Survival Time</a:t>
                </a:r>
                <a:r>
                  <a:rPr lang="en-US" sz="2400" dirty="0"/>
                  <a:t>: </a:t>
                </a:r>
                <a14:m>
                  <m:oMath xmlns:m="http://schemas.openxmlformats.org/officeDocument/2006/math">
                    <m:sSub>
                      <m:sSubPr>
                        <m:ctrlPr>
                          <a:rPr lang="en-US" sz="2400" b="0" i="1" smtClean="0">
                            <a:latin typeface="Cambria Math" panose="02040503050406030204" pitchFamily="18" charset="0"/>
                          </a:rPr>
                        </m:ctrlPr>
                      </m:sSub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𝑇</m:t>
                        </m:r>
                      </m:e>
                      <m:sub>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𝑜𝑓𝑓</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𝑜𝑛</m:t>
                        </m:r>
                      </m:sub>
                    </m:sSub>
                  </m:oMath>
                </a14:m>
                <a:endParaRPr lang="en-US" sz="2400" dirty="0"/>
              </a:p>
              <a:p>
                <a:pPr lvl="1">
                  <a:lnSpc>
                    <a:spcPct val="150000"/>
                  </a:lnSpc>
                </a:pPr>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𝑜𝑓𝑓</m:t>
                        </m:r>
                      </m:sub>
                    </m:sSub>
                    <m:r>
                      <a:rPr lang="en-US" b="0" i="1" smtClean="0">
                        <a:latin typeface="Cambria Math" panose="02040503050406030204" pitchFamily="18" charset="0"/>
                      </a:rPr>
                      <m:t>:</m:t>
                    </m:r>
                  </m:oMath>
                </a14:m>
                <a:r>
                  <a:rPr lang="en-US" dirty="0"/>
                  <a:t> time </a:t>
                </a:r>
                <a:r>
                  <a:rPr lang="en-US" b="1" dirty="0"/>
                  <a:t>before receiving active treatment;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𝑖</m:t>
                        </m:r>
                        <m:r>
                          <a:rPr lang="en-US" i="1">
                            <a:latin typeface="Cambria Math" panose="02040503050406030204" pitchFamily="18" charset="0"/>
                          </a:rPr>
                          <m:t>,</m:t>
                        </m:r>
                        <m:r>
                          <a:rPr lang="en-US" b="0" i="1" smtClean="0">
                            <a:latin typeface="Cambria Math" panose="02040503050406030204" pitchFamily="18" charset="0"/>
                          </a:rPr>
                          <m:t>𝑜𝑛</m:t>
                        </m:r>
                      </m:sub>
                    </m:sSub>
                    <m:r>
                      <a:rPr lang="en-US" i="1">
                        <a:latin typeface="Cambria Math" panose="02040503050406030204" pitchFamily="18" charset="0"/>
                      </a:rPr>
                      <m:t>:</m:t>
                    </m:r>
                  </m:oMath>
                </a14:m>
                <a:r>
                  <a:rPr lang="en-US" dirty="0"/>
                  <a:t> time </a:t>
                </a:r>
                <a:r>
                  <a:rPr lang="en-US" b="1" dirty="0"/>
                  <a:t>on active treatment</a:t>
                </a:r>
              </a:p>
            </p:txBody>
          </p:sp>
        </mc:Choice>
        <mc:Fallback xmlns="">
          <p:sp>
            <p:nvSpPr>
              <p:cNvPr id="12" name="TextBox 11">
                <a:extLst>
                  <a:ext uri="{FF2B5EF4-FFF2-40B4-BE49-F238E27FC236}">
                    <a16:creationId xmlns:a16="http://schemas.microsoft.com/office/drawing/2014/main" id="{776BC9A6-7DCE-5D18-E228-16A33F435F23}"/>
                  </a:ext>
                </a:extLst>
              </p:cNvPr>
              <p:cNvSpPr txBox="1">
                <a:spLocks noRot="1" noChangeAspect="1" noMove="1" noResize="1" noEditPoints="1" noAdjustHandles="1" noChangeArrowheads="1" noChangeShapeType="1" noTextEdit="1"/>
              </p:cNvSpPr>
              <p:nvPr/>
            </p:nvSpPr>
            <p:spPr>
              <a:xfrm>
                <a:off x="1" y="3415434"/>
                <a:ext cx="10933610" cy="1102289"/>
              </a:xfrm>
              <a:prstGeom prst="rect">
                <a:avLst/>
              </a:prstGeom>
              <a:blipFill>
                <a:blip r:embed="rId4"/>
                <a:stretch>
                  <a:fillRect l="-725" b="-6630"/>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D29B4662-E723-313A-6B24-39CF5F3B8540}"/>
              </a:ext>
            </a:extLst>
          </p:cNvPr>
          <p:cNvPicPr>
            <a:picLocks noChangeAspect="1"/>
          </p:cNvPicPr>
          <p:nvPr/>
        </p:nvPicPr>
        <p:blipFill>
          <a:blip r:embed="rId5"/>
          <a:stretch>
            <a:fillRect/>
          </a:stretch>
        </p:blipFill>
        <p:spPr>
          <a:xfrm>
            <a:off x="709717" y="692356"/>
            <a:ext cx="8813801" cy="1117312"/>
          </a:xfrm>
          <a:prstGeom prst="rect">
            <a:avLst/>
          </a:prstGeom>
        </p:spPr>
      </p:pic>
      <p:pic>
        <p:nvPicPr>
          <p:cNvPr id="8" name="Picture 7">
            <a:extLst>
              <a:ext uri="{FF2B5EF4-FFF2-40B4-BE49-F238E27FC236}">
                <a16:creationId xmlns:a16="http://schemas.microsoft.com/office/drawing/2014/main" id="{F4FCDE77-CB8F-1E7B-0284-727AF949D02D}"/>
              </a:ext>
            </a:extLst>
          </p:cNvPr>
          <p:cNvPicPr>
            <a:picLocks noChangeAspect="1"/>
          </p:cNvPicPr>
          <p:nvPr/>
        </p:nvPicPr>
        <p:blipFill>
          <a:blip r:embed="rId6"/>
          <a:stretch>
            <a:fillRect/>
          </a:stretch>
        </p:blipFill>
        <p:spPr>
          <a:xfrm>
            <a:off x="709717" y="1973342"/>
            <a:ext cx="7291283" cy="1233526"/>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7B35453-84BB-703D-B202-E8DF1F7A2429}"/>
                  </a:ext>
                </a:extLst>
              </p:cNvPr>
              <p:cNvSpPr txBox="1"/>
              <p:nvPr/>
            </p:nvSpPr>
            <p:spPr>
              <a:xfrm>
                <a:off x="0" y="6008386"/>
                <a:ext cx="6835775" cy="602729"/>
              </a:xfrm>
              <a:prstGeom prst="rect">
                <a:avLst/>
              </a:prstGeom>
              <a:noFill/>
            </p:spPr>
            <p:txBody>
              <a:bodyPr wrap="square">
                <a:spAutoFit/>
              </a:bodyPr>
              <a:lstStyle/>
              <a:p>
                <a:pPr marL="285750" indent="-285750">
                  <a:lnSpc>
                    <a:spcPct val="150000"/>
                  </a:lnSpc>
                  <a:buFont typeface="Arial" panose="020B0604020202020204" pitchFamily="34" charset="0"/>
                  <a:buChar char="•"/>
                </a:pPr>
                <a14:m>
                  <m:oMath xmlns:m="http://schemas.openxmlformats.org/officeDocument/2006/math">
                    <m:sSup>
                      <m:sSupPr>
                        <m:ctrlPr>
                          <a:rPr lang="ar-AE" sz="2400" b="1" i="1" smtClean="0">
                            <a:latin typeface="Cambria Math" panose="02040503050406030204" pitchFamily="18" charset="0"/>
                          </a:rPr>
                        </m:ctrlPr>
                      </m:sSupPr>
                      <m:e>
                        <m:r>
                          <a:rPr lang="ar-AE" sz="2400" b="1" i="1">
                            <a:latin typeface="Cambria Math" panose="02040503050406030204" pitchFamily="18" charset="0"/>
                          </a:rPr>
                          <m:t>𝒆</m:t>
                        </m:r>
                      </m:e>
                      <m:sup>
                        <m:r>
                          <a:rPr lang="ar-AE" sz="2400" b="1" i="1">
                            <a:latin typeface="Cambria Math" panose="02040503050406030204" pitchFamily="18" charset="0"/>
                          </a:rPr>
                          <m:t>𝝍</m:t>
                        </m:r>
                      </m:sup>
                    </m:sSup>
                    <m:r>
                      <a:rPr lang="ar-AE" sz="2400" b="1" i="1">
                        <a:latin typeface="Cambria Math" panose="02040503050406030204" pitchFamily="18" charset="0"/>
                      </a:rPr>
                      <m:t> </m:t>
                    </m:r>
                    <m:r>
                      <a:rPr lang="en-US" sz="2400" b="1" i="1" smtClean="0">
                        <a:latin typeface="Cambria Math" panose="02040503050406030204" pitchFamily="18" charset="0"/>
                      </a:rPr>
                      <m:t>: </m:t>
                    </m:r>
                  </m:oMath>
                </a14:m>
                <a:r>
                  <a:rPr lang="en-US" sz="2400" dirty="0"/>
                  <a:t>acceleration factor</a:t>
                </a:r>
                <a:endParaRPr lang="en-US" sz="3200" dirty="0"/>
              </a:p>
            </p:txBody>
          </p:sp>
        </mc:Choice>
        <mc:Fallback xmlns="">
          <p:sp>
            <p:nvSpPr>
              <p:cNvPr id="15" name="TextBox 14">
                <a:extLst>
                  <a:ext uri="{FF2B5EF4-FFF2-40B4-BE49-F238E27FC236}">
                    <a16:creationId xmlns:a16="http://schemas.microsoft.com/office/drawing/2014/main" id="{57B35453-84BB-703D-B202-E8DF1F7A2429}"/>
                  </a:ext>
                </a:extLst>
              </p:cNvPr>
              <p:cNvSpPr txBox="1">
                <a:spLocks noRot="1" noChangeAspect="1" noMove="1" noResize="1" noEditPoints="1" noAdjustHandles="1" noChangeArrowheads="1" noChangeShapeType="1" noTextEdit="1"/>
              </p:cNvSpPr>
              <p:nvPr/>
            </p:nvSpPr>
            <p:spPr>
              <a:xfrm>
                <a:off x="0" y="6008386"/>
                <a:ext cx="6835775" cy="602729"/>
              </a:xfrm>
              <a:prstGeom prst="rect">
                <a:avLst/>
              </a:prstGeom>
              <a:blipFill>
                <a:blip r:embed="rId7"/>
                <a:stretch>
                  <a:fillRect l="-1160" b="-23232"/>
                </a:stretch>
              </a:blipFill>
            </p:spPr>
            <p:txBody>
              <a:bodyPr/>
              <a:lstStyle/>
              <a:p>
                <a:r>
                  <a:rPr lang="en-US">
                    <a:noFill/>
                  </a:rPr>
                  <a:t> </a:t>
                </a:r>
              </a:p>
            </p:txBody>
          </p:sp>
        </mc:Fallback>
      </mc:AlternateContent>
      <p:pic>
        <p:nvPicPr>
          <p:cNvPr id="18" name="Picture 17">
            <a:extLst>
              <a:ext uri="{FF2B5EF4-FFF2-40B4-BE49-F238E27FC236}">
                <a16:creationId xmlns:a16="http://schemas.microsoft.com/office/drawing/2014/main" id="{6D6A1EB6-2D6C-C153-655B-62C1A8C2EADD}"/>
              </a:ext>
            </a:extLst>
          </p:cNvPr>
          <p:cNvPicPr>
            <a:picLocks noChangeAspect="1"/>
          </p:cNvPicPr>
          <p:nvPr/>
        </p:nvPicPr>
        <p:blipFill>
          <a:blip r:embed="rId8"/>
          <a:stretch>
            <a:fillRect/>
          </a:stretch>
        </p:blipFill>
        <p:spPr>
          <a:xfrm>
            <a:off x="8115299" y="1973342"/>
            <a:ext cx="1752601" cy="934957"/>
          </a:xfrm>
          <a:prstGeom prst="rect">
            <a:avLst/>
          </a:prstGeom>
        </p:spPr>
      </p:pic>
    </p:spTree>
    <p:extLst>
      <p:ext uri="{BB962C8B-B14F-4D97-AF65-F5344CB8AC3E}">
        <p14:creationId xmlns:p14="http://schemas.microsoft.com/office/powerpoint/2010/main" val="2903751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16"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p:cTn id="19"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21" dur="500"/>
                                        <p:tgtEl>
                                          <p:spTgt spid="3">
                                            <p:txEl>
                                              <p:pRg st="0" end="0"/>
                                            </p:txEl>
                                          </p:spTgt>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 calcmode="lin" valueType="num">
                                      <p:cBhvr>
                                        <p:cTn id="2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6" dur="500"/>
                                        <p:tgtEl>
                                          <p:spTgt spid="3">
                                            <p:txEl>
                                              <p:pRg st="1" end="1"/>
                                            </p:txEl>
                                          </p:spTgt>
                                        </p:tgtEl>
                                      </p:cBhvr>
                                    </p:animEffect>
                                  </p:childTnLst>
                                </p:cTn>
                              </p:par>
                              <p:par>
                                <p:cTn id="27" presetID="53" presetClass="entr" presetSubtype="16"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p:cTn id="36" dur="500" fill="hold"/>
                                        <p:tgtEl>
                                          <p:spTgt spid="18"/>
                                        </p:tgtEl>
                                        <p:attrNameLst>
                                          <p:attrName>ppt_w</p:attrName>
                                        </p:attrNameLst>
                                      </p:cBhvr>
                                      <p:tavLst>
                                        <p:tav tm="0">
                                          <p:val>
                                            <p:fltVal val="0"/>
                                          </p:val>
                                        </p:tav>
                                        <p:tav tm="100000">
                                          <p:val>
                                            <p:strVal val="#ppt_w"/>
                                          </p:val>
                                        </p:tav>
                                      </p:tavLst>
                                    </p:anim>
                                    <p:anim calcmode="lin" valueType="num">
                                      <p:cBhvr>
                                        <p:cTn id="37" dur="500" fill="hold"/>
                                        <p:tgtEl>
                                          <p:spTgt spid="18"/>
                                        </p:tgtEl>
                                        <p:attrNameLst>
                                          <p:attrName>ppt_h</p:attrName>
                                        </p:attrNameLst>
                                      </p:cBhvr>
                                      <p:tavLst>
                                        <p:tav tm="0">
                                          <p:val>
                                            <p:fltVal val="0"/>
                                          </p:val>
                                        </p:tav>
                                        <p:tav tm="100000">
                                          <p:val>
                                            <p:strVal val="#ppt_h"/>
                                          </p:val>
                                        </p:tav>
                                      </p:tavLst>
                                    </p:anim>
                                    <p:animEffect transition="in" filter="fade">
                                      <p:cBhvr>
                                        <p:cTn id="38" dur="500"/>
                                        <p:tgtEl>
                                          <p:spTgt spid="18"/>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p:cTn id="41" dur="500" fill="hold"/>
                                        <p:tgtEl>
                                          <p:spTgt spid="15"/>
                                        </p:tgtEl>
                                        <p:attrNameLst>
                                          <p:attrName>ppt_w</p:attrName>
                                        </p:attrNameLst>
                                      </p:cBhvr>
                                      <p:tavLst>
                                        <p:tav tm="0">
                                          <p:val>
                                            <p:fltVal val="0"/>
                                          </p:val>
                                        </p:tav>
                                        <p:tav tm="100000">
                                          <p:val>
                                            <p:strVal val="#ppt_w"/>
                                          </p:val>
                                        </p:tav>
                                      </p:tavLst>
                                    </p:anim>
                                    <p:anim calcmode="lin" valueType="num">
                                      <p:cBhvr>
                                        <p:cTn id="42" dur="500" fill="hold"/>
                                        <p:tgtEl>
                                          <p:spTgt spid="15"/>
                                        </p:tgtEl>
                                        <p:attrNameLst>
                                          <p:attrName>ppt_h</p:attrName>
                                        </p:attrNameLst>
                                      </p:cBhvr>
                                      <p:tavLst>
                                        <p:tav tm="0">
                                          <p:val>
                                            <p:fltVal val="0"/>
                                          </p:val>
                                        </p:tav>
                                        <p:tav tm="100000">
                                          <p:val>
                                            <p:strVal val="#ppt_h"/>
                                          </p:val>
                                        </p:tav>
                                      </p:tavLst>
                                    </p:anim>
                                    <p:animEffect transition="in" filter="fade">
                                      <p:cBhvr>
                                        <p:cTn id="4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678DDC-02AF-5996-2460-CEF3FBCA39F4}"/>
                  </a:ext>
                </a:extLst>
              </p:cNvPr>
              <p:cNvSpPr>
                <a:spLocks noGrp="1"/>
              </p:cNvSpPr>
              <p:nvPr>
                <p:ph idx="1"/>
              </p:nvPr>
            </p:nvSpPr>
            <p:spPr>
              <a:xfrm>
                <a:off x="457200" y="1201783"/>
                <a:ext cx="10896600" cy="4689566"/>
              </a:xfrm>
            </p:spPr>
            <p:txBody>
              <a:bodyPr>
                <a:normAutofit fontScale="92500" lnSpcReduction="10000"/>
              </a:bodyPr>
              <a:lstStyle/>
              <a:p>
                <a:pPr>
                  <a:lnSpc>
                    <a:spcPct val="120000"/>
                  </a:lnSpc>
                </a:pPr>
                <a:r>
                  <a:rPr lang="en-US" b="1" dirty="0"/>
                  <a:t>Observed World</a:t>
                </a:r>
              </a:p>
              <a:p>
                <a:pPr lvl="1">
                  <a:lnSpc>
                    <a:spcPct val="120000"/>
                  </a:lnSpc>
                </a:pPr>
                <a:r>
                  <a:rPr lang="en-US" dirty="0"/>
                  <a:t>The patient does </a:t>
                </a:r>
                <a:r>
                  <a:rPr lang="en-US" b="1" dirty="0"/>
                  <a:t>not</a:t>
                </a:r>
                <a:r>
                  <a:rPr lang="en-US" dirty="0"/>
                  <a:t> experience the event; We observe a censoring time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𝑖</m:t>
                        </m:r>
                      </m:sub>
                    </m:sSub>
                  </m:oMath>
                </a14:m>
                <a:r>
                  <a:rPr lang="en-US" dirty="0"/>
                  <a:t>; Beyond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𝑖</m:t>
                        </m:r>
                      </m:sub>
                    </m:sSub>
                  </m:oMath>
                </a14:m>
                <a:r>
                  <a:rPr lang="ar-AE" dirty="0"/>
                  <a:t>, </a:t>
                </a:r>
                <a:r>
                  <a:rPr lang="en-US" dirty="0"/>
                  <a:t>nothing is observed</a:t>
                </a:r>
              </a:p>
              <a:p>
                <a:pPr>
                  <a:lnSpc>
                    <a:spcPct val="120000"/>
                  </a:lnSpc>
                </a:pPr>
                <a:r>
                  <a:rPr lang="en-US" b="1" dirty="0"/>
                  <a:t>Counterfactual (No-Treatment) World</a:t>
                </a:r>
              </a:p>
              <a:p>
                <a:pPr lvl="1">
                  <a:lnSpc>
                    <a:spcPct val="120000"/>
                  </a:lnSpc>
                </a:pPr>
                <a:r>
                  <a:rPr lang="en-US" dirty="0"/>
                  <a:t>Survival time is transformed to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𝑖</m:t>
                        </m:r>
                      </m:sub>
                    </m:sSub>
                    <m:d>
                      <m:dPr>
                        <m:ctrlPr>
                          <a:rPr lang="ar-AE" i="1">
                            <a:latin typeface="Cambria Math" panose="02040503050406030204" pitchFamily="18" charset="0"/>
                          </a:rPr>
                        </m:ctrlPr>
                      </m:dPr>
                      <m:e>
                        <m:r>
                          <a:rPr lang="ar-AE" i="1">
                            <a:latin typeface="Cambria Math" panose="02040503050406030204" pitchFamily="18" charset="0"/>
                          </a:rPr>
                          <m:t>𝜓</m:t>
                        </m:r>
                      </m:e>
                    </m:d>
                    <m:r>
                      <a:rPr lang="en-US" b="0" i="0" smtClean="0">
                        <a:latin typeface="Cambria Math" panose="02040503050406030204" pitchFamily="18" charset="0"/>
                      </a:rPr>
                      <m:t>; </m:t>
                    </m:r>
                  </m:oMath>
                </a14:m>
                <a:r>
                  <a:rPr lang="en-US" dirty="0"/>
                  <a:t>The censoring time must also be transformed to </a:t>
                </a:r>
                <a14:m>
                  <m:oMath xmlns:m="http://schemas.openxmlformats.org/officeDocument/2006/math">
                    <m:sSub>
                      <m:sSubPr>
                        <m:ctrlPr>
                          <a:rPr lang="ar-AE" i="1">
                            <a:latin typeface="Cambria Math" panose="02040503050406030204" pitchFamily="18" charset="0"/>
                          </a:rPr>
                        </m:ctrlPr>
                      </m:sSubPr>
                      <m:e>
                        <m:r>
                          <a:rPr lang="en-US" b="0" i="1" smtClean="0">
                            <a:latin typeface="Cambria Math" panose="02040503050406030204" pitchFamily="18" charset="0"/>
                          </a:rPr>
                          <m:t>𝐶</m:t>
                        </m:r>
                      </m:e>
                      <m:sub>
                        <m:r>
                          <a:rPr lang="ar-AE" i="1">
                            <a:latin typeface="Cambria Math" panose="02040503050406030204" pitchFamily="18" charset="0"/>
                          </a:rPr>
                          <m:t>𝑖</m:t>
                        </m:r>
                      </m:sub>
                    </m:sSub>
                    <m:d>
                      <m:dPr>
                        <m:ctrlPr>
                          <a:rPr lang="ar-AE" i="1">
                            <a:latin typeface="Cambria Math" panose="02040503050406030204" pitchFamily="18" charset="0"/>
                          </a:rPr>
                        </m:ctrlPr>
                      </m:dPr>
                      <m:e>
                        <m:r>
                          <a:rPr lang="ar-AE" i="1">
                            <a:latin typeface="Cambria Math" panose="02040503050406030204" pitchFamily="18" charset="0"/>
                          </a:rPr>
                          <m:t>𝜓</m:t>
                        </m:r>
                      </m:e>
                    </m:d>
                  </m:oMath>
                </a14:m>
                <a:endParaRPr lang="en-US" dirty="0"/>
              </a:p>
              <a:p>
                <a:pPr>
                  <a:lnSpc>
                    <a:spcPct val="120000"/>
                  </a:lnSpc>
                </a:pPr>
                <a:r>
                  <a:rPr lang="en-US" b="1" dirty="0"/>
                  <a:t>Why Re-censoring Is Required</a:t>
                </a:r>
              </a:p>
              <a:p>
                <a:pPr lvl="1">
                  <a:lnSpc>
                    <a:spcPct val="120000"/>
                  </a:lnSpc>
                </a:pPr>
                <a:r>
                  <a:rPr lang="en-US" dirty="0"/>
                  <a:t>After time transformation, the </a:t>
                </a:r>
                <a:r>
                  <a:rPr lang="en-US" i="1" dirty="0"/>
                  <a:t>observed</a:t>
                </a:r>
                <a:r>
                  <a:rPr lang="en-US" dirty="0"/>
                  <a:t> censoring time becomes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d>
                      <m:dPr>
                        <m:ctrlPr>
                          <a:rPr lang="ar-AE" i="1">
                            <a:latin typeface="Cambria Math" panose="02040503050406030204" pitchFamily="18" charset="0"/>
                          </a:rPr>
                        </m:ctrlPr>
                      </m:dPr>
                      <m:e>
                        <m:r>
                          <a:rPr lang="ar-AE" i="1">
                            <a:latin typeface="Cambria Math" panose="02040503050406030204" pitchFamily="18" charset="0"/>
                          </a:rPr>
                          <m:t>𝜓</m:t>
                        </m:r>
                      </m:e>
                    </m:d>
                  </m:oMath>
                </a14:m>
                <a:r>
                  <a:rPr lang="ar-AE" dirty="0"/>
                  <a:t>, </a:t>
                </a:r>
                <a:r>
                  <a:rPr lang="en-US" dirty="0"/>
                  <a:t>which can depend on treatment history → </a:t>
                </a:r>
                <a:r>
                  <a:rPr lang="en-US" b="1" dirty="0"/>
                  <a:t>informative censoring → bias</a:t>
                </a:r>
              </a:p>
              <a:p>
                <a:pPr lvl="1">
                  <a:lnSpc>
                    <a:spcPct val="120000"/>
                  </a:lnSpc>
                </a:pPr>
                <a:r>
                  <a:rPr lang="en-US" dirty="0"/>
                  <a:t>Re-censoring restores the independence</a:t>
                </a:r>
              </a:p>
              <a:p>
                <a:pPr lvl="1">
                  <a:lnSpc>
                    <a:spcPct val="120000"/>
                  </a:lnSpc>
                </a:pPr>
                <a:endParaRPr lang="en-US" dirty="0"/>
              </a:p>
            </p:txBody>
          </p:sp>
        </mc:Choice>
        <mc:Fallback xmlns="">
          <p:sp>
            <p:nvSpPr>
              <p:cNvPr id="3" name="Content Placeholder 2">
                <a:extLst>
                  <a:ext uri="{FF2B5EF4-FFF2-40B4-BE49-F238E27FC236}">
                    <a16:creationId xmlns:a16="http://schemas.microsoft.com/office/drawing/2014/main" id="{85678DDC-02AF-5996-2460-CEF3FBCA39F4}"/>
                  </a:ext>
                </a:extLst>
              </p:cNvPr>
              <p:cNvSpPr>
                <a:spLocks noGrp="1" noRot="1" noChangeAspect="1" noMove="1" noResize="1" noEditPoints="1" noAdjustHandles="1" noChangeArrowheads="1" noChangeShapeType="1" noTextEdit="1"/>
              </p:cNvSpPr>
              <p:nvPr>
                <p:ph idx="1"/>
              </p:nvPr>
            </p:nvSpPr>
            <p:spPr>
              <a:xfrm>
                <a:off x="457200" y="1201783"/>
                <a:ext cx="10896600" cy="4689566"/>
              </a:xfrm>
              <a:blipFill>
                <a:blip r:embed="rId3"/>
                <a:stretch>
                  <a:fillRect l="-839" t="-650" r="-839"/>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B50CBFDA-B6BA-DBB0-B807-7EF83F469882}"/>
              </a:ext>
            </a:extLst>
          </p:cNvPr>
          <p:cNvSpPr>
            <a:spLocks noGrp="1"/>
          </p:cNvSpPr>
          <p:nvPr>
            <p:ph type="title"/>
          </p:nvPr>
        </p:nvSpPr>
        <p:spPr>
          <a:xfrm>
            <a:off x="302623" y="18255"/>
            <a:ext cx="10515600" cy="1325563"/>
          </a:xfrm>
        </p:spPr>
        <p:txBody>
          <a:bodyPr>
            <a:noAutofit/>
          </a:bodyPr>
          <a:lstStyle/>
          <a:p>
            <a:r>
              <a:rPr lang="en-US" sz="3200" b="1" dirty="0"/>
              <a:t>Rank Preserving Structure Failure Time Model (RPSFTM)</a:t>
            </a:r>
            <a:br>
              <a:rPr lang="en-US" sz="4000" b="1" dirty="0"/>
            </a:br>
            <a:r>
              <a:rPr lang="en-US" sz="2400" i="1" dirty="0"/>
              <a:t>Re-censoring</a:t>
            </a:r>
            <a:endParaRPr lang="en-US" sz="4000" i="1" dirty="0"/>
          </a:p>
        </p:txBody>
      </p:sp>
      <p:pic>
        <p:nvPicPr>
          <p:cNvPr id="2" name="Picture 1">
            <a:extLst>
              <a:ext uri="{FF2B5EF4-FFF2-40B4-BE49-F238E27FC236}">
                <a16:creationId xmlns:a16="http://schemas.microsoft.com/office/drawing/2014/main" id="{620A7D08-451E-ABB7-402B-9C1792726F1B}"/>
              </a:ext>
            </a:extLst>
          </p:cNvPr>
          <p:cNvPicPr>
            <a:picLocks noChangeAspect="1"/>
          </p:cNvPicPr>
          <p:nvPr/>
        </p:nvPicPr>
        <p:blipFill>
          <a:blip r:embed="rId4"/>
          <a:stretch>
            <a:fillRect/>
          </a:stretch>
        </p:blipFill>
        <p:spPr>
          <a:xfrm>
            <a:off x="1976825" y="5728767"/>
            <a:ext cx="7857349" cy="1110978"/>
          </a:xfrm>
          <a:prstGeom prst="rect">
            <a:avLst/>
          </a:prstGeom>
        </p:spPr>
      </p:pic>
    </p:spTree>
    <p:extLst>
      <p:ext uri="{BB962C8B-B14F-4D97-AF65-F5344CB8AC3E}">
        <p14:creationId xmlns:p14="http://schemas.microsoft.com/office/powerpoint/2010/main" val="2866327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C14F54-5AB0-9D4A-C07C-E9AE433F63E6}"/>
                  </a:ext>
                </a:extLst>
              </p:cNvPr>
              <p:cNvSpPr>
                <a:spLocks noGrp="1"/>
              </p:cNvSpPr>
              <p:nvPr>
                <p:ph idx="1"/>
              </p:nvPr>
            </p:nvSpPr>
            <p:spPr>
              <a:xfrm>
                <a:off x="104503" y="3800375"/>
                <a:ext cx="11249297" cy="3250883"/>
              </a:xfrm>
            </p:spPr>
            <p:txBody>
              <a:bodyPr/>
              <a:lstStyle/>
              <a:p>
                <a:endParaRPr lang="en-US" dirty="0"/>
              </a:p>
              <a:p>
                <a:r>
                  <a:rPr lang="en-US" b="1" dirty="0"/>
                  <a:t>Goal</a:t>
                </a:r>
                <a:r>
                  <a:rPr lang="en-US" dirty="0"/>
                  <a:t>: Find</a:t>
                </a:r>
                <a:r>
                  <a:rPr lang="en-US" b="1" dirty="0"/>
                  <a:t> </a:t>
                </a:r>
                <a14:m>
                  <m:oMath xmlns:m="http://schemas.openxmlformats.org/officeDocument/2006/math">
                    <m:r>
                      <a:rPr lang="en-US" b="1" i="1">
                        <a:latin typeface="Cambria Math" panose="02040503050406030204" pitchFamily="18" charset="0"/>
                      </a:rPr>
                      <m:t>𝝍</m:t>
                    </m:r>
                  </m:oMath>
                </a14:m>
                <a:r>
                  <a:rPr lang="en-US" b="1" dirty="0"/>
                  <a:t> </a:t>
                </a:r>
                <a:r>
                  <a:rPr lang="en-US" dirty="0"/>
                  <a:t>that makes the two randomized groups look the same after time transformation. </a:t>
                </a:r>
              </a:p>
              <a:p>
                <a:endParaRPr lang="en-US" dirty="0"/>
              </a:p>
            </p:txBody>
          </p:sp>
        </mc:Choice>
        <mc:Fallback xmlns="">
          <p:sp>
            <p:nvSpPr>
              <p:cNvPr id="3" name="Content Placeholder 2">
                <a:extLst>
                  <a:ext uri="{FF2B5EF4-FFF2-40B4-BE49-F238E27FC236}">
                    <a16:creationId xmlns:a16="http://schemas.microsoft.com/office/drawing/2014/main" id="{9AC14F54-5AB0-9D4A-C07C-E9AE433F63E6}"/>
                  </a:ext>
                </a:extLst>
              </p:cNvPr>
              <p:cNvSpPr>
                <a:spLocks noGrp="1" noRot="1" noChangeAspect="1" noMove="1" noResize="1" noEditPoints="1" noAdjustHandles="1" noChangeArrowheads="1" noChangeShapeType="1" noTextEdit="1"/>
              </p:cNvSpPr>
              <p:nvPr>
                <p:ph idx="1"/>
              </p:nvPr>
            </p:nvSpPr>
            <p:spPr>
              <a:xfrm>
                <a:off x="104503" y="3800375"/>
                <a:ext cx="11249297" cy="3250883"/>
              </a:xfrm>
              <a:blipFill>
                <a:blip r:embed="rId3"/>
                <a:stretch>
                  <a:fillRect l="-9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itle 1">
                <a:extLst>
                  <a:ext uri="{FF2B5EF4-FFF2-40B4-BE49-F238E27FC236}">
                    <a16:creationId xmlns:a16="http://schemas.microsoft.com/office/drawing/2014/main" id="{823918A0-3F57-C3E0-7B56-76DDABB18331}"/>
                  </a:ext>
                </a:extLst>
              </p:cNvPr>
              <p:cNvSpPr>
                <a:spLocks noGrp="1"/>
              </p:cNvSpPr>
              <p:nvPr>
                <p:ph type="title"/>
              </p:nvPr>
            </p:nvSpPr>
            <p:spPr>
              <a:xfrm>
                <a:off x="104503" y="18255"/>
                <a:ext cx="10515600" cy="1325563"/>
              </a:xfrm>
            </p:spPr>
            <p:txBody>
              <a:bodyPr>
                <a:noAutofit/>
              </a:bodyPr>
              <a:lstStyle/>
              <a:p>
                <a:r>
                  <a:rPr lang="en-US" sz="2800" b="1" dirty="0"/>
                  <a:t>Rank Preserving Structure Failure Time Model (RPSFTM)</a:t>
                </a:r>
                <a:br>
                  <a:rPr lang="en-US" sz="3600" b="1" dirty="0"/>
                </a:br>
                <a:r>
                  <a:rPr lang="en-US" sz="2800" i="1" dirty="0"/>
                  <a:t>How Is </a:t>
                </a:r>
                <a14:m>
                  <m:oMath xmlns:m="http://schemas.openxmlformats.org/officeDocument/2006/math">
                    <m:r>
                      <a:rPr lang="en-US" sz="2800" b="0" i="1" smtClean="0">
                        <a:latin typeface="Cambria Math" panose="02040503050406030204" pitchFamily="18" charset="0"/>
                      </a:rPr>
                      <m:t>𝜓</m:t>
                    </m:r>
                    <m:r>
                      <a:rPr lang="en-US" sz="2800" b="0" i="1" smtClean="0">
                        <a:latin typeface="Cambria Math" panose="02040503050406030204" pitchFamily="18" charset="0"/>
                      </a:rPr>
                      <m:t> </m:t>
                    </m:r>
                  </m:oMath>
                </a14:m>
                <a:r>
                  <a:rPr lang="en-US" sz="2800" i="1" dirty="0"/>
                  <a:t>Estimated</a:t>
                </a:r>
                <a:endParaRPr lang="en-US" sz="3600" i="1" dirty="0"/>
              </a:p>
            </p:txBody>
          </p:sp>
        </mc:Choice>
        <mc:Fallback xmlns="">
          <p:sp>
            <p:nvSpPr>
              <p:cNvPr id="5" name="Title 1">
                <a:extLst>
                  <a:ext uri="{FF2B5EF4-FFF2-40B4-BE49-F238E27FC236}">
                    <a16:creationId xmlns:a16="http://schemas.microsoft.com/office/drawing/2014/main" id="{823918A0-3F57-C3E0-7B56-76DDABB18331}"/>
                  </a:ext>
                </a:extLst>
              </p:cNvPr>
              <p:cNvSpPr>
                <a:spLocks noGrp="1" noRot="1" noChangeAspect="1" noMove="1" noResize="1" noEditPoints="1" noAdjustHandles="1" noChangeArrowheads="1" noChangeShapeType="1" noTextEdit="1"/>
              </p:cNvSpPr>
              <p:nvPr>
                <p:ph type="title"/>
              </p:nvPr>
            </p:nvSpPr>
            <p:spPr>
              <a:xfrm>
                <a:off x="104503" y="18255"/>
                <a:ext cx="10515600" cy="1325563"/>
              </a:xfrm>
              <a:blipFill>
                <a:blip r:embed="rId4"/>
                <a:stretch>
                  <a:fillRect l="-1159"/>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DBA07E30-D34B-F94A-7586-F3E25B06DEB0}"/>
              </a:ext>
            </a:extLst>
          </p:cNvPr>
          <p:cNvPicPr>
            <a:picLocks noChangeAspect="1"/>
          </p:cNvPicPr>
          <p:nvPr/>
        </p:nvPicPr>
        <p:blipFill>
          <a:blip r:embed="rId5"/>
          <a:stretch>
            <a:fillRect/>
          </a:stretch>
        </p:blipFill>
        <p:spPr>
          <a:xfrm>
            <a:off x="670294" y="2425651"/>
            <a:ext cx="8015852" cy="1410790"/>
          </a:xfrm>
          <a:prstGeom prst="rect">
            <a:avLst/>
          </a:prstGeom>
        </p:spPr>
      </p:pic>
      <p:sp>
        <p:nvSpPr>
          <p:cNvPr id="10" name="TextBox 9">
            <a:extLst>
              <a:ext uri="{FF2B5EF4-FFF2-40B4-BE49-F238E27FC236}">
                <a16:creationId xmlns:a16="http://schemas.microsoft.com/office/drawing/2014/main" id="{1752A4F0-2273-9437-EA0E-A54767608ABF}"/>
              </a:ext>
            </a:extLst>
          </p:cNvPr>
          <p:cNvSpPr txBox="1"/>
          <p:nvPr/>
        </p:nvSpPr>
        <p:spPr>
          <a:xfrm>
            <a:off x="104503" y="1343818"/>
            <a:ext cx="6400800" cy="584775"/>
          </a:xfrm>
          <a:prstGeom prst="rect">
            <a:avLst/>
          </a:prstGeom>
          <a:noFill/>
        </p:spPr>
        <p:txBody>
          <a:bodyPr wrap="square">
            <a:spAutoFit/>
          </a:bodyPr>
          <a:lstStyle/>
          <a:p>
            <a:pPr marL="285750" indent="-285750">
              <a:buFont typeface="Arial" panose="020B0604020202020204" pitchFamily="34" charset="0"/>
              <a:buChar char="•"/>
            </a:pPr>
            <a:r>
              <a:rPr lang="en-US" sz="3200" b="1" dirty="0"/>
              <a:t>Counterfactual survival time:</a:t>
            </a:r>
          </a:p>
        </p:txBody>
      </p:sp>
    </p:spTree>
    <p:extLst>
      <p:ext uri="{BB962C8B-B14F-4D97-AF65-F5344CB8AC3E}">
        <p14:creationId xmlns:p14="http://schemas.microsoft.com/office/powerpoint/2010/main" val="3415803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9AD442-5B9D-074C-72DB-4F3F8D9B400F}"/>
                  </a:ext>
                </a:extLst>
              </p:cNvPr>
              <p:cNvSpPr>
                <a:spLocks noGrp="1"/>
              </p:cNvSpPr>
              <p:nvPr>
                <p:ph idx="1"/>
              </p:nvPr>
            </p:nvSpPr>
            <p:spPr>
              <a:xfrm>
                <a:off x="431073" y="1468618"/>
                <a:ext cx="11312435" cy="5246325"/>
              </a:xfrm>
            </p:spPr>
            <p:txBody>
              <a:bodyPr>
                <a:normAutofit/>
              </a:bodyPr>
              <a:lstStyle/>
              <a:p>
                <a:pPr>
                  <a:lnSpc>
                    <a:spcPct val="100000"/>
                  </a:lnSpc>
                </a:pPr>
                <a:r>
                  <a:rPr lang="en-US" b="1" dirty="0"/>
                  <a:t>Step 1: Set a search range for </a:t>
                </a:r>
                <a14:m>
                  <m:oMath xmlns:m="http://schemas.openxmlformats.org/officeDocument/2006/math">
                    <m:r>
                      <a:rPr lang="en-US" i="1">
                        <a:latin typeface="Cambria Math" panose="02040503050406030204" pitchFamily="18" charset="0"/>
                      </a:rPr>
                      <m:t>𝜓</m:t>
                    </m:r>
                  </m:oMath>
                </a14:m>
                <a:endParaRPr lang="en-US" b="1" dirty="0"/>
              </a:p>
              <a:p>
                <a:pPr>
                  <a:lnSpc>
                    <a:spcPct val="100000"/>
                  </a:lnSpc>
                </a:pPr>
                <a:r>
                  <a:rPr lang="en-US" b="1" dirty="0"/>
                  <a:t>Step 2: For each candidate </a:t>
                </a:r>
                <a14:m>
                  <m:oMath xmlns:m="http://schemas.openxmlformats.org/officeDocument/2006/math">
                    <m:r>
                      <a:rPr lang="en-US" b="1" i="1">
                        <a:latin typeface="Cambria Math" panose="02040503050406030204" pitchFamily="18" charset="0"/>
                      </a:rPr>
                      <m:t>𝝍</m:t>
                    </m:r>
                  </m:oMath>
                </a14:m>
                <a:r>
                  <a:rPr lang="en-US" b="1" dirty="0"/>
                  <a:t>, do three things</a:t>
                </a:r>
              </a:p>
              <a:p>
                <a:pPr lvl="1">
                  <a:lnSpc>
                    <a:spcPct val="100000"/>
                  </a:lnSpc>
                </a:pPr>
                <a:r>
                  <a:rPr lang="en-US" dirty="0"/>
                  <a:t>(A) Compute each subject’s counterfactual survival time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𝑖</m:t>
                        </m:r>
                      </m:sub>
                    </m:sSub>
                    <m:d>
                      <m:dPr>
                        <m:ctrlPr>
                          <a:rPr lang="ar-AE" i="1">
                            <a:latin typeface="Cambria Math" panose="02040503050406030204" pitchFamily="18" charset="0"/>
                          </a:rPr>
                        </m:ctrlPr>
                      </m:dPr>
                      <m:e>
                        <m:r>
                          <a:rPr lang="ar-AE" i="1">
                            <a:latin typeface="Cambria Math" panose="02040503050406030204" pitchFamily="18" charset="0"/>
                          </a:rPr>
                          <m:t>𝜓</m:t>
                        </m:r>
                      </m:e>
                    </m:d>
                  </m:oMath>
                </a14:m>
                <a:endParaRPr lang="en-US" dirty="0"/>
              </a:p>
              <a:p>
                <a:pPr lvl="1">
                  <a:lnSpc>
                    <a:spcPct val="100000"/>
                  </a:lnSpc>
                </a:pPr>
                <a:r>
                  <a:rPr lang="en-US" dirty="0"/>
                  <a:t>(B) Apply re-censoring if necessary </a:t>
                </a:r>
              </a:p>
              <a:p>
                <a:pPr lvl="1">
                  <a:lnSpc>
                    <a:spcPct val="100000"/>
                  </a:lnSpc>
                </a:pPr>
                <a:r>
                  <a:rPr lang="en-US" dirty="0"/>
                  <a:t>(C) Use a survival difference test to test the following hypothesis: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𝑖</m:t>
                        </m:r>
                      </m:sub>
                    </m:sSub>
                  </m:oMath>
                </a14:m>
                <a:endParaRPr lang="en-US" dirty="0"/>
              </a:p>
              <a:p>
                <a:pPr>
                  <a:lnSpc>
                    <a:spcPct val="100000"/>
                  </a:lnSpc>
                </a:pPr>
                <a:r>
                  <a:rPr lang="en-US" b="1" dirty="0"/>
                  <a:t>Step 3: Solve for </a:t>
                </a:r>
                <a14:m>
                  <m:oMath xmlns:m="http://schemas.openxmlformats.org/officeDocument/2006/math">
                    <m:r>
                      <a:rPr lang="en-US" b="1" i="1">
                        <a:latin typeface="Cambria Math" panose="02040503050406030204" pitchFamily="18" charset="0"/>
                      </a:rPr>
                      <m:t>𝝍</m:t>
                    </m:r>
                  </m:oMath>
                </a14:m>
                <a:endParaRPr lang="en-US" b="1" dirty="0"/>
              </a:p>
              <a:p>
                <a:pPr lvl="1">
                  <a:lnSpc>
                    <a:spcPct val="100000"/>
                  </a:lnSpc>
                </a:pPr>
                <a:r>
                  <a:rPr lang="en-US" dirty="0"/>
                  <a:t>Find the value of </a:t>
                </a:r>
                <a14:m>
                  <m:oMath xmlns:m="http://schemas.openxmlformats.org/officeDocument/2006/math">
                    <m:r>
                      <a:rPr lang="en-US" i="1">
                        <a:latin typeface="Cambria Math" panose="02040503050406030204" pitchFamily="18" charset="0"/>
                      </a:rPr>
                      <m:t>𝜓</m:t>
                    </m:r>
                  </m:oMath>
                </a14:m>
                <a:r>
                  <a:rPr lang="en-US" dirty="0"/>
                  <a:t> where the survival should be the same in the two randomized groups.</a:t>
                </a:r>
              </a:p>
              <a:p>
                <a:pPr lvl="1">
                  <a:lnSpc>
                    <a:spcPct val="100000"/>
                  </a:lnSpc>
                </a:pPr>
                <a:r>
                  <a:rPr lang="en-US" dirty="0"/>
                  <a:t>This </a:t>
                </a: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𝜓</m:t>
                        </m:r>
                      </m:e>
                    </m:acc>
                  </m:oMath>
                </a14:m>
                <a:r>
                  <a:rPr lang="en-US" dirty="0"/>
                  <a:t> is the g-estimate of the treatment effect(CIs are commonly obtained via bootstrap)</a:t>
                </a:r>
              </a:p>
              <a:p>
                <a:endParaRPr lang="en-US" b="1" dirty="0"/>
              </a:p>
            </p:txBody>
          </p:sp>
        </mc:Choice>
        <mc:Fallback xmlns="">
          <p:sp>
            <p:nvSpPr>
              <p:cNvPr id="3" name="Content Placeholder 2">
                <a:extLst>
                  <a:ext uri="{FF2B5EF4-FFF2-40B4-BE49-F238E27FC236}">
                    <a16:creationId xmlns:a16="http://schemas.microsoft.com/office/drawing/2014/main" id="{A09AD442-5B9D-074C-72DB-4F3F8D9B400F}"/>
                  </a:ext>
                </a:extLst>
              </p:cNvPr>
              <p:cNvSpPr>
                <a:spLocks noGrp="1" noRot="1" noChangeAspect="1" noMove="1" noResize="1" noEditPoints="1" noAdjustHandles="1" noChangeArrowheads="1" noChangeShapeType="1" noTextEdit="1"/>
              </p:cNvSpPr>
              <p:nvPr>
                <p:ph idx="1"/>
              </p:nvPr>
            </p:nvSpPr>
            <p:spPr>
              <a:xfrm>
                <a:off x="431073" y="1468618"/>
                <a:ext cx="11312435" cy="5246325"/>
              </a:xfrm>
              <a:blipFill>
                <a:blip r:embed="rId3"/>
                <a:stretch>
                  <a:fillRect l="-970" t="-12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itle 1">
                <a:extLst>
                  <a:ext uri="{FF2B5EF4-FFF2-40B4-BE49-F238E27FC236}">
                    <a16:creationId xmlns:a16="http://schemas.microsoft.com/office/drawing/2014/main" id="{2C4AFBC2-D8E1-5C3D-A52A-272776F13612}"/>
                  </a:ext>
                </a:extLst>
              </p:cNvPr>
              <p:cNvSpPr>
                <a:spLocks noGrp="1"/>
              </p:cNvSpPr>
              <p:nvPr>
                <p:ph type="title"/>
              </p:nvPr>
            </p:nvSpPr>
            <p:spPr>
              <a:xfrm>
                <a:off x="250371" y="143056"/>
                <a:ext cx="10515600" cy="1325563"/>
              </a:xfrm>
            </p:spPr>
            <p:txBody>
              <a:bodyPr>
                <a:noAutofit/>
              </a:bodyPr>
              <a:lstStyle/>
              <a:p>
                <a:r>
                  <a:rPr lang="en-US" sz="2800" b="1" dirty="0"/>
                  <a:t>Rank Preserving Structure Failure Time Model (RPSFTM)</a:t>
                </a:r>
                <a:br>
                  <a:rPr lang="en-US" sz="3600" b="1" dirty="0"/>
                </a:br>
                <a:r>
                  <a:rPr lang="en-US" sz="2800" i="1" dirty="0"/>
                  <a:t>How Is </a:t>
                </a:r>
                <a14:m>
                  <m:oMath xmlns:m="http://schemas.openxmlformats.org/officeDocument/2006/math">
                    <m:r>
                      <a:rPr lang="en-US" sz="2800" b="0" i="1" smtClean="0">
                        <a:latin typeface="Cambria Math" panose="02040503050406030204" pitchFamily="18" charset="0"/>
                      </a:rPr>
                      <m:t>𝜓</m:t>
                    </m:r>
                    <m:r>
                      <a:rPr lang="en-US" sz="2800" b="0" i="1" smtClean="0">
                        <a:latin typeface="Cambria Math" panose="02040503050406030204" pitchFamily="18" charset="0"/>
                      </a:rPr>
                      <m:t> </m:t>
                    </m:r>
                  </m:oMath>
                </a14:m>
                <a:r>
                  <a:rPr lang="en-US" sz="2800" i="1" dirty="0"/>
                  <a:t>Estimated – G-estimation</a:t>
                </a:r>
                <a:endParaRPr lang="en-US" sz="3600" i="1" dirty="0"/>
              </a:p>
            </p:txBody>
          </p:sp>
        </mc:Choice>
        <mc:Fallback xmlns="">
          <p:sp>
            <p:nvSpPr>
              <p:cNvPr id="4" name="Title 1">
                <a:extLst>
                  <a:ext uri="{FF2B5EF4-FFF2-40B4-BE49-F238E27FC236}">
                    <a16:creationId xmlns:a16="http://schemas.microsoft.com/office/drawing/2014/main" id="{2C4AFBC2-D8E1-5C3D-A52A-272776F13612}"/>
                  </a:ext>
                </a:extLst>
              </p:cNvPr>
              <p:cNvSpPr>
                <a:spLocks noGrp="1" noRot="1" noChangeAspect="1" noMove="1" noResize="1" noEditPoints="1" noAdjustHandles="1" noChangeArrowheads="1" noChangeShapeType="1" noTextEdit="1"/>
              </p:cNvSpPr>
              <p:nvPr>
                <p:ph type="title"/>
              </p:nvPr>
            </p:nvSpPr>
            <p:spPr>
              <a:xfrm>
                <a:off x="250371" y="143056"/>
                <a:ext cx="10515600" cy="1325563"/>
              </a:xfrm>
              <a:blipFill>
                <a:blip r:embed="rId4"/>
                <a:stretch>
                  <a:fillRect l="-1159"/>
                </a:stretch>
              </a:blipFill>
            </p:spPr>
            <p:txBody>
              <a:bodyPr/>
              <a:lstStyle/>
              <a:p>
                <a:r>
                  <a:rPr lang="en-US">
                    <a:noFill/>
                  </a:rPr>
                  <a:t> </a:t>
                </a:r>
              </a:p>
            </p:txBody>
          </p:sp>
        </mc:Fallback>
      </mc:AlternateContent>
    </p:spTree>
    <p:extLst>
      <p:ext uri="{BB962C8B-B14F-4D97-AF65-F5344CB8AC3E}">
        <p14:creationId xmlns:p14="http://schemas.microsoft.com/office/powerpoint/2010/main" val="2134557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3211B2-18C2-4FD1-33BB-FB7F897DE670}"/>
              </a:ext>
            </a:extLst>
          </p:cNvPr>
          <p:cNvSpPr>
            <a:spLocks noGrp="1"/>
          </p:cNvSpPr>
          <p:nvPr>
            <p:ph type="title"/>
          </p:nvPr>
        </p:nvSpPr>
        <p:spPr>
          <a:xfrm>
            <a:off x="526472" y="299577"/>
            <a:ext cx="10515600" cy="1133499"/>
          </a:xfrm>
        </p:spPr>
        <p:txBody>
          <a:bodyPr>
            <a:normAutofit/>
          </a:bodyPr>
          <a:lstStyle/>
          <a:p>
            <a:r>
              <a:rPr lang="en-US" sz="3300" b="1" dirty="0"/>
              <a:t>Rank Preserving Structure Failure Time Model (RPSFTM)</a:t>
            </a:r>
            <a:br>
              <a:rPr lang="en-US" sz="3300" b="1" dirty="0"/>
            </a:br>
            <a:r>
              <a:rPr lang="en-US" sz="3300" i="1" dirty="0"/>
              <a:t>Assumptions</a:t>
            </a:r>
            <a:endParaRPr lang="en-US" sz="3300" dirty="0"/>
          </a:p>
        </p:txBody>
      </p:sp>
      <p:graphicFrame>
        <p:nvGraphicFramePr>
          <p:cNvPr id="29" name="Content Placeholder 2">
            <a:extLst>
              <a:ext uri="{FF2B5EF4-FFF2-40B4-BE49-F238E27FC236}">
                <a16:creationId xmlns:a16="http://schemas.microsoft.com/office/drawing/2014/main" id="{1FA2D8D9-30AE-93A5-9693-BCE37B3094C2}"/>
              </a:ext>
            </a:extLst>
          </p:cNvPr>
          <p:cNvGraphicFramePr>
            <a:graphicFrameLocks noGrp="1"/>
          </p:cNvGraphicFramePr>
          <p:nvPr>
            <p:ph idx="1"/>
            <p:extLst>
              <p:ext uri="{D42A27DB-BD31-4B8C-83A1-F6EECF244321}">
                <p14:modId xmlns:p14="http://schemas.microsoft.com/office/powerpoint/2010/main" val="2050155352"/>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236D45AA-8F22-319D-D31C-A212E546F3B5}"/>
              </a:ext>
            </a:extLst>
          </p:cNvPr>
          <p:cNvSpPr/>
          <p:nvPr/>
        </p:nvSpPr>
        <p:spPr>
          <a:xfrm>
            <a:off x="580057" y="1711670"/>
            <a:ext cx="3726873" cy="4867736"/>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marL="285750" indent="-285750">
              <a:lnSpc>
                <a:spcPct val="150000"/>
              </a:lnSpc>
              <a:buFont typeface="Arial" panose="020B0604020202020204" pitchFamily="34" charset="0"/>
              <a:buChar char="•"/>
            </a:pPr>
            <a:r>
              <a:rPr lang="en-US" dirty="0"/>
              <a:t>Randomization ensures the treatment and control arms are comparable at baseline.</a:t>
            </a:r>
          </a:p>
          <a:p>
            <a:pPr marL="285750" indent="-285750">
              <a:lnSpc>
                <a:spcPct val="150000"/>
              </a:lnSpc>
              <a:buFont typeface="Arial" panose="020B0604020202020204" pitchFamily="34" charset="0"/>
              <a:buChar char="•"/>
            </a:pPr>
            <a:r>
              <a:rPr lang="en-US" dirty="0"/>
              <a:t>In a hypothetical world,</a:t>
            </a:r>
            <a:br>
              <a:rPr lang="en-US" dirty="0"/>
            </a:br>
            <a:r>
              <a:rPr lang="en-US" dirty="0"/>
              <a:t>the two randomized groups would have the same survival distribution.</a:t>
            </a:r>
          </a:p>
          <a:p>
            <a:pPr marL="285750" indent="-285750">
              <a:lnSpc>
                <a:spcPct val="150000"/>
              </a:lnSpc>
              <a:buFont typeface="Arial" panose="020B0604020202020204" pitchFamily="34" charset="0"/>
              <a:buChar char="•"/>
            </a:pPr>
            <a:r>
              <a:rPr lang="en-US" dirty="0"/>
              <a:t>Therefore, treatment assignment affects survival </a:t>
            </a:r>
            <a:r>
              <a:rPr lang="en-US" b="1" dirty="0"/>
              <a:t>only through actual treatment exposure</a:t>
            </a:r>
            <a:r>
              <a:rPr lang="en-US" dirty="0"/>
              <a:t>.</a:t>
            </a:r>
          </a:p>
          <a:p>
            <a:pPr algn="ctr"/>
            <a:endParaRPr lang="en-US" dirty="0"/>
          </a:p>
        </p:txBody>
      </p:sp>
      <p:sp>
        <p:nvSpPr>
          <p:cNvPr id="6" name="Rectangle 5">
            <a:extLst>
              <a:ext uri="{FF2B5EF4-FFF2-40B4-BE49-F238E27FC236}">
                <a16:creationId xmlns:a16="http://schemas.microsoft.com/office/drawing/2014/main" id="{EDBE05CA-2628-85C1-647E-C833567341E8}"/>
              </a:ext>
            </a:extLst>
          </p:cNvPr>
          <p:cNvSpPr/>
          <p:nvPr/>
        </p:nvSpPr>
        <p:spPr>
          <a:xfrm>
            <a:off x="4364180" y="1697815"/>
            <a:ext cx="3726873" cy="4867736"/>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patient X would live longer than patient Y without treatment,</a:t>
            </a:r>
            <a:br>
              <a:rPr lang="en-US" dirty="0"/>
            </a:br>
            <a:r>
              <a:rPr lang="en-US" dirty="0"/>
              <a:t>then patient X would also live longer than patient Y if both were treated.</a:t>
            </a:r>
          </a:p>
          <a:p>
            <a:pPr marL="285750" indent="-285750">
              <a:buFont typeface="Arial" panose="020B0604020202020204" pitchFamily="34" charset="0"/>
              <a:buChar char="•"/>
            </a:pPr>
            <a:r>
              <a:rPr lang="en-US" dirty="0"/>
              <a:t>Treatment rescales time but does not reverse who survives longer.</a:t>
            </a:r>
          </a:p>
          <a:p>
            <a:pPr algn="ctr"/>
            <a:endParaRPr lang="en-US" dirty="0"/>
          </a:p>
        </p:txBody>
      </p:sp>
      <p:pic>
        <p:nvPicPr>
          <p:cNvPr id="8" name="Picture 7" descr="A diagram of a treatment process&#10;&#10;AI-generated content may be incorrect.">
            <a:extLst>
              <a:ext uri="{FF2B5EF4-FFF2-40B4-BE49-F238E27FC236}">
                <a16:creationId xmlns:a16="http://schemas.microsoft.com/office/drawing/2014/main" id="{ED110193-9F90-F761-D6C7-F74FB0AE72A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49891" y="1828800"/>
            <a:ext cx="2155452" cy="1891236"/>
          </a:xfrm>
          <a:prstGeom prst="rect">
            <a:avLst/>
          </a:prstGeom>
        </p:spPr>
      </p:pic>
      <p:sp>
        <p:nvSpPr>
          <p:cNvPr id="10" name="Rectangle 9">
            <a:extLst>
              <a:ext uri="{FF2B5EF4-FFF2-40B4-BE49-F238E27FC236}">
                <a16:creationId xmlns:a16="http://schemas.microsoft.com/office/drawing/2014/main" id="{B57567D0-E77C-1712-BB2B-8F11B048B214}"/>
              </a:ext>
            </a:extLst>
          </p:cNvPr>
          <p:cNvSpPr/>
          <p:nvPr/>
        </p:nvSpPr>
        <p:spPr>
          <a:xfrm>
            <a:off x="8148303" y="1697815"/>
            <a:ext cx="3726873" cy="4867736"/>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marL="28575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chemeClr val="tx1"/>
                </a:solidFill>
                <a:latin typeface="Arial" panose="020B0604020202020204" pitchFamily="34" charset="0"/>
              </a:rPr>
              <a:t>Every unit of time on treatment has </a:t>
            </a:r>
            <a:r>
              <a:rPr lang="en-US" altLang="en-US" sz="1600" b="1" dirty="0">
                <a:solidFill>
                  <a:schemeClr val="tx1"/>
                </a:solidFill>
                <a:latin typeface="Arial" panose="020B0604020202020204" pitchFamily="34" charset="0"/>
              </a:rPr>
              <a:t>the same effect for all patients</a:t>
            </a:r>
            <a:endParaRPr lang="en-US" altLang="en-US" sz="1600"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chemeClr val="tx1"/>
                </a:solidFill>
                <a:latin typeface="Arial" panose="020B0604020202020204" pitchFamily="34" charset="0"/>
              </a:rPr>
              <a:t>The treatment effect does </a:t>
            </a:r>
            <a:r>
              <a:rPr lang="en-US" altLang="en-US" sz="1600" b="1" dirty="0">
                <a:solidFill>
                  <a:schemeClr val="tx1"/>
                </a:solidFill>
                <a:latin typeface="Arial" panose="020B0604020202020204" pitchFamily="34" charset="0"/>
              </a:rPr>
              <a:t>not depend on</a:t>
            </a:r>
            <a:r>
              <a:rPr lang="en-US" altLang="en-US" sz="1600" dirty="0">
                <a:solidFill>
                  <a:schemeClr val="tx1"/>
                </a:solidFill>
                <a:latin typeface="Arial" panose="020B0604020202020204" pitchFamily="34" charset="0"/>
              </a:rPr>
              <a:t>:</a:t>
            </a:r>
          </a:p>
          <a:p>
            <a:pPr marL="742950" lvl="1"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chemeClr val="tx1"/>
                </a:solidFill>
                <a:latin typeface="Arial" panose="020B0604020202020204" pitchFamily="34" charset="0"/>
              </a:rPr>
              <a:t>when treatment starts,</a:t>
            </a:r>
          </a:p>
          <a:p>
            <a:pPr marL="742950" lvl="1"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chemeClr val="tx1"/>
                </a:solidFill>
                <a:latin typeface="Arial" panose="020B0604020202020204" pitchFamily="34" charset="0"/>
              </a:rPr>
              <a:t>disease stage at treatment initiation,</a:t>
            </a:r>
          </a:p>
          <a:p>
            <a:pPr marL="742950" lvl="1"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chemeClr val="tx1"/>
                </a:solidFill>
                <a:latin typeface="Arial" panose="020B0604020202020204" pitchFamily="34" charset="0"/>
              </a:rPr>
              <a:t>whether treatment is received at baseline or after switching</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dirty="0">
                <a:solidFill>
                  <a:schemeClr val="tx1"/>
                </a:solidFill>
                <a:latin typeface="Arial" panose="020B0604020202020204" pitchFamily="34" charset="0"/>
              </a:rPr>
              <a:t>All treated time is rescaled by </a:t>
            </a:r>
            <a:r>
              <a:rPr lang="en-US" altLang="en-US" sz="1600" b="1" dirty="0">
                <a:solidFill>
                  <a:schemeClr val="tx1"/>
                </a:solidFill>
                <a:latin typeface="Arial" panose="020B0604020202020204" pitchFamily="34" charset="0"/>
              </a:rPr>
              <a:t>one common factor</a:t>
            </a:r>
            <a:r>
              <a:rPr lang="en-US" altLang="en-US" sz="1600" dirty="0">
                <a:solidFill>
                  <a:schemeClr val="tx1"/>
                </a:solidFill>
                <a:latin typeface="Arial" panose="020B0604020202020204" pitchFamily="34" charset="0"/>
              </a:rPr>
              <a:t>, exp⁡(ψ)</a:t>
            </a:r>
            <a:endParaRPr lang="en-US" sz="1600" dirty="0"/>
          </a:p>
        </p:txBody>
      </p:sp>
    </p:spTree>
    <p:extLst>
      <p:ext uri="{BB962C8B-B14F-4D97-AF65-F5344CB8AC3E}">
        <p14:creationId xmlns:p14="http://schemas.microsoft.com/office/powerpoint/2010/main" val="269544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9" grpId="0">
        <p:bldAsOne/>
      </p:bldGraphic>
      <p:bldP spid="4" grpId="0" animBg="1"/>
      <p:bldP spid="6"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6F299C-9372-20E3-4789-AD8F4E46DC2C}"/>
              </a:ext>
            </a:extLst>
          </p:cNvPr>
          <p:cNvSpPr>
            <a:spLocks noGrp="1"/>
          </p:cNvSpPr>
          <p:nvPr>
            <p:ph idx="1"/>
          </p:nvPr>
        </p:nvSpPr>
        <p:spPr>
          <a:xfrm>
            <a:off x="276498" y="1272676"/>
            <a:ext cx="11915502" cy="5036684"/>
          </a:xfrm>
        </p:spPr>
        <p:txBody>
          <a:bodyPr/>
          <a:lstStyle/>
          <a:p>
            <a:r>
              <a:rPr lang="en-US" dirty="0">
                <a:hlinkClick r:id="rId3"/>
              </a:rPr>
              <a:t>https://cran.r-project.org/web/packages/rpsftm/vignettes/rpsftm_vignette.html</a:t>
            </a:r>
            <a:endParaRPr lang="en-US" dirty="0"/>
          </a:p>
          <a:p>
            <a:r>
              <a:rPr lang="en-US" dirty="0"/>
              <a:t>Syntax</a:t>
            </a:r>
          </a:p>
          <a:p>
            <a:pPr marL="457200" lvl="1" indent="0">
              <a:buNone/>
            </a:pPr>
            <a:r>
              <a:rPr lang="en-US" dirty="0" err="1">
                <a:solidFill>
                  <a:schemeClr val="bg1"/>
                </a:solidFill>
                <a:highlight>
                  <a:srgbClr val="000000"/>
                </a:highlight>
              </a:rPr>
              <a:t>rpsftm</a:t>
            </a:r>
            <a:r>
              <a:rPr lang="en-US" dirty="0">
                <a:solidFill>
                  <a:schemeClr val="bg1"/>
                </a:solidFill>
                <a:highlight>
                  <a:srgbClr val="000000"/>
                </a:highlight>
              </a:rPr>
              <a:t>(formula, data, </a:t>
            </a:r>
            <a:r>
              <a:rPr lang="en-US" dirty="0" err="1">
                <a:solidFill>
                  <a:schemeClr val="bg1"/>
                </a:solidFill>
                <a:highlight>
                  <a:srgbClr val="000000"/>
                </a:highlight>
              </a:rPr>
              <a:t>censor_time</a:t>
            </a:r>
            <a:r>
              <a:rPr lang="en-US" dirty="0">
                <a:solidFill>
                  <a:schemeClr val="bg1"/>
                </a:solidFill>
                <a:highlight>
                  <a:srgbClr val="000000"/>
                </a:highlight>
              </a:rPr>
              <a:t>, subset, </a:t>
            </a:r>
            <a:r>
              <a:rPr lang="en-US" dirty="0" err="1">
                <a:solidFill>
                  <a:schemeClr val="bg1"/>
                </a:solidFill>
                <a:highlight>
                  <a:srgbClr val="000000"/>
                </a:highlight>
              </a:rPr>
              <a:t>na.action</a:t>
            </a:r>
            <a:r>
              <a:rPr lang="en-US" dirty="0">
                <a:solidFill>
                  <a:schemeClr val="bg1"/>
                </a:solidFill>
                <a:highlight>
                  <a:srgbClr val="000000"/>
                </a:highlight>
              </a:rPr>
              <a:t>, test=</a:t>
            </a:r>
            <a:r>
              <a:rPr lang="en-US" dirty="0" err="1">
                <a:solidFill>
                  <a:schemeClr val="bg1"/>
                </a:solidFill>
                <a:highlight>
                  <a:srgbClr val="000000"/>
                </a:highlight>
              </a:rPr>
              <a:t>survdiff</a:t>
            </a:r>
            <a:r>
              <a:rPr lang="en-US" dirty="0">
                <a:solidFill>
                  <a:schemeClr val="bg1"/>
                </a:solidFill>
                <a:highlight>
                  <a:srgbClr val="000000"/>
                </a:highlight>
              </a:rPr>
              <a:t>, </a:t>
            </a:r>
            <a:r>
              <a:rPr lang="en-US" dirty="0" err="1">
                <a:solidFill>
                  <a:schemeClr val="bg1"/>
                </a:solidFill>
                <a:highlight>
                  <a:srgbClr val="000000"/>
                </a:highlight>
              </a:rPr>
              <a:t>low_psi</a:t>
            </a:r>
            <a:r>
              <a:rPr lang="en-US" dirty="0">
                <a:solidFill>
                  <a:schemeClr val="bg1"/>
                </a:solidFill>
                <a:highlight>
                  <a:srgbClr val="000000"/>
                </a:highlight>
              </a:rPr>
              <a:t>=-1, </a:t>
            </a:r>
            <a:r>
              <a:rPr lang="en-US" dirty="0" err="1">
                <a:solidFill>
                  <a:schemeClr val="bg1"/>
                </a:solidFill>
                <a:highlight>
                  <a:srgbClr val="000000"/>
                </a:highlight>
              </a:rPr>
              <a:t>hi_psi</a:t>
            </a:r>
            <a:r>
              <a:rPr lang="en-US" dirty="0">
                <a:solidFill>
                  <a:schemeClr val="bg1"/>
                </a:solidFill>
                <a:highlight>
                  <a:srgbClr val="000000"/>
                </a:highlight>
              </a:rPr>
              <a:t>=1, alpha=0.05, </a:t>
            </a:r>
            <a:r>
              <a:rPr lang="en-US" dirty="0" err="1">
                <a:solidFill>
                  <a:schemeClr val="bg1"/>
                </a:solidFill>
                <a:highlight>
                  <a:srgbClr val="000000"/>
                </a:highlight>
              </a:rPr>
              <a:t>treat_modifier</a:t>
            </a:r>
            <a:r>
              <a:rPr lang="en-US" dirty="0">
                <a:solidFill>
                  <a:schemeClr val="bg1"/>
                </a:solidFill>
                <a:highlight>
                  <a:srgbClr val="000000"/>
                </a:highlight>
              </a:rPr>
              <a:t>=1, </a:t>
            </a:r>
            <a:r>
              <a:rPr lang="en-US" dirty="0" err="1">
                <a:solidFill>
                  <a:schemeClr val="bg1"/>
                </a:solidFill>
                <a:highlight>
                  <a:srgbClr val="000000"/>
                </a:highlight>
              </a:rPr>
              <a:t>autoswitch</a:t>
            </a:r>
            <a:r>
              <a:rPr lang="en-US" dirty="0">
                <a:solidFill>
                  <a:schemeClr val="bg1"/>
                </a:solidFill>
                <a:highlight>
                  <a:srgbClr val="000000"/>
                </a:highlight>
              </a:rPr>
              <a:t>=TRUE, </a:t>
            </a:r>
            <a:r>
              <a:rPr lang="en-US" dirty="0" err="1">
                <a:solidFill>
                  <a:schemeClr val="bg1"/>
                </a:solidFill>
                <a:highlight>
                  <a:srgbClr val="000000"/>
                </a:highlight>
              </a:rPr>
              <a:t>n_eval_z</a:t>
            </a:r>
            <a:r>
              <a:rPr lang="en-US" dirty="0">
                <a:solidFill>
                  <a:schemeClr val="bg1"/>
                </a:solidFill>
                <a:highlight>
                  <a:srgbClr val="000000"/>
                </a:highlight>
              </a:rPr>
              <a:t>=100, ...)</a:t>
            </a:r>
          </a:p>
          <a:p>
            <a:r>
              <a:rPr lang="en-US" dirty="0"/>
              <a:t>Dataset (</a:t>
            </a:r>
            <a:r>
              <a:rPr lang="en-US" dirty="0" err="1"/>
              <a:t>immdef</a:t>
            </a:r>
            <a:r>
              <a:rPr lang="en-US" dirty="0"/>
              <a:t>)</a:t>
            </a:r>
          </a:p>
          <a:p>
            <a:pPr marL="457200" lvl="1" indent="0">
              <a:buNone/>
            </a:pPr>
            <a:r>
              <a:rPr lang="en-US" dirty="0"/>
              <a:t>A simulated dataset from White et al. (2002), based on a randomized trial comparing immediate versus deferred zidovudine treatment in asymptomatic HIV-infected participants.</a:t>
            </a:r>
            <a:br>
              <a:rPr lang="en-US" dirty="0"/>
            </a:br>
            <a:endParaRPr lang="en-US" dirty="0"/>
          </a:p>
        </p:txBody>
      </p:sp>
      <p:sp>
        <p:nvSpPr>
          <p:cNvPr id="4" name="Title 1">
            <a:extLst>
              <a:ext uri="{FF2B5EF4-FFF2-40B4-BE49-F238E27FC236}">
                <a16:creationId xmlns:a16="http://schemas.microsoft.com/office/drawing/2014/main" id="{39A03900-7CF0-2386-50F3-992F3A3E3D7C}"/>
              </a:ext>
            </a:extLst>
          </p:cNvPr>
          <p:cNvSpPr>
            <a:spLocks noGrp="1"/>
          </p:cNvSpPr>
          <p:nvPr>
            <p:ph type="title"/>
          </p:nvPr>
        </p:nvSpPr>
        <p:spPr>
          <a:xfrm>
            <a:off x="276498" y="169182"/>
            <a:ext cx="10515600" cy="1325563"/>
          </a:xfrm>
        </p:spPr>
        <p:txBody>
          <a:bodyPr>
            <a:noAutofit/>
          </a:bodyPr>
          <a:lstStyle/>
          <a:p>
            <a:r>
              <a:rPr lang="en-US" sz="3200" b="1" dirty="0"/>
              <a:t>Rank Preserving Structure Failure Time Model (RPSFTM)</a:t>
            </a:r>
            <a:br>
              <a:rPr lang="en-US" sz="3600" b="1" dirty="0"/>
            </a:br>
            <a:r>
              <a:rPr lang="en-US" sz="2400" i="1" dirty="0">
                <a:latin typeface="Arial" panose="020B0604020202020204" pitchFamily="34" charset="0"/>
                <a:cs typeface="Arial" panose="020B0604020202020204" pitchFamily="34" charset="0"/>
              </a:rPr>
              <a:t>R Code - </a:t>
            </a:r>
            <a:r>
              <a:rPr lang="en-US" sz="3200" i="1" dirty="0">
                <a:latin typeface="Arial" panose="020B0604020202020204" pitchFamily="34" charset="0"/>
                <a:cs typeface="Arial" panose="020B0604020202020204" pitchFamily="34" charset="0"/>
              </a:rPr>
              <a:t> </a:t>
            </a:r>
            <a:r>
              <a:rPr lang="en-US" sz="2400" i="1" dirty="0" err="1">
                <a:solidFill>
                  <a:schemeClr val="bg1"/>
                </a:solidFill>
                <a:highlight>
                  <a:srgbClr val="000000"/>
                </a:highlight>
                <a:latin typeface="Arial" panose="020B0604020202020204" pitchFamily="34" charset="0"/>
                <a:cs typeface="Arial" panose="020B0604020202020204" pitchFamily="34" charset="0"/>
              </a:rPr>
              <a:t>rpsftm</a:t>
            </a:r>
            <a:r>
              <a:rPr lang="en-US" sz="2400" i="1" dirty="0">
                <a:latin typeface="Arial" panose="020B0604020202020204" pitchFamily="34" charset="0"/>
                <a:cs typeface="Arial" panose="020B0604020202020204" pitchFamily="34" charset="0"/>
              </a:rPr>
              <a:t> package</a:t>
            </a:r>
          </a:p>
        </p:txBody>
      </p:sp>
      <p:pic>
        <p:nvPicPr>
          <p:cNvPr id="7" name="Picture 6" descr="A screenshot of a computer&#10;&#10;AI-generated content may be incorrect.">
            <a:extLst>
              <a:ext uri="{FF2B5EF4-FFF2-40B4-BE49-F238E27FC236}">
                <a16:creationId xmlns:a16="http://schemas.microsoft.com/office/drawing/2014/main" id="{D1B003C1-8449-59F2-1C44-0DB4C0F7F40E}"/>
              </a:ext>
            </a:extLst>
          </p:cNvPr>
          <p:cNvPicPr>
            <a:picLocks noChangeAspect="1"/>
          </p:cNvPicPr>
          <p:nvPr/>
        </p:nvPicPr>
        <p:blipFill>
          <a:blip r:embed="rId4"/>
          <a:stretch>
            <a:fillRect/>
          </a:stretch>
        </p:blipFill>
        <p:spPr>
          <a:xfrm>
            <a:off x="805665" y="5161999"/>
            <a:ext cx="6531186" cy="1696001"/>
          </a:xfrm>
          <a:prstGeom prst="rect">
            <a:avLst/>
          </a:prstGeom>
        </p:spPr>
      </p:pic>
      <p:sp>
        <p:nvSpPr>
          <p:cNvPr id="9" name="Rectangle 1">
            <a:extLst>
              <a:ext uri="{FF2B5EF4-FFF2-40B4-BE49-F238E27FC236}">
                <a16:creationId xmlns:a16="http://schemas.microsoft.com/office/drawing/2014/main" id="{73450E8A-A36C-C169-8372-F037580A91FD}"/>
              </a:ext>
            </a:extLst>
          </p:cNvPr>
          <p:cNvSpPr>
            <a:spLocks noChangeArrowheads="1"/>
          </p:cNvSpPr>
          <p:nvPr/>
        </p:nvSpPr>
        <p:spPr bwMode="auto">
          <a:xfrm>
            <a:off x="7269420" y="4749826"/>
            <a:ext cx="499001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1" i="1" u="none" strike="noStrike" cap="none" normalizeH="0" baseline="0" dirty="0">
                <a:ln>
                  <a:noFill/>
                </a:ln>
                <a:solidFill>
                  <a:schemeClr val="tx1"/>
                </a:solidFill>
                <a:effectLst/>
                <a:latin typeface="Arial" panose="020B0604020202020204" pitchFamily="34" charset="0"/>
              </a:rPr>
              <a:t>def</a:t>
            </a:r>
            <a:r>
              <a:rPr kumimoji="0" lang="en-US" altLang="en-US" sz="1500" b="0" i="1" u="none" strike="noStrike" cap="none" normalizeH="0" baseline="0" dirty="0">
                <a:ln>
                  <a:noFill/>
                </a:ln>
                <a:solidFill>
                  <a:schemeClr val="tx1"/>
                </a:solidFill>
                <a:effectLst/>
                <a:latin typeface="Arial" panose="020B0604020202020204" pitchFamily="34" charset="0"/>
              </a:rPr>
              <a:t>: indicator for assignment to deferred treatment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1" i="1" u="none" strike="noStrike" cap="none" normalizeH="0" baseline="0" dirty="0" err="1">
                <a:ln>
                  <a:noFill/>
                </a:ln>
                <a:solidFill>
                  <a:schemeClr val="tx1"/>
                </a:solidFill>
                <a:effectLst/>
                <a:latin typeface="Arial" panose="020B0604020202020204" pitchFamily="34" charset="0"/>
              </a:rPr>
              <a:t>imm</a:t>
            </a:r>
            <a:r>
              <a:rPr kumimoji="0" lang="en-US" altLang="en-US" sz="1500" b="0" i="1" u="none" strike="noStrike" cap="none" normalizeH="0" baseline="0" dirty="0">
                <a:ln>
                  <a:noFill/>
                </a:ln>
                <a:solidFill>
                  <a:schemeClr val="tx1"/>
                </a:solidFill>
                <a:effectLst/>
                <a:latin typeface="Arial" panose="020B0604020202020204" pitchFamily="34" charset="0"/>
              </a:rPr>
              <a:t>: indicator for assignment to immediate treatment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500" b="1" i="1" dirty="0" err="1">
                <a:latin typeface="Arial" panose="020B0604020202020204" pitchFamily="34" charset="0"/>
              </a:rPr>
              <a:t>c</a:t>
            </a:r>
            <a:r>
              <a:rPr kumimoji="0" lang="en-US" altLang="en-US" sz="1500" b="1" i="1" u="none" strike="noStrike" cap="none" normalizeH="0" baseline="0" dirty="0" err="1">
                <a:ln>
                  <a:noFill/>
                </a:ln>
                <a:solidFill>
                  <a:schemeClr val="tx1"/>
                </a:solidFill>
                <a:effectLst/>
                <a:latin typeface="Arial" panose="020B0604020202020204" pitchFamily="34" charset="0"/>
              </a:rPr>
              <a:t>ensyrs</a:t>
            </a:r>
            <a:r>
              <a:rPr kumimoji="0" lang="en-US" altLang="en-US" sz="1500" b="0" i="1" u="none" strike="noStrike" cap="none" normalizeH="0" baseline="0" dirty="0">
                <a:ln>
                  <a:noFill/>
                </a:ln>
                <a:solidFill>
                  <a:schemeClr val="tx1"/>
                </a:solidFill>
                <a:effectLst/>
                <a:latin typeface="Arial" panose="020B0604020202020204" pitchFamily="34" charset="0"/>
              </a:rPr>
              <a:t>: censoring time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1" i="1" u="none" strike="noStrike" cap="none" normalizeH="0" baseline="0" dirty="0">
                <a:ln>
                  <a:noFill/>
                </a:ln>
                <a:solidFill>
                  <a:schemeClr val="tx1"/>
                </a:solidFill>
                <a:effectLst/>
                <a:latin typeface="Arial" panose="020B0604020202020204" pitchFamily="34" charset="0"/>
              </a:rPr>
              <a:t>xo</a:t>
            </a:r>
            <a:r>
              <a:rPr kumimoji="0" lang="en-US" altLang="en-US" sz="1500" b="0" i="1" u="none" strike="noStrike" cap="none" normalizeH="0" baseline="0" dirty="0">
                <a:ln>
                  <a:noFill/>
                </a:ln>
                <a:solidFill>
                  <a:schemeClr val="tx1"/>
                </a:solidFill>
                <a:effectLst/>
                <a:latin typeface="Arial" panose="020B0604020202020204" pitchFamily="34" charset="0"/>
              </a:rPr>
              <a:t>: indicator of treatment switching</a:t>
            </a:r>
          </a:p>
          <a:p>
            <a:pPr marL="285750" lvl="0" indent="-285750" eaLnBrk="0" fontAlgn="base" hangingPunct="0">
              <a:spcBef>
                <a:spcPct val="0"/>
              </a:spcBef>
              <a:spcAft>
                <a:spcPct val="0"/>
              </a:spcAft>
              <a:buFont typeface="Arial" panose="020B0604020202020204" pitchFamily="34" charset="0"/>
              <a:buChar char="•"/>
            </a:pPr>
            <a:r>
              <a:rPr lang="en-US" altLang="en-US" sz="1500" b="1" i="1" dirty="0" err="1">
                <a:latin typeface="Arial" panose="020B0604020202020204" pitchFamily="34" charset="0"/>
              </a:rPr>
              <a:t>xoyrs</a:t>
            </a:r>
            <a:r>
              <a:rPr lang="en-US" altLang="en-US" sz="1500" i="1" dirty="0">
                <a:latin typeface="Arial" panose="020B0604020202020204" pitchFamily="34" charset="0"/>
              </a:rPr>
              <a:t>: time from randomization to treatment crossover</a:t>
            </a:r>
            <a:endParaRPr kumimoji="0" lang="en-US" altLang="en-US" sz="1500" b="0" i="1"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500" b="1" i="1" dirty="0">
                <a:latin typeface="Arial" panose="020B0604020202020204" pitchFamily="34" charset="0"/>
              </a:rPr>
              <a:t>p</a:t>
            </a:r>
            <a:r>
              <a:rPr kumimoji="0" lang="en-US" altLang="en-US" sz="1500" b="1" i="1" u="none" strike="noStrike" cap="none" normalizeH="0" baseline="0" dirty="0">
                <a:ln>
                  <a:noFill/>
                </a:ln>
                <a:solidFill>
                  <a:schemeClr val="tx1"/>
                </a:solidFill>
                <a:effectLst/>
                <a:latin typeface="Arial" panose="020B0604020202020204" pitchFamily="34" charset="0"/>
              </a:rPr>
              <a:t>rog</a:t>
            </a:r>
            <a:r>
              <a:rPr kumimoji="0" lang="en-US" altLang="en-US" sz="1500" b="0" i="1" u="none" strike="noStrike" cap="none" normalizeH="0" baseline="0" dirty="0">
                <a:ln>
                  <a:noFill/>
                </a:ln>
                <a:solidFill>
                  <a:schemeClr val="tx1"/>
                </a:solidFill>
                <a:effectLst/>
                <a:latin typeface="Arial" panose="020B0604020202020204" pitchFamily="34" charset="0"/>
              </a:rPr>
              <a:t>: indicator of disease progression</a:t>
            </a:r>
          </a:p>
        </p:txBody>
      </p:sp>
    </p:spTree>
    <p:extLst>
      <p:ext uri="{BB962C8B-B14F-4D97-AF65-F5344CB8AC3E}">
        <p14:creationId xmlns:p14="http://schemas.microsoft.com/office/powerpoint/2010/main" val="603519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3AAE0-CBE5-81A5-54B3-ED5C6CCDDD73}"/>
              </a:ext>
            </a:extLst>
          </p:cNvPr>
          <p:cNvSpPr>
            <a:spLocks noGrp="1"/>
          </p:cNvSpPr>
          <p:nvPr>
            <p:ph type="title"/>
          </p:nvPr>
        </p:nvSpPr>
        <p:spPr/>
        <p:txBody>
          <a:bodyPr>
            <a:noAutofit/>
          </a:bodyPr>
          <a:lstStyle/>
          <a:p>
            <a:r>
              <a:rPr lang="en-US" sz="3200" b="1" dirty="0"/>
              <a:t>Rank Preserving Structure Failure Time Model (RPSFTM)</a:t>
            </a:r>
            <a:br>
              <a:rPr lang="en-US" sz="3600" b="1" dirty="0"/>
            </a:br>
            <a:r>
              <a:rPr lang="en-US" sz="2400" i="1" dirty="0">
                <a:latin typeface="Arial" panose="020B0604020202020204" pitchFamily="34" charset="0"/>
                <a:cs typeface="Arial" panose="020B0604020202020204" pitchFamily="34" charset="0"/>
              </a:rPr>
              <a:t>R Code - </a:t>
            </a:r>
            <a:r>
              <a:rPr lang="en-US" sz="3200" i="1" dirty="0">
                <a:latin typeface="Arial" panose="020B0604020202020204" pitchFamily="34" charset="0"/>
                <a:cs typeface="Arial" panose="020B0604020202020204" pitchFamily="34" charset="0"/>
              </a:rPr>
              <a:t> </a:t>
            </a:r>
            <a:r>
              <a:rPr lang="en-US" sz="2400" i="1" dirty="0">
                <a:latin typeface="Arial" panose="020B0604020202020204" pitchFamily="34" charset="0"/>
                <a:cs typeface="Arial" panose="020B0604020202020204" pitchFamily="34" charset="0"/>
              </a:rPr>
              <a:t>ITT analysis</a:t>
            </a:r>
            <a:endParaRPr lang="en-US" sz="3200" dirty="0"/>
          </a:p>
        </p:txBody>
      </p:sp>
      <p:pic>
        <p:nvPicPr>
          <p:cNvPr id="7" name="Picture 6">
            <a:extLst>
              <a:ext uri="{FF2B5EF4-FFF2-40B4-BE49-F238E27FC236}">
                <a16:creationId xmlns:a16="http://schemas.microsoft.com/office/drawing/2014/main" id="{C1833B79-503D-F6DE-C718-8D8B57E80633}"/>
              </a:ext>
            </a:extLst>
          </p:cNvPr>
          <p:cNvPicPr>
            <a:picLocks noChangeAspect="1"/>
          </p:cNvPicPr>
          <p:nvPr/>
        </p:nvPicPr>
        <p:blipFill>
          <a:blip r:embed="rId3"/>
          <a:stretch>
            <a:fillRect/>
          </a:stretch>
        </p:blipFill>
        <p:spPr>
          <a:xfrm>
            <a:off x="6096000" y="2740957"/>
            <a:ext cx="4938070" cy="3921100"/>
          </a:xfrm>
          <a:prstGeom prst="rect">
            <a:avLst/>
          </a:prstGeom>
        </p:spPr>
      </p:pic>
      <p:sp>
        <p:nvSpPr>
          <p:cNvPr id="9" name="TextBox 8">
            <a:extLst>
              <a:ext uri="{FF2B5EF4-FFF2-40B4-BE49-F238E27FC236}">
                <a16:creationId xmlns:a16="http://schemas.microsoft.com/office/drawing/2014/main" id="{44EF989B-0BE9-22E1-4F0C-10EB1AACB44B}"/>
              </a:ext>
            </a:extLst>
          </p:cNvPr>
          <p:cNvSpPr txBox="1"/>
          <p:nvPr/>
        </p:nvSpPr>
        <p:spPr>
          <a:xfrm>
            <a:off x="6098178" y="1763150"/>
            <a:ext cx="6093822" cy="646331"/>
          </a:xfrm>
          <a:prstGeom prst="rect">
            <a:avLst/>
          </a:prstGeom>
          <a:noFill/>
        </p:spPr>
        <p:txBody>
          <a:bodyPr wrap="square">
            <a:spAutoFit/>
          </a:bodyPr>
          <a:lstStyle/>
          <a:p>
            <a:r>
              <a:rPr lang="en-US" dirty="0" err="1">
                <a:solidFill>
                  <a:schemeClr val="bg1"/>
                </a:solidFill>
                <a:highlight>
                  <a:srgbClr val="000000"/>
                </a:highlight>
              </a:rPr>
              <a:t>KM_noadj</a:t>
            </a:r>
            <a:r>
              <a:rPr lang="en-US" dirty="0">
                <a:solidFill>
                  <a:schemeClr val="bg1"/>
                </a:solidFill>
                <a:highlight>
                  <a:srgbClr val="000000"/>
                </a:highlight>
              </a:rPr>
              <a:t> &lt;- </a:t>
            </a:r>
            <a:r>
              <a:rPr lang="en-US" dirty="0" err="1">
                <a:solidFill>
                  <a:schemeClr val="bg1"/>
                </a:solidFill>
                <a:highlight>
                  <a:srgbClr val="000000"/>
                </a:highlight>
              </a:rPr>
              <a:t>survfit</a:t>
            </a:r>
            <a:r>
              <a:rPr lang="en-US" dirty="0">
                <a:solidFill>
                  <a:schemeClr val="bg1"/>
                </a:solidFill>
                <a:highlight>
                  <a:srgbClr val="000000"/>
                </a:highlight>
              </a:rPr>
              <a:t>(</a:t>
            </a:r>
            <a:r>
              <a:rPr lang="en-US" dirty="0" err="1">
                <a:solidFill>
                  <a:schemeClr val="bg1"/>
                </a:solidFill>
                <a:highlight>
                  <a:srgbClr val="000000"/>
                </a:highlight>
              </a:rPr>
              <a:t>Surv</a:t>
            </a:r>
            <a:r>
              <a:rPr lang="en-US" dirty="0">
                <a:solidFill>
                  <a:schemeClr val="bg1"/>
                </a:solidFill>
                <a:highlight>
                  <a:srgbClr val="000000"/>
                </a:highlight>
              </a:rPr>
              <a:t>(</a:t>
            </a:r>
            <a:r>
              <a:rPr lang="en-US" dirty="0" err="1">
                <a:solidFill>
                  <a:schemeClr val="bg1"/>
                </a:solidFill>
                <a:highlight>
                  <a:srgbClr val="000000"/>
                </a:highlight>
              </a:rPr>
              <a:t>progyrs</a:t>
            </a:r>
            <a:r>
              <a:rPr lang="en-US" dirty="0">
                <a:solidFill>
                  <a:schemeClr val="bg1"/>
                </a:solidFill>
                <a:highlight>
                  <a:srgbClr val="000000"/>
                </a:highlight>
              </a:rPr>
              <a:t>, prog) ~ </a:t>
            </a:r>
            <a:r>
              <a:rPr lang="en-US" dirty="0" err="1">
                <a:solidFill>
                  <a:schemeClr val="bg1"/>
                </a:solidFill>
                <a:highlight>
                  <a:srgbClr val="000000"/>
                </a:highlight>
              </a:rPr>
              <a:t>imm</a:t>
            </a:r>
            <a:r>
              <a:rPr lang="en-US" dirty="0">
                <a:solidFill>
                  <a:schemeClr val="bg1"/>
                </a:solidFill>
                <a:highlight>
                  <a:srgbClr val="000000"/>
                </a:highlight>
              </a:rPr>
              <a:t>, data=</a:t>
            </a:r>
            <a:r>
              <a:rPr lang="en-US" dirty="0" err="1">
                <a:solidFill>
                  <a:schemeClr val="bg1"/>
                </a:solidFill>
                <a:highlight>
                  <a:srgbClr val="000000"/>
                </a:highlight>
              </a:rPr>
              <a:t>immdef</a:t>
            </a:r>
            <a:r>
              <a:rPr lang="en-US" dirty="0">
                <a:solidFill>
                  <a:schemeClr val="bg1"/>
                </a:solidFill>
                <a:highlight>
                  <a:srgbClr val="000000"/>
                </a:highlight>
              </a:rPr>
              <a:t>)</a:t>
            </a:r>
            <a:r>
              <a:rPr lang="en-US" dirty="0" err="1">
                <a:solidFill>
                  <a:schemeClr val="bg1"/>
                </a:solidFill>
                <a:highlight>
                  <a:srgbClr val="000000"/>
                </a:highlight>
              </a:rPr>
              <a:t>ggsurvplot</a:t>
            </a:r>
            <a:r>
              <a:rPr lang="en-US" dirty="0">
                <a:solidFill>
                  <a:schemeClr val="bg1"/>
                </a:solidFill>
                <a:highlight>
                  <a:srgbClr val="000000"/>
                </a:highlight>
              </a:rPr>
              <a:t>(</a:t>
            </a:r>
            <a:r>
              <a:rPr lang="en-US" dirty="0" err="1">
                <a:solidFill>
                  <a:schemeClr val="bg1"/>
                </a:solidFill>
                <a:highlight>
                  <a:srgbClr val="000000"/>
                </a:highlight>
              </a:rPr>
              <a:t>KM_noadj,data</a:t>
            </a:r>
            <a:r>
              <a:rPr lang="en-US" dirty="0">
                <a:solidFill>
                  <a:schemeClr val="bg1"/>
                </a:solidFill>
                <a:highlight>
                  <a:srgbClr val="000000"/>
                </a:highlight>
              </a:rPr>
              <a:t> = </a:t>
            </a:r>
            <a:r>
              <a:rPr lang="en-US" dirty="0" err="1">
                <a:solidFill>
                  <a:schemeClr val="bg1"/>
                </a:solidFill>
                <a:highlight>
                  <a:srgbClr val="000000"/>
                </a:highlight>
              </a:rPr>
              <a:t>immdef,pval</a:t>
            </a:r>
            <a:r>
              <a:rPr lang="en-US" dirty="0">
                <a:solidFill>
                  <a:schemeClr val="bg1"/>
                </a:solidFill>
                <a:highlight>
                  <a:srgbClr val="000000"/>
                </a:highlight>
              </a:rPr>
              <a:t> = T)</a:t>
            </a:r>
          </a:p>
        </p:txBody>
      </p:sp>
      <p:pic>
        <p:nvPicPr>
          <p:cNvPr id="11" name="Picture 10" descr="A computer screen with white text&#10;&#10;AI-generated content may be incorrect.">
            <a:extLst>
              <a:ext uri="{FF2B5EF4-FFF2-40B4-BE49-F238E27FC236}">
                <a16:creationId xmlns:a16="http://schemas.microsoft.com/office/drawing/2014/main" id="{86BBAA13-F206-C2C0-669A-9DCFA20E9DD6}"/>
              </a:ext>
            </a:extLst>
          </p:cNvPr>
          <p:cNvPicPr>
            <a:picLocks noChangeAspect="1"/>
          </p:cNvPicPr>
          <p:nvPr/>
        </p:nvPicPr>
        <p:blipFill>
          <a:blip r:embed="rId4"/>
          <a:stretch>
            <a:fillRect/>
          </a:stretch>
        </p:blipFill>
        <p:spPr>
          <a:xfrm>
            <a:off x="559798" y="1867852"/>
            <a:ext cx="5534025" cy="3305175"/>
          </a:xfrm>
          <a:prstGeom prst="rect">
            <a:avLst/>
          </a:prstGeom>
        </p:spPr>
      </p:pic>
    </p:spTree>
    <p:extLst>
      <p:ext uri="{BB962C8B-B14F-4D97-AF65-F5344CB8AC3E}">
        <p14:creationId xmlns:p14="http://schemas.microsoft.com/office/powerpoint/2010/main" val="3082376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DEBF59-5C86-C8E2-367B-BCC026D8C8CD}"/>
              </a:ext>
            </a:extLst>
          </p:cNvPr>
          <p:cNvSpPr>
            <a:spLocks noGrp="1"/>
          </p:cNvSpPr>
          <p:nvPr>
            <p:ph idx="1"/>
          </p:nvPr>
        </p:nvSpPr>
        <p:spPr>
          <a:xfrm>
            <a:off x="838200" y="1541417"/>
            <a:ext cx="10515600" cy="4635546"/>
          </a:xfrm>
        </p:spPr>
        <p:txBody>
          <a:bodyPr/>
          <a:lstStyle/>
          <a:p>
            <a:pPr marL="0" indent="0">
              <a:buNone/>
            </a:pPr>
            <a:r>
              <a:rPr lang="en-US" sz="2000" dirty="0" err="1">
                <a:solidFill>
                  <a:schemeClr val="bg1"/>
                </a:solidFill>
                <a:highlight>
                  <a:srgbClr val="000000"/>
                </a:highlight>
              </a:rPr>
              <a:t>rx</a:t>
            </a:r>
            <a:r>
              <a:rPr lang="en-US" sz="2000" dirty="0">
                <a:solidFill>
                  <a:schemeClr val="bg1"/>
                </a:solidFill>
                <a:highlight>
                  <a:srgbClr val="000000"/>
                </a:highlight>
              </a:rPr>
              <a:t> &lt;- with(</a:t>
            </a:r>
            <a:r>
              <a:rPr lang="en-US" sz="2000" dirty="0" err="1">
                <a:solidFill>
                  <a:schemeClr val="bg1"/>
                </a:solidFill>
                <a:highlight>
                  <a:srgbClr val="000000"/>
                </a:highlight>
              </a:rPr>
              <a:t>immdef</a:t>
            </a:r>
            <a:r>
              <a:rPr lang="en-US" sz="2000" dirty="0">
                <a:solidFill>
                  <a:schemeClr val="bg1"/>
                </a:solidFill>
                <a:highlight>
                  <a:srgbClr val="000000"/>
                </a:highlight>
              </a:rPr>
              <a:t>, 1 - </a:t>
            </a:r>
            <a:r>
              <a:rPr lang="en-US" sz="2000" dirty="0" err="1">
                <a:solidFill>
                  <a:schemeClr val="bg1"/>
                </a:solidFill>
                <a:highlight>
                  <a:srgbClr val="000000"/>
                </a:highlight>
              </a:rPr>
              <a:t>xoyrs</a:t>
            </a:r>
            <a:r>
              <a:rPr lang="en-US" sz="2000" dirty="0">
                <a:solidFill>
                  <a:schemeClr val="bg1"/>
                </a:solidFill>
                <a:highlight>
                  <a:srgbClr val="000000"/>
                </a:highlight>
              </a:rPr>
              <a:t>/</a:t>
            </a:r>
            <a:r>
              <a:rPr lang="en-US" sz="2000" dirty="0" err="1">
                <a:solidFill>
                  <a:schemeClr val="bg1"/>
                </a:solidFill>
                <a:highlight>
                  <a:srgbClr val="000000"/>
                </a:highlight>
              </a:rPr>
              <a:t>progyrs</a:t>
            </a:r>
            <a:r>
              <a:rPr lang="en-US" sz="2000" dirty="0">
                <a:solidFill>
                  <a:schemeClr val="bg1"/>
                </a:solidFill>
                <a:highlight>
                  <a:srgbClr val="000000"/>
                </a:highlight>
              </a:rPr>
              <a:t>)</a:t>
            </a:r>
          </a:p>
          <a:p>
            <a:pPr marL="0" indent="0">
              <a:buNone/>
            </a:pPr>
            <a:br>
              <a:rPr lang="en-US" dirty="0"/>
            </a:br>
            <a:endParaRPr lang="en-US" dirty="0"/>
          </a:p>
        </p:txBody>
      </p:sp>
      <p:sp>
        <p:nvSpPr>
          <p:cNvPr id="4" name="Title 1">
            <a:extLst>
              <a:ext uri="{FF2B5EF4-FFF2-40B4-BE49-F238E27FC236}">
                <a16:creationId xmlns:a16="http://schemas.microsoft.com/office/drawing/2014/main" id="{86438809-8DFE-698E-F16F-406D7CB85D48}"/>
              </a:ext>
            </a:extLst>
          </p:cNvPr>
          <p:cNvSpPr>
            <a:spLocks noGrp="1"/>
          </p:cNvSpPr>
          <p:nvPr>
            <p:ph type="title"/>
          </p:nvPr>
        </p:nvSpPr>
        <p:spPr>
          <a:xfrm>
            <a:off x="838200" y="365125"/>
            <a:ext cx="10515600" cy="1325563"/>
          </a:xfrm>
        </p:spPr>
        <p:txBody>
          <a:bodyPr>
            <a:noAutofit/>
          </a:bodyPr>
          <a:lstStyle/>
          <a:p>
            <a:r>
              <a:rPr lang="en-US" sz="3200" b="1" dirty="0"/>
              <a:t>Rank Preserving Structure Failure Time Model (RPSFTM)</a:t>
            </a:r>
            <a:br>
              <a:rPr lang="en-US" sz="3600" b="1" dirty="0"/>
            </a:br>
            <a:r>
              <a:rPr lang="en-US" sz="2400" i="1" dirty="0">
                <a:latin typeface="Arial" panose="020B0604020202020204" pitchFamily="34" charset="0"/>
                <a:cs typeface="Arial" panose="020B0604020202020204" pitchFamily="34" charset="0"/>
              </a:rPr>
              <a:t>R Code - </a:t>
            </a:r>
            <a:r>
              <a:rPr lang="en-US" sz="3200" i="1" dirty="0">
                <a:latin typeface="Arial" panose="020B0604020202020204" pitchFamily="34" charset="0"/>
                <a:cs typeface="Arial" panose="020B0604020202020204" pitchFamily="34" charset="0"/>
              </a:rPr>
              <a:t> </a:t>
            </a:r>
            <a:r>
              <a:rPr lang="en-US" sz="2400" i="1" dirty="0">
                <a:latin typeface="Arial" panose="020B0604020202020204" pitchFamily="34" charset="0"/>
                <a:cs typeface="Arial" panose="020B0604020202020204" pitchFamily="34" charset="0"/>
              </a:rPr>
              <a:t>RPSFTM</a:t>
            </a:r>
            <a:r>
              <a:rPr lang="en-US" sz="3200" i="1" dirty="0">
                <a:latin typeface="Arial" panose="020B0604020202020204" pitchFamily="34" charset="0"/>
                <a:cs typeface="Arial" panose="020B0604020202020204" pitchFamily="34" charset="0"/>
              </a:rPr>
              <a:t> </a:t>
            </a:r>
            <a:endParaRPr lang="en-US" sz="3200" dirty="0"/>
          </a:p>
        </p:txBody>
      </p:sp>
      <p:sp>
        <p:nvSpPr>
          <p:cNvPr id="6" name="TextBox 5">
            <a:extLst>
              <a:ext uri="{FF2B5EF4-FFF2-40B4-BE49-F238E27FC236}">
                <a16:creationId xmlns:a16="http://schemas.microsoft.com/office/drawing/2014/main" id="{F841C817-18FE-DB36-17BF-18EDE9EB3228}"/>
              </a:ext>
            </a:extLst>
          </p:cNvPr>
          <p:cNvSpPr txBox="1"/>
          <p:nvPr/>
        </p:nvSpPr>
        <p:spPr>
          <a:xfrm>
            <a:off x="838199" y="1995492"/>
            <a:ext cx="11519264" cy="369332"/>
          </a:xfrm>
          <a:prstGeom prst="rect">
            <a:avLst/>
          </a:prstGeom>
          <a:noFill/>
        </p:spPr>
        <p:txBody>
          <a:bodyPr wrap="square">
            <a:spAutoFit/>
          </a:bodyPr>
          <a:lstStyle/>
          <a:p>
            <a:r>
              <a:rPr lang="en-US" dirty="0" err="1">
                <a:solidFill>
                  <a:schemeClr val="bg1"/>
                </a:solidFill>
                <a:highlight>
                  <a:srgbClr val="000000"/>
                </a:highlight>
              </a:rPr>
              <a:t>rpsftm_fit_lr</a:t>
            </a:r>
            <a:r>
              <a:rPr lang="en-US" dirty="0">
                <a:solidFill>
                  <a:schemeClr val="bg1"/>
                </a:solidFill>
                <a:highlight>
                  <a:srgbClr val="000000"/>
                </a:highlight>
              </a:rPr>
              <a:t> &lt;- </a:t>
            </a:r>
            <a:r>
              <a:rPr lang="en-US" dirty="0" err="1">
                <a:solidFill>
                  <a:schemeClr val="bg1"/>
                </a:solidFill>
                <a:highlight>
                  <a:srgbClr val="000000"/>
                </a:highlight>
              </a:rPr>
              <a:t>rpsftm</a:t>
            </a:r>
            <a:r>
              <a:rPr lang="en-US" dirty="0">
                <a:solidFill>
                  <a:schemeClr val="bg1"/>
                </a:solidFill>
                <a:highlight>
                  <a:srgbClr val="000000"/>
                </a:highlight>
              </a:rPr>
              <a:t>(formula = </a:t>
            </a:r>
            <a:r>
              <a:rPr lang="en-US" dirty="0" err="1">
                <a:solidFill>
                  <a:schemeClr val="bg1"/>
                </a:solidFill>
                <a:highlight>
                  <a:srgbClr val="000000"/>
                </a:highlight>
              </a:rPr>
              <a:t>Surv</a:t>
            </a:r>
            <a:r>
              <a:rPr lang="en-US" dirty="0">
                <a:solidFill>
                  <a:schemeClr val="bg1"/>
                </a:solidFill>
                <a:highlight>
                  <a:srgbClr val="000000"/>
                </a:highlight>
              </a:rPr>
              <a:t>(</a:t>
            </a:r>
            <a:r>
              <a:rPr lang="en-US" dirty="0" err="1">
                <a:solidFill>
                  <a:schemeClr val="bg1"/>
                </a:solidFill>
                <a:highlight>
                  <a:srgbClr val="000000"/>
                </a:highlight>
              </a:rPr>
              <a:t>progyrs</a:t>
            </a:r>
            <a:r>
              <a:rPr lang="en-US" dirty="0">
                <a:solidFill>
                  <a:schemeClr val="bg1"/>
                </a:solidFill>
                <a:highlight>
                  <a:srgbClr val="000000"/>
                </a:highlight>
              </a:rPr>
              <a:t>, prog) ~ rand(</a:t>
            </a:r>
            <a:r>
              <a:rPr lang="en-US" dirty="0" err="1">
                <a:solidFill>
                  <a:schemeClr val="bg1"/>
                </a:solidFill>
                <a:highlight>
                  <a:srgbClr val="000000"/>
                </a:highlight>
              </a:rPr>
              <a:t>imm</a:t>
            </a:r>
            <a:r>
              <a:rPr lang="en-US" dirty="0">
                <a:solidFill>
                  <a:schemeClr val="bg1"/>
                </a:solidFill>
                <a:highlight>
                  <a:srgbClr val="000000"/>
                </a:highlight>
              </a:rPr>
              <a:t>, </a:t>
            </a:r>
            <a:r>
              <a:rPr lang="en-US" dirty="0" err="1">
                <a:solidFill>
                  <a:schemeClr val="bg1"/>
                </a:solidFill>
                <a:highlight>
                  <a:srgbClr val="000000"/>
                </a:highlight>
              </a:rPr>
              <a:t>rx</a:t>
            </a:r>
            <a:r>
              <a:rPr lang="en-US" dirty="0">
                <a:solidFill>
                  <a:schemeClr val="bg1"/>
                </a:solidFill>
                <a:highlight>
                  <a:srgbClr val="000000"/>
                </a:highlight>
              </a:rPr>
              <a:t>), data = </a:t>
            </a:r>
            <a:r>
              <a:rPr lang="en-US" dirty="0" err="1">
                <a:solidFill>
                  <a:schemeClr val="bg1"/>
                </a:solidFill>
                <a:highlight>
                  <a:srgbClr val="000000"/>
                </a:highlight>
              </a:rPr>
              <a:t>immdef</a:t>
            </a:r>
            <a:r>
              <a:rPr lang="en-US" dirty="0">
                <a:solidFill>
                  <a:schemeClr val="bg1"/>
                </a:solidFill>
                <a:highlight>
                  <a:srgbClr val="000000"/>
                </a:highlight>
              </a:rPr>
              <a:t>, </a:t>
            </a:r>
            <a:r>
              <a:rPr lang="en-US" dirty="0" err="1">
                <a:solidFill>
                  <a:schemeClr val="bg1"/>
                </a:solidFill>
                <a:highlight>
                  <a:srgbClr val="000000"/>
                </a:highlight>
              </a:rPr>
              <a:t>censor_time</a:t>
            </a:r>
            <a:r>
              <a:rPr lang="en-US" dirty="0">
                <a:solidFill>
                  <a:schemeClr val="bg1"/>
                </a:solidFill>
                <a:highlight>
                  <a:srgbClr val="000000"/>
                </a:highlight>
              </a:rPr>
              <a:t> = </a:t>
            </a:r>
            <a:r>
              <a:rPr lang="en-US" dirty="0" err="1">
                <a:solidFill>
                  <a:schemeClr val="bg1"/>
                </a:solidFill>
                <a:highlight>
                  <a:srgbClr val="000000"/>
                </a:highlight>
              </a:rPr>
              <a:t>censyrs</a:t>
            </a:r>
            <a:r>
              <a:rPr lang="en-US" dirty="0">
                <a:solidFill>
                  <a:schemeClr val="bg1"/>
                </a:solidFill>
                <a:highlight>
                  <a:srgbClr val="000000"/>
                </a:highlight>
              </a:rPr>
              <a:t>)</a:t>
            </a:r>
          </a:p>
        </p:txBody>
      </p:sp>
      <p:pic>
        <p:nvPicPr>
          <p:cNvPr id="11" name="Picture 10" descr="A computer screen shot of a program&#10;&#10;AI-generated content may be incorrect.">
            <a:extLst>
              <a:ext uri="{FF2B5EF4-FFF2-40B4-BE49-F238E27FC236}">
                <a16:creationId xmlns:a16="http://schemas.microsoft.com/office/drawing/2014/main" id="{46565E0F-5A2B-6963-B82B-4A5CED82B3BE}"/>
              </a:ext>
            </a:extLst>
          </p:cNvPr>
          <p:cNvPicPr>
            <a:picLocks noChangeAspect="1"/>
          </p:cNvPicPr>
          <p:nvPr/>
        </p:nvPicPr>
        <p:blipFill>
          <a:blip r:embed="rId3"/>
          <a:stretch>
            <a:fillRect/>
          </a:stretch>
        </p:blipFill>
        <p:spPr>
          <a:xfrm>
            <a:off x="929639" y="2364824"/>
            <a:ext cx="8216863" cy="3470298"/>
          </a:xfrm>
          <a:prstGeom prst="rect">
            <a:avLst/>
          </a:prstGeom>
        </p:spPr>
      </p:pic>
      <p:pic>
        <p:nvPicPr>
          <p:cNvPr id="13" name="Picture 12" descr="A black background with white text and numbers&#10;&#10;AI-generated content may be incorrect.">
            <a:extLst>
              <a:ext uri="{FF2B5EF4-FFF2-40B4-BE49-F238E27FC236}">
                <a16:creationId xmlns:a16="http://schemas.microsoft.com/office/drawing/2014/main" id="{F5EF578F-236B-A1E1-8C9F-9663B32F44AB}"/>
              </a:ext>
            </a:extLst>
          </p:cNvPr>
          <p:cNvPicPr>
            <a:picLocks noChangeAspect="1"/>
          </p:cNvPicPr>
          <p:nvPr/>
        </p:nvPicPr>
        <p:blipFill>
          <a:blip r:embed="rId4"/>
          <a:stretch>
            <a:fillRect/>
          </a:stretch>
        </p:blipFill>
        <p:spPr>
          <a:xfrm>
            <a:off x="929638" y="6014462"/>
            <a:ext cx="3205445" cy="843538"/>
          </a:xfrm>
          <a:prstGeom prst="rect">
            <a:avLst/>
          </a:prstGeom>
        </p:spPr>
      </p:pic>
    </p:spTree>
    <p:extLst>
      <p:ext uri="{BB962C8B-B14F-4D97-AF65-F5344CB8AC3E}">
        <p14:creationId xmlns:p14="http://schemas.microsoft.com/office/powerpoint/2010/main" val="1407417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D08D30-5838-ABEB-0A73-B0F364EDCDC4}"/>
              </a:ext>
            </a:extLst>
          </p:cNvPr>
          <p:cNvSpPr>
            <a:spLocks noGrp="1"/>
          </p:cNvSpPr>
          <p:nvPr>
            <p:ph idx="1"/>
          </p:nvPr>
        </p:nvSpPr>
        <p:spPr>
          <a:xfrm>
            <a:off x="332014" y="1355271"/>
            <a:ext cx="11021786" cy="5300890"/>
          </a:xfrm>
        </p:spPr>
        <p:txBody>
          <a:bodyPr/>
          <a:lstStyle/>
          <a:p>
            <a:r>
              <a:rPr lang="en-US" dirty="0"/>
              <a:t>Key steps</a:t>
            </a:r>
          </a:p>
          <a:p>
            <a:pPr marL="0" indent="0">
              <a:buNone/>
            </a:pPr>
            <a:endParaRPr lang="en-US" dirty="0"/>
          </a:p>
        </p:txBody>
      </p:sp>
      <p:sp>
        <p:nvSpPr>
          <p:cNvPr id="4" name="Title 1">
            <a:extLst>
              <a:ext uri="{FF2B5EF4-FFF2-40B4-BE49-F238E27FC236}">
                <a16:creationId xmlns:a16="http://schemas.microsoft.com/office/drawing/2014/main" id="{9630E513-360F-870F-DC37-A4B1A5F0149A}"/>
              </a:ext>
            </a:extLst>
          </p:cNvPr>
          <p:cNvSpPr>
            <a:spLocks noGrp="1"/>
          </p:cNvSpPr>
          <p:nvPr>
            <p:ph type="title"/>
          </p:nvPr>
        </p:nvSpPr>
        <p:spPr>
          <a:xfrm>
            <a:off x="332014" y="201839"/>
            <a:ext cx="10515600" cy="1325563"/>
          </a:xfrm>
        </p:spPr>
        <p:txBody>
          <a:bodyPr>
            <a:noAutofit/>
          </a:bodyPr>
          <a:lstStyle/>
          <a:p>
            <a:r>
              <a:rPr lang="en-US" sz="3200" b="1" dirty="0"/>
              <a:t>Rank Preserving Structure Failure Time Model (RPSFTM)</a:t>
            </a:r>
            <a:br>
              <a:rPr lang="en-US" sz="4000" b="1" dirty="0"/>
            </a:br>
            <a:r>
              <a:rPr lang="en-US" sz="2800" i="1" dirty="0"/>
              <a:t>SAS Code</a:t>
            </a:r>
          </a:p>
        </p:txBody>
      </p:sp>
      <p:pic>
        <p:nvPicPr>
          <p:cNvPr id="5" name="Picture 4" descr="A white paper with black text&#10;&#10;AI-generated content may be incorrect.">
            <a:extLst>
              <a:ext uri="{FF2B5EF4-FFF2-40B4-BE49-F238E27FC236}">
                <a16:creationId xmlns:a16="http://schemas.microsoft.com/office/drawing/2014/main" id="{63EEA5AB-A61D-57F3-7126-B6ACDEA2E591}"/>
              </a:ext>
            </a:extLst>
          </p:cNvPr>
          <p:cNvPicPr>
            <a:picLocks noChangeAspect="1"/>
          </p:cNvPicPr>
          <p:nvPr/>
        </p:nvPicPr>
        <p:blipFill>
          <a:blip r:embed="rId3"/>
          <a:stretch>
            <a:fillRect/>
          </a:stretch>
        </p:blipFill>
        <p:spPr>
          <a:xfrm>
            <a:off x="449580" y="1921005"/>
            <a:ext cx="3547655" cy="3986540"/>
          </a:xfrm>
          <a:prstGeom prst="rect">
            <a:avLst/>
          </a:prstGeom>
        </p:spPr>
      </p:pic>
      <p:sp>
        <p:nvSpPr>
          <p:cNvPr id="8" name="TextBox 7">
            <a:extLst>
              <a:ext uri="{FF2B5EF4-FFF2-40B4-BE49-F238E27FC236}">
                <a16:creationId xmlns:a16="http://schemas.microsoft.com/office/drawing/2014/main" id="{0DB0279A-2BB4-81B7-C792-A0C6113BDC1B}"/>
              </a:ext>
            </a:extLst>
          </p:cNvPr>
          <p:cNvSpPr txBox="1"/>
          <p:nvPr/>
        </p:nvSpPr>
        <p:spPr>
          <a:xfrm>
            <a:off x="75372" y="5968584"/>
            <a:ext cx="3547656" cy="830997"/>
          </a:xfrm>
          <a:prstGeom prst="rect">
            <a:avLst/>
          </a:prstGeom>
          <a:noFill/>
        </p:spPr>
        <p:txBody>
          <a:bodyPr wrap="square" rtlCol="0">
            <a:spAutoFit/>
          </a:bodyPr>
          <a:lstStyle/>
          <a:p>
            <a:r>
              <a:rPr lang="en-US" sz="1600" dirty="0"/>
              <a:t>Split each subject’s follow-up time into time on treatment and time off treatment</a:t>
            </a:r>
          </a:p>
        </p:txBody>
      </p:sp>
      <p:pic>
        <p:nvPicPr>
          <p:cNvPr id="10" name="Picture 9" descr="A white screen with black text&#10;&#10;AI-generated content may be incorrect.">
            <a:extLst>
              <a:ext uri="{FF2B5EF4-FFF2-40B4-BE49-F238E27FC236}">
                <a16:creationId xmlns:a16="http://schemas.microsoft.com/office/drawing/2014/main" id="{7ADD12C3-2FFB-948A-D8FE-D0C247F220F2}"/>
              </a:ext>
            </a:extLst>
          </p:cNvPr>
          <p:cNvPicPr>
            <a:picLocks noChangeAspect="1"/>
          </p:cNvPicPr>
          <p:nvPr/>
        </p:nvPicPr>
        <p:blipFill>
          <a:blip r:embed="rId4"/>
          <a:srcRect t="12613"/>
          <a:stretch>
            <a:fillRect/>
          </a:stretch>
        </p:blipFill>
        <p:spPr>
          <a:xfrm>
            <a:off x="4381500" y="1805453"/>
            <a:ext cx="3839466" cy="3697276"/>
          </a:xfrm>
          <a:prstGeom prst="rect">
            <a:avLst/>
          </a:prstGeom>
        </p:spPr>
      </p:pic>
      <p:sp>
        <p:nvSpPr>
          <p:cNvPr id="11" name="TextBox 10">
            <a:extLst>
              <a:ext uri="{FF2B5EF4-FFF2-40B4-BE49-F238E27FC236}">
                <a16:creationId xmlns:a16="http://schemas.microsoft.com/office/drawing/2014/main" id="{6AFA0EA8-3C0A-0226-C4BA-53D1E4059BDE}"/>
              </a:ext>
            </a:extLst>
          </p:cNvPr>
          <p:cNvSpPr txBox="1"/>
          <p:nvPr/>
        </p:nvSpPr>
        <p:spPr>
          <a:xfrm>
            <a:off x="4114801" y="5774022"/>
            <a:ext cx="4106165" cy="584775"/>
          </a:xfrm>
          <a:prstGeom prst="rect">
            <a:avLst/>
          </a:prstGeom>
          <a:noFill/>
        </p:spPr>
        <p:txBody>
          <a:bodyPr wrap="square" rtlCol="0">
            <a:spAutoFit/>
          </a:bodyPr>
          <a:lstStyle/>
          <a:p>
            <a:r>
              <a:rPr lang="en-US" sz="1600" dirty="0"/>
              <a:t>Construct Counterfactual survival time and re-censoring</a:t>
            </a:r>
          </a:p>
        </p:txBody>
      </p:sp>
      <p:pic>
        <p:nvPicPr>
          <p:cNvPr id="13" name="Picture 12" descr="A white background with black text&#10;&#10;AI-generated content may be incorrect.">
            <a:extLst>
              <a:ext uri="{FF2B5EF4-FFF2-40B4-BE49-F238E27FC236}">
                <a16:creationId xmlns:a16="http://schemas.microsoft.com/office/drawing/2014/main" id="{9703F44B-2123-470B-A9CC-8E5A90F6A641}"/>
              </a:ext>
            </a:extLst>
          </p:cNvPr>
          <p:cNvPicPr>
            <a:picLocks noChangeAspect="1"/>
          </p:cNvPicPr>
          <p:nvPr/>
        </p:nvPicPr>
        <p:blipFill>
          <a:blip r:embed="rId5"/>
          <a:stretch>
            <a:fillRect/>
          </a:stretch>
        </p:blipFill>
        <p:spPr>
          <a:xfrm>
            <a:off x="8605231" y="1805452"/>
            <a:ext cx="3652388" cy="1426556"/>
          </a:xfrm>
          <a:prstGeom prst="rect">
            <a:avLst/>
          </a:prstGeom>
        </p:spPr>
      </p:pic>
      <p:sp>
        <p:nvSpPr>
          <p:cNvPr id="14" name="TextBox 13">
            <a:extLst>
              <a:ext uri="{FF2B5EF4-FFF2-40B4-BE49-F238E27FC236}">
                <a16:creationId xmlns:a16="http://schemas.microsoft.com/office/drawing/2014/main" id="{0E2E0E70-5357-1FD8-C5C3-5329C27CAFA7}"/>
              </a:ext>
            </a:extLst>
          </p:cNvPr>
          <p:cNvSpPr txBox="1"/>
          <p:nvPr/>
        </p:nvSpPr>
        <p:spPr>
          <a:xfrm>
            <a:off x="8605231" y="3429000"/>
            <a:ext cx="2015680" cy="369332"/>
          </a:xfrm>
          <a:prstGeom prst="rect">
            <a:avLst/>
          </a:prstGeom>
          <a:noFill/>
        </p:spPr>
        <p:txBody>
          <a:bodyPr wrap="none" rtlCol="0">
            <a:spAutoFit/>
          </a:bodyPr>
          <a:lstStyle/>
          <a:p>
            <a:r>
              <a:rPr lang="en-US" dirty="0"/>
              <a:t>Grid search over </a:t>
            </a:r>
            <a:r>
              <a:rPr lang="el-GR" dirty="0"/>
              <a:t>ψ</a:t>
            </a:r>
            <a:endParaRPr lang="en-US" dirty="0"/>
          </a:p>
        </p:txBody>
      </p:sp>
      <p:pic>
        <p:nvPicPr>
          <p:cNvPr id="16" name="Picture 15" descr="A close-up of a computer code&#10;&#10;AI-generated content may be incorrect.">
            <a:extLst>
              <a:ext uri="{FF2B5EF4-FFF2-40B4-BE49-F238E27FC236}">
                <a16:creationId xmlns:a16="http://schemas.microsoft.com/office/drawing/2014/main" id="{CB75978D-44B0-10C2-EF7D-562DAA62E40B}"/>
              </a:ext>
            </a:extLst>
          </p:cNvPr>
          <p:cNvPicPr>
            <a:picLocks noChangeAspect="1"/>
          </p:cNvPicPr>
          <p:nvPr/>
        </p:nvPicPr>
        <p:blipFill>
          <a:blip r:embed="rId6"/>
          <a:stretch>
            <a:fillRect/>
          </a:stretch>
        </p:blipFill>
        <p:spPr>
          <a:xfrm>
            <a:off x="8552495" y="4385439"/>
            <a:ext cx="3680485" cy="1117290"/>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880D77A-019E-8FDD-F369-0F33D187469D}"/>
                  </a:ext>
                </a:extLst>
              </p:cNvPr>
              <p:cNvSpPr txBox="1"/>
              <p:nvPr/>
            </p:nvSpPr>
            <p:spPr>
              <a:xfrm>
                <a:off x="8605231" y="5643154"/>
                <a:ext cx="2701573" cy="380938"/>
              </a:xfrm>
              <a:prstGeom prst="rect">
                <a:avLst/>
              </a:prstGeom>
              <a:noFill/>
            </p:spPr>
            <p:txBody>
              <a:bodyPr wrap="none" rtlCol="0">
                <a:spAutoFit/>
              </a:bodyPr>
              <a:lstStyle/>
              <a:p>
                <a:r>
                  <a:rPr lang="en-US" dirty="0"/>
                  <a:t>Identify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𝜓</m:t>
                        </m:r>
                      </m:e>
                    </m:acc>
                  </m:oMath>
                </a14:m>
                <a:r>
                  <a:rPr lang="en-US" dirty="0"/>
                  <a:t> by log-rank test</a:t>
                </a:r>
              </a:p>
            </p:txBody>
          </p:sp>
        </mc:Choice>
        <mc:Fallback xmlns="">
          <p:sp>
            <p:nvSpPr>
              <p:cNvPr id="17" name="TextBox 16">
                <a:extLst>
                  <a:ext uri="{FF2B5EF4-FFF2-40B4-BE49-F238E27FC236}">
                    <a16:creationId xmlns:a16="http://schemas.microsoft.com/office/drawing/2014/main" id="{5880D77A-019E-8FDD-F369-0F33D187469D}"/>
                  </a:ext>
                </a:extLst>
              </p:cNvPr>
              <p:cNvSpPr txBox="1">
                <a:spLocks noRot="1" noChangeAspect="1" noMove="1" noResize="1" noEditPoints="1" noAdjustHandles="1" noChangeArrowheads="1" noChangeShapeType="1" noTextEdit="1"/>
              </p:cNvSpPr>
              <p:nvPr/>
            </p:nvSpPr>
            <p:spPr>
              <a:xfrm>
                <a:off x="8605231" y="5643154"/>
                <a:ext cx="2701573" cy="380938"/>
              </a:xfrm>
              <a:prstGeom prst="rect">
                <a:avLst/>
              </a:prstGeom>
              <a:blipFill>
                <a:blip r:embed="rId7"/>
                <a:stretch>
                  <a:fillRect l="-2032" t="-4839" r="-903" b="-27419"/>
                </a:stretch>
              </a:blipFill>
            </p:spPr>
            <p:txBody>
              <a:bodyPr/>
              <a:lstStyle/>
              <a:p>
                <a:r>
                  <a:rPr lang="en-US">
                    <a:noFill/>
                  </a:rPr>
                  <a:t> </a:t>
                </a:r>
              </a:p>
            </p:txBody>
          </p:sp>
        </mc:Fallback>
      </mc:AlternateContent>
      <p:pic>
        <p:nvPicPr>
          <p:cNvPr id="21" name="Picture 20" descr="A black text on a white background&#10;&#10;AI-generated content may be incorrect.">
            <a:extLst>
              <a:ext uri="{FF2B5EF4-FFF2-40B4-BE49-F238E27FC236}">
                <a16:creationId xmlns:a16="http://schemas.microsoft.com/office/drawing/2014/main" id="{1EC036CB-9B6F-0042-30F6-E1F2C80EEBEE}"/>
              </a:ext>
            </a:extLst>
          </p:cNvPr>
          <p:cNvPicPr>
            <a:picLocks noChangeAspect="1"/>
          </p:cNvPicPr>
          <p:nvPr/>
        </p:nvPicPr>
        <p:blipFill>
          <a:blip r:embed="rId8"/>
          <a:stretch>
            <a:fillRect/>
          </a:stretch>
        </p:blipFill>
        <p:spPr>
          <a:xfrm>
            <a:off x="2099705" y="3510058"/>
            <a:ext cx="7992590" cy="1991003"/>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022507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500" fill="hold"/>
                                        <p:tgtEl>
                                          <p:spTgt spid="13"/>
                                        </p:tgtEl>
                                        <p:attrNameLst>
                                          <p:attrName>ppt_w</p:attrName>
                                        </p:attrNameLst>
                                      </p:cBhvr>
                                      <p:tavLst>
                                        <p:tav tm="0">
                                          <p:val>
                                            <p:fltVal val="0"/>
                                          </p:val>
                                        </p:tav>
                                        <p:tav tm="100000">
                                          <p:val>
                                            <p:strVal val="#ppt_w"/>
                                          </p:val>
                                        </p:tav>
                                      </p:tavLst>
                                    </p:anim>
                                    <p:anim calcmode="lin" valueType="num">
                                      <p:cBhvr>
                                        <p:cTn id="32" dur="500" fill="hold"/>
                                        <p:tgtEl>
                                          <p:spTgt spid="13"/>
                                        </p:tgtEl>
                                        <p:attrNameLst>
                                          <p:attrName>ppt_h</p:attrName>
                                        </p:attrNameLst>
                                      </p:cBhvr>
                                      <p:tavLst>
                                        <p:tav tm="0">
                                          <p:val>
                                            <p:fltVal val="0"/>
                                          </p:val>
                                        </p:tav>
                                        <p:tav tm="100000">
                                          <p:val>
                                            <p:strVal val="#ppt_h"/>
                                          </p:val>
                                        </p:tav>
                                      </p:tavLst>
                                    </p:anim>
                                    <p:animEffect transition="in" filter="fade">
                                      <p:cBhvr>
                                        <p:cTn id="33" dur="500"/>
                                        <p:tgtEl>
                                          <p:spTgt spid="13"/>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500" fill="hold"/>
                                        <p:tgtEl>
                                          <p:spTgt spid="16"/>
                                        </p:tgtEl>
                                        <p:attrNameLst>
                                          <p:attrName>ppt_w</p:attrName>
                                        </p:attrNameLst>
                                      </p:cBhvr>
                                      <p:tavLst>
                                        <p:tav tm="0">
                                          <p:val>
                                            <p:fltVal val="0"/>
                                          </p:val>
                                        </p:tav>
                                        <p:tav tm="100000">
                                          <p:val>
                                            <p:strVal val="#ppt_w"/>
                                          </p:val>
                                        </p:tav>
                                      </p:tavLst>
                                    </p:anim>
                                    <p:anim calcmode="lin" valueType="num">
                                      <p:cBhvr>
                                        <p:cTn id="44" dur="500" fill="hold"/>
                                        <p:tgtEl>
                                          <p:spTgt spid="16"/>
                                        </p:tgtEl>
                                        <p:attrNameLst>
                                          <p:attrName>ppt_h</p:attrName>
                                        </p:attrNameLst>
                                      </p:cBhvr>
                                      <p:tavLst>
                                        <p:tav tm="0">
                                          <p:val>
                                            <p:fltVal val="0"/>
                                          </p:val>
                                        </p:tav>
                                        <p:tav tm="100000">
                                          <p:val>
                                            <p:strVal val="#ppt_h"/>
                                          </p:val>
                                        </p:tav>
                                      </p:tavLst>
                                    </p:anim>
                                    <p:animEffect transition="in" filter="fade">
                                      <p:cBhvr>
                                        <p:cTn id="45" dur="500"/>
                                        <p:tgtEl>
                                          <p:spTgt spid="16"/>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p:cTn id="48" dur="500" fill="hold"/>
                                        <p:tgtEl>
                                          <p:spTgt spid="17"/>
                                        </p:tgtEl>
                                        <p:attrNameLst>
                                          <p:attrName>ppt_w</p:attrName>
                                        </p:attrNameLst>
                                      </p:cBhvr>
                                      <p:tavLst>
                                        <p:tav tm="0">
                                          <p:val>
                                            <p:fltVal val="0"/>
                                          </p:val>
                                        </p:tav>
                                        <p:tav tm="100000">
                                          <p:val>
                                            <p:strVal val="#ppt_w"/>
                                          </p:val>
                                        </p:tav>
                                      </p:tavLst>
                                    </p:anim>
                                    <p:anim calcmode="lin" valueType="num">
                                      <p:cBhvr>
                                        <p:cTn id="49" dur="500" fill="hold"/>
                                        <p:tgtEl>
                                          <p:spTgt spid="17"/>
                                        </p:tgtEl>
                                        <p:attrNameLst>
                                          <p:attrName>ppt_h</p:attrName>
                                        </p:attrNameLst>
                                      </p:cBhvr>
                                      <p:tavLst>
                                        <p:tav tm="0">
                                          <p:val>
                                            <p:fltVal val="0"/>
                                          </p:val>
                                        </p:tav>
                                        <p:tav tm="100000">
                                          <p:val>
                                            <p:strVal val="#ppt_h"/>
                                          </p:val>
                                        </p:tav>
                                      </p:tavLst>
                                    </p:anim>
                                    <p:animEffect transition="in" filter="fade">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p:cTn id="55" dur="500" fill="hold"/>
                                        <p:tgtEl>
                                          <p:spTgt spid="21"/>
                                        </p:tgtEl>
                                        <p:attrNameLst>
                                          <p:attrName>ppt_w</p:attrName>
                                        </p:attrNameLst>
                                      </p:cBhvr>
                                      <p:tavLst>
                                        <p:tav tm="0">
                                          <p:val>
                                            <p:fltVal val="0"/>
                                          </p:val>
                                        </p:tav>
                                        <p:tav tm="100000">
                                          <p:val>
                                            <p:strVal val="#ppt_w"/>
                                          </p:val>
                                        </p:tav>
                                      </p:tavLst>
                                    </p:anim>
                                    <p:anim calcmode="lin" valueType="num">
                                      <p:cBhvr>
                                        <p:cTn id="56" dur="500" fill="hold"/>
                                        <p:tgtEl>
                                          <p:spTgt spid="21"/>
                                        </p:tgtEl>
                                        <p:attrNameLst>
                                          <p:attrName>ppt_h</p:attrName>
                                        </p:attrNameLst>
                                      </p:cBhvr>
                                      <p:tavLst>
                                        <p:tav tm="0">
                                          <p:val>
                                            <p:fltVal val="0"/>
                                          </p:val>
                                        </p:tav>
                                        <p:tav tm="100000">
                                          <p:val>
                                            <p:strVal val="#ppt_h"/>
                                          </p:val>
                                        </p:tav>
                                      </p:tavLst>
                                    </p:anim>
                                    <p:animEffect transition="in" filter="fade">
                                      <p:cBhvr>
                                        <p:cTn id="5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4"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C6045-2DA4-1DA9-CFD5-8E60ED18EA3E}"/>
              </a:ext>
            </a:extLst>
          </p:cNvPr>
          <p:cNvSpPr>
            <a:spLocks noGrp="1"/>
          </p:cNvSpPr>
          <p:nvPr>
            <p:ph type="title"/>
          </p:nvPr>
        </p:nvSpPr>
        <p:spPr>
          <a:xfrm>
            <a:off x="546100" y="198437"/>
            <a:ext cx="10515600" cy="1325563"/>
          </a:xfrm>
        </p:spPr>
        <p:txBody>
          <a:bodyPr>
            <a:noAutofit/>
          </a:bodyPr>
          <a:lstStyle/>
          <a:p>
            <a:r>
              <a:rPr lang="en-US" sz="3200" b="1" dirty="0"/>
              <a:t>Rank Preserving Structure Failure Time Model (RPSFTM)</a:t>
            </a:r>
            <a:br>
              <a:rPr lang="en-US" sz="3600" b="1" dirty="0"/>
            </a:br>
            <a:r>
              <a:rPr lang="en-US" sz="3200" i="1" dirty="0"/>
              <a:t>Pros and Cons</a:t>
            </a:r>
            <a:endParaRPr lang="en-US" sz="3200" dirty="0"/>
          </a:p>
        </p:txBody>
      </p:sp>
      <mc:AlternateContent xmlns:mc="http://schemas.openxmlformats.org/markup-compatibility/2006" xmlns:a14="http://schemas.microsoft.com/office/drawing/2010/main">
        <mc:Choice Requires="a14">
          <p:graphicFrame>
            <p:nvGraphicFramePr>
              <p:cNvPr id="5" name="Content Placeholder 2">
                <a:extLst>
                  <a:ext uri="{FF2B5EF4-FFF2-40B4-BE49-F238E27FC236}">
                    <a16:creationId xmlns:a16="http://schemas.microsoft.com/office/drawing/2014/main" id="{F756734A-8B88-02AC-23B6-C75D61BD28B1}"/>
                  </a:ext>
                </a:extLst>
              </p:cNvPr>
              <p:cNvGraphicFramePr>
                <a:graphicFrameLocks noGrp="1"/>
              </p:cNvGraphicFramePr>
              <p:nvPr>
                <p:ph idx="1"/>
                <p:extLst>
                  <p:ext uri="{D42A27DB-BD31-4B8C-83A1-F6EECF244321}">
                    <p14:modId xmlns:p14="http://schemas.microsoft.com/office/powerpoint/2010/main" val="1223788"/>
                  </p:ext>
                </p:extLst>
              </p:nvPr>
            </p:nvGraphicFramePr>
            <p:xfrm>
              <a:off x="838200" y="1524001"/>
              <a:ext cx="10515600" cy="51355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5" name="Content Placeholder 2">
                <a:extLst>
                  <a:ext uri="{FF2B5EF4-FFF2-40B4-BE49-F238E27FC236}">
                    <a16:creationId xmlns:a16="http://schemas.microsoft.com/office/drawing/2014/main" id="{F756734A-8B88-02AC-23B6-C75D61BD28B1}"/>
                  </a:ext>
                </a:extLst>
              </p:cNvPr>
              <p:cNvGraphicFramePr>
                <a:graphicFrameLocks noGrp="1"/>
              </p:cNvGraphicFramePr>
              <p:nvPr>
                <p:ph idx="1"/>
                <p:extLst>
                  <p:ext uri="{D42A27DB-BD31-4B8C-83A1-F6EECF244321}">
                    <p14:modId xmlns:p14="http://schemas.microsoft.com/office/powerpoint/2010/main" val="1223788"/>
                  </p:ext>
                </p:extLst>
              </p:nvPr>
            </p:nvGraphicFramePr>
            <p:xfrm>
              <a:off x="838200" y="1524001"/>
              <a:ext cx="10515600" cy="513556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3959911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8304B-98D2-9661-DE3C-1508DB9393D0}"/>
              </a:ext>
            </a:extLst>
          </p:cNvPr>
          <p:cNvSpPr>
            <a:spLocks noGrp="1"/>
          </p:cNvSpPr>
          <p:nvPr>
            <p:ph type="ctrTitle"/>
          </p:nvPr>
        </p:nvSpPr>
        <p:spPr/>
        <p:txBody>
          <a:bodyPr/>
          <a:lstStyle/>
          <a:p>
            <a:r>
              <a:rPr lang="en-US" dirty="0"/>
              <a:t>Two Stage Estimation </a:t>
            </a:r>
          </a:p>
        </p:txBody>
      </p:sp>
      <p:sp>
        <p:nvSpPr>
          <p:cNvPr id="3" name="Subtitle 2">
            <a:extLst>
              <a:ext uri="{FF2B5EF4-FFF2-40B4-BE49-F238E27FC236}">
                <a16:creationId xmlns:a16="http://schemas.microsoft.com/office/drawing/2014/main" id="{BEE184F4-C40B-F424-3486-B6798C2DD04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52690567"/>
      </p:ext>
    </p:extLst>
  </p:cSld>
  <p:clrMapOvr>
    <a:masterClrMapping/>
  </p:clrMapOvr>
  <mc:AlternateContent xmlns:mc="http://schemas.openxmlformats.org/markup-compatibility/2006" xmlns:p14="http://schemas.microsoft.com/office/powerpoint/2010/main">
    <mc:Choice Requires="p14">
      <p:transition spd="slow" p14:dur="2000" advTm="11730"/>
    </mc:Choice>
    <mc:Fallback xmlns="">
      <p:transition spd="slow" advTm="1173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F82EF-EF80-031E-97B6-88C316082DCF}"/>
              </a:ext>
            </a:extLst>
          </p:cNvPr>
          <p:cNvSpPr>
            <a:spLocks noGrp="1"/>
          </p:cNvSpPr>
          <p:nvPr>
            <p:ph type="title"/>
          </p:nvPr>
        </p:nvSpPr>
        <p:spPr/>
        <p:txBody>
          <a:bodyPr/>
          <a:lstStyle/>
          <a:p>
            <a:r>
              <a:rPr lang="en-US" dirty="0"/>
              <a:t>Two Stage Estimation </a:t>
            </a:r>
          </a:p>
        </p:txBody>
      </p:sp>
      <p:sp>
        <p:nvSpPr>
          <p:cNvPr id="3" name="Content Placeholder 2">
            <a:extLst>
              <a:ext uri="{FF2B5EF4-FFF2-40B4-BE49-F238E27FC236}">
                <a16:creationId xmlns:a16="http://schemas.microsoft.com/office/drawing/2014/main" id="{BFEC079E-4F0D-E87E-28D8-0DFF616F4A10}"/>
              </a:ext>
            </a:extLst>
          </p:cNvPr>
          <p:cNvSpPr>
            <a:spLocks noGrp="1"/>
          </p:cNvSpPr>
          <p:nvPr>
            <p:ph idx="1"/>
          </p:nvPr>
        </p:nvSpPr>
        <p:spPr/>
        <p:txBody>
          <a:bodyPr/>
          <a:lstStyle/>
          <a:p>
            <a:pPr marL="0" indent="0">
              <a:buNone/>
            </a:pPr>
            <a:r>
              <a:rPr lang="en-US" dirty="0"/>
              <a:t>It is a re-scaling approach, like the RPSFTM method. </a:t>
            </a:r>
          </a:p>
          <a:p>
            <a:pPr marL="0" indent="0">
              <a:buNone/>
            </a:pPr>
            <a:r>
              <a:rPr lang="en-US" dirty="0"/>
              <a:t>But do not use “common treatment” assumption.</a:t>
            </a:r>
          </a:p>
          <a:p>
            <a:pPr marL="0" indent="0">
              <a:buNone/>
            </a:pPr>
            <a:endParaRPr lang="en-US" dirty="0"/>
          </a:p>
          <a:p>
            <a:pPr marL="0" indent="0">
              <a:buNone/>
            </a:pPr>
            <a:r>
              <a:rPr lang="en-US" dirty="0"/>
              <a:t>TSE relies on the following 3 assumptions:</a:t>
            </a:r>
          </a:p>
          <a:p>
            <a:r>
              <a:rPr lang="en-US" dirty="0"/>
              <a:t>No unmeasured confounding (at 1st and 2nd baseline) </a:t>
            </a:r>
          </a:p>
          <a:p>
            <a:r>
              <a:rPr lang="en-US" dirty="0"/>
              <a:t>OS data follow a parametric distribution</a:t>
            </a:r>
          </a:p>
          <a:p>
            <a:r>
              <a:rPr lang="en-US" dirty="0"/>
              <a:t>No gap time b/t progression and treatment switch</a:t>
            </a:r>
          </a:p>
          <a:p>
            <a:endParaRPr lang="en-US" dirty="0"/>
          </a:p>
          <a:p>
            <a:endParaRPr lang="en-US" dirty="0"/>
          </a:p>
        </p:txBody>
      </p:sp>
    </p:spTree>
    <p:extLst>
      <p:ext uri="{BB962C8B-B14F-4D97-AF65-F5344CB8AC3E}">
        <p14:creationId xmlns:p14="http://schemas.microsoft.com/office/powerpoint/2010/main" val="3870498949"/>
      </p:ext>
    </p:extLst>
  </p:cSld>
  <p:clrMapOvr>
    <a:masterClrMapping/>
  </p:clrMapOvr>
  <mc:AlternateContent xmlns:mc="http://schemas.openxmlformats.org/markup-compatibility/2006" xmlns:p14="http://schemas.microsoft.com/office/powerpoint/2010/main">
    <mc:Choice Requires="p14">
      <p:transition spd="slow" p14:dur="2000" advTm="569"/>
    </mc:Choice>
    <mc:Fallback xmlns="">
      <p:transition spd="slow" advTm="56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9E06C-7DA5-EA5A-62AC-8265A56AE315}"/>
              </a:ext>
            </a:extLst>
          </p:cNvPr>
          <p:cNvSpPr>
            <a:spLocks noGrp="1"/>
          </p:cNvSpPr>
          <p:nvPr>
            <p:ph type="title"/>
          </p:nvPr>
        </p:nvSpPr>
        <p:spPr/>
        <p:txBody>
          <a:bodyPr/>
          <a:lstStyle/>
          <a:p>
            <a:r>
              <a:rPr lang="en-US" dirty="0"/>
              <a:t>Step 1: </a:t>
            </a:r>
          </a:p>
        </p:txBody>
      </p:sp>
      <p:sp>
        <p:nvSpPr>
          <p:cNvPr id="3" name="Content Placeholder 2">
            <a:extLst>
              <a:ext uri="{FF2B5EF4-FFF2-40B4-BE49-F238E27FC236}">
                <a16:creationId xmlns:a16="http://schemas.microsoft.com/office/drawing/2014/main" id="{9F5E1D90-0DD6-FB91-24DA-469135EA1F05}"/>
              </a:ext>
            </a:extLst>
          </p:cNvPr>
          <p:cNvSpPr>
            <a:spLocks noGrp="1"/>
          </p:cNvSpPr>
          <p:nvPr>
            <p:ph idx="1"/>
          </p:nvPr>
        </p:nvSpPr>
        <p:spPr/>
        <p:txBody>
          <a:bodyPr/>
          <a:lstStyle/>
          <a:p>
            <a:r>
              <a:rPr lang="en-US" dirty="0"/>
              <a:t>Identify secondary baseline for each patient</a:t>
            </a:r>
          </a:p>
        </p:txBody>
      </p:sp>
      <p:pic>
        <p:nvPicPr>
          <p:cNvPr id="5" name="Picture 4">
            <a:extLst>
              <a:ext uri="{FF2B5EF4-FFF2-40B4-BE49-F238E27FC236}">
                <a16:creationId xmlns:a16="http://schemas.microsoft.com/office/drawing/2014/main" id="{054632B8-0563-BFB7-4564-FDCD3AAD0183}"/>
              </a:ext>
            </a:extLst>
          </p:cNvPr>
          <p:cNvPicPr>
            <a:picLocks noChangeAspect="1"/>
          </p:cNvPicPr>
          <p:nvPr/>
        </p:nvPicPr>
        <p:blipFill>
          <a:blip r:embed="rId3"/>
          <a:srcRect l="-676" t="5027" r="8039" b="1771"/>
          <a:stretch>
            <a:fillRect/>
          </a:stretch>
        </p:blipFill>
        <p:spPr>
          <a:xfrm>
            <a:off x="539087" y="2293521"/>
            <a:ext cx="10645254" cy="4448473"/>
          </a:xfrm>
          <a:prstGeom prst="rect">
            <a:avLst/>
          </a:prstGeom>
        </p:spPr>
      </p:pic>
      <p:sp>
        <p:nvSpPr>
          <p:cNvPr id="11" name="Rectangle 10">
            <a:extLst>
              <a:ext uri="{FF2B5EF4-FFF2-40B4-BE49-F238E27FC236}">
                <a16:creationId xmlns:a16="http://schemas.microsoft.com/office/drawing/2014/main" id="{424DC5D6-E87A-A070-9A4F-EE9DD1FF4A2F}"/>
              </a:ext>
            </a:extLst>
          </p:cNvPr>
          <p:cNvSpPr/>
          <p:nvPr/>
        </p:nvSpPr>
        <p:spPr>
          <a:xfrm>
            <a:off x="3685794" y="2545384"/>
            <a:ext cx="3041650" cy="165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XO</a:t>
            </a:r>
          </a:p>
        </p:txBody>
      </p:sp>
      <p:sp>
        <p:nvSpPr>
          <p:cNvPr id="13" name="Rectangle 12">
            <a:extLst>
              <a:ext uri="{FF2B5EF4-FFF2-40B4-BE49-F238E27FC236}">
                <a16:creationId xmlns:a16="http://schemas.microsoft.com/office/drawing/2014/main" id="{40AE7511-1C11-EDFC-0ABD-5400B618A7B9}"/>
              </a:ext>
            </a:extLst>
          </p:cNvPr>
          <p:cNvSpPr/>
          <p:nvPr/>
        </p:nvSpPr>
        <p:spPr>
          <a:xfrm>
            <a:off x="3238500" y="2895343"/>
            <a:ext cx="3251200" cy="165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XO</a:t>
            </a:r>
          </a:p>
        </p:txBody>
      </p:sp>
      <p:sp>
        <p:nvSpPr>
          <p:cNvPr id="14" name="Rectangle 13">
            <a:extLst>
              <a:ext uri="{FF2B5EF4-FFF2-40B4-BE49-F238E27FC236}">
                <a16:creationId xmlns:a16="http://schemas.microsoft.com/office/drawing/2014/main" id="{63A90D0F-3FE0-F049-3931-CBF33B1901BE}"/>
              </a:ext>
            </a:extLst>
          </p:cNvPr>
          <p:cNvSpPr/>
          <p:nvPr/>
        </p:nvSpPr>
        <p:spPr>
          <a:xfrm>
            <a:off x="4099814" y="3251264"/>
            <a:ext cx="3251200" cy="165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XO</a:t>
            </a:r>
          </a:p>
        </p:txBody>
      </p:sp>
      <p:sp>
        <p:nvSpPr>
          <p:cNvPr id="15" name="Rectangle 14">
            <a:extLst>
              <a:ext uri="{FF2B5EF4-FFF2-40B4-BE49-F238E27FC236}">
                <a16:creationId xmlns:a16="http://schemas.microsoft.com/office/drawing/2014/main" id="{FD6F6B6C-FEEC-2343-6AA0-A1DFEBBD8B56}"/>
              </a:ext>
            </a:extLst>
          </p:cNvPr>
          <p:cNvSpPr/>
          <p:nvPr/>
        </p:nvSpPr>
        <p:spPr>
          <a:xfrm>
            <a:off x="3136900" y="6438901"/>
            <a:ext cx="349250" cy="2059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5EB5507-206F-4872-6635-3CE4BF7E96EA}"/>
              </a:ext>
            </a:extLst>
          </p:cNvPr>
          <p:cNvSpPr txBox="1"/>
          <p:nvPr/>
        </p:nvSpPr>
        <p:spPr>
          <a:xfrm>
            <a:off x="3155188" y="6403380"/>
            <a:ext cx="908050" cy="276999"/>
          </a:xfrm>
          <a:prstGeom prst="rect">
            <a:avLst/>
          </a:prstGeom>
          <a:noFill/>
        </p:spPr>
        <p:txBody>
          <a:bodyPr wrap="square" rtlCol="0">
            <a:spAutoFit/>
          </a:bodyPr>
          <a:lstStyle/>
          <a:p>
            <a:r>
              <a:rPr lang="en-US" sz="1200" dirty="0">
                <a:solidFill>
                  <a:schemeClr val="bg1"/>
                </a:solidFill>
              </a:rPr>
              <a:t>XO</a:t>
            </a:r>
          </a:p>
        </p:txBody>
      </p:sp>
    </p:spTree>
    <p:extLst>
      <p:ext uri="{BB962C8B-B14F-4D97-AF65-F5344CB8AC3E}">
        <p14:creationId xmlns:p14="http://schemas.microsoft.com/office/powerpoint/2010/main" val="4270115047"/>
      </p:ext>
    </p:extLst>
  </p:cSld>
  <p:clrMapOvr>
    <a:masterClrMapping/>
  </p:clrMapOvr>
  <mc:AlternateContent xmlns:mc="http://schemas.openxmlformats.org/markup-compatibility/2006" xmlns:p14="http://schemas.microsoft.com/office/powerpoint/2010/main">
    <mc:Choice Requires="p14">
      <p:transition spd="slow" p14:dur="2000" advTm="86406"/>
    </mc:Choice>
    <mc:Fallback xmlns="">
      <p:transition spd="slow" advTm="8640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BA4FD-9D67-CFF0-A917-4D89C04BB5DF}"/>
              </a:ext>
            </a:extLst>
          </p:cNvPr>
          <p:cNvSpPr>
            <a:spLocks noGrp="1"/>
          </p:cNvSpPr>
          <p:nvPr>
            <p:ph type="title"/>
          </p:nvPr>
        </p:nvSpPr>
        <p:spPr/>
        <p:txBody>
          <a:bodyPr/>
          <a:lstStyle/>
          <a:p>
            <a:r>
              <a:rPr lang="en-US" dirty="0"/>
              <a:t>Step 2: </a:t>
            </a:r>
          </a:p>
        </p:txBody>
      </p:sp>
      <p:sp>
        <p:nvSpPr>
          <p:cNvPr id="3" name="Content Placeholder 2">
            <a:extLst>
              <a:ext uri="{FF2B5EF4-FFF2-40B4-BE49-F238E27FC236}">
                <a16:creationId xmlns:a16="http://schemas.microsoft.com/office/drawing/2014/main" id="{A65A9304-6060-7302-678E-1557D9EC3B42}"/>
              </a:ext>
            </a:extLst>
          </p:cNvPr>
          <p:cNvSpPr>
            <a:spLocks noGrp="1"/>
          </p:cNvSpPr>
          <p:nvPr>
            <p:ph idx="1"/>
          </p:nvPr>
        </p:nvSpPr>
        <p:spPr/>
        <p:txBody>
          <a:bodyPr/>
          <a:lstStyle/>
          <a:p>
            <a:r>
              <a:rPr lang="en-US" dirty="0"/>
              <a:t>Compare post-secondary baseline survival in control group non-switchers with control group switchers </a:t>
            </a:r>
            <a:r>
              <a:rPr lang="en-US" dirty="0">
                <a:highlight>
                  <a:srgbClr val="FFFF00"/>
                </a:highlight>
              </a:rPr>
              <a:t>using an AFT model</a:t>
            </a:r>
          </a:p>
          <a:p>
            <a:endParaRPr lang="en-US" dirty="0"/>
          </a:p>
        </p:txBody>
      </p:sp>
      <p:pic>
        <p:nvPicPr>
          <p:cNvPr id="11" name="Picture 10">
            <a:extLst>
              <a:ext uri="{FF2B5EF4-FFF2-40B4-BE49-F238E27FC236}">
                <a16:creationId xmlns:a16="http://schemas.microsoft.com/office/drawing/2014/main" id="{2A3A1660-71D4-AB18-F29B-8120E4681837}"/>
              </a:ext>
            </a:extLst>
          </p:cNvPr>
          <p:cNvPicPr>
            <a:picLocks noChangeAspect="1"/>
          </p:cNvPicPr>
          <p:nvPr/>
        </p:nvPicPr>
        <p:blipFill>
          <a:blip r:embed="rId3"/>
          <a:stretch>
            <a:fillRect/>
          </a:stretch>
        </p:blipFill>
        <p:spPr>
          <a:xfrm>
            <a:off x="582142" y="3251210"/>
            <a:ext cx="6174211" cy="2232167"/>
          </a:xfrm>
          <a:prstGeom prst="rect">
            <a:avLst/>
          </a:prstGeom>
        </p:spPr>
      </p:pic>
      <p:pic>
        <p:nvPicPr>
          <p:cNvPr id="13" name="Picture 12">
            <a:extLst>
              <a:ext uri="{FF2B5EF4-FFF2-40B4-BE49-F238E27FC236}">
                <a16:creationId xmlns:a16="http://schemas.microsoft.com/office/drawing/2014/main" id="{5C28F49A-9355-EA6B-C9C1-E2C0CDCD44A0}"/>
              </a:ext>
            </a:extLst>
          </p:cNvPr>
          <p:cNvPicPr>
            <a:picLocks noChangeAspect="1"/>
          </p:cNvPicPr>
          <p:nvPr/>
        </p:nvPicPr>
        <p:blipFill>
          <a:blip r:embed="rId4"/>
          <a:stretch>
            <a:fillRect/>
          </a:stretch>
        </p:blipFill>
        <p:spPr>
          <a:xfrm>
            <a:off x="6884799" y="2739526"/>
            <a:ext cx="4725059" cy="3572374"/>
          </a:xfrm>
          <a:prstGeom prst="rect">
            <a:avLst/>
          </a:prstGeom>
        </p:spPr>
      </p:pic>
      <p:sp>
        <p:nvSpPr>
          <p:cNvPr id="7" name="Rectangle 6">
            <a:extLst>
              <a:ext uri="{FF2B5EF4-FFF2-40B4-BE49-F238E27FC236}">
                <a16:creationId xmlns:a16="http://schemas.microsoft.com/office/drawing/2014/main" id="{A0190383-F5ED-2119-5C43-2E411B4113B0}"/>
              </a:ext>
            </a:extLst>
          </p:cNvPr>
          <p:cNvSpPr/>
          <p:nvPr/>
        </p:nvSpPr>
        <p:spPr>
          <a:xfrm>
            <a:off x="1943100" y="3810000"/>
            <a:ext cx="2419350" cy="120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a:extLst>
              <a:ext uri="{FF2B5EF4-FFF2-40B4-BE49-F238E27FC236}">
                <a16:creationId xmlns:a16="http://schemas.microsoft.com/office/drawing/2014/main" id="{1D170552-0B82-1B3D-65AA-A888CB797CAF}"/>
              </a:ext>
            </a:extLst>
          </p:cNvPr>
          <p:cNvSpPr/>
          <p:nvPr/>
        </p:nvSpPr>
        <p:spPr>
          <a:xfrm>
            <a:off x="1943100" y="4083050"/>
            <a:ext cx="2616200" cy="120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Rectangle 9">
            <a:extLst>
              <a:ext uri="{FF2B5EF4-FFF2-40B4-BE49-F238E27FC236}">
                <a16:creationId xmlns:a16="http://schemas.microsoft.com/office/drawing/2014/main" id="{D128A374-8FE1-A031-8353-7E83D20D8265}"/>
              </a:ext>
            </a:extLst>
          </p:cNvPr>
          <p:cNvSpPr/>
          <p:nvPr/>
        </p:nvSpPr>
        <p:spPr>
          <a:xfrm>
            <a:off x="1943100" y="4338637"/>
            <a:ext cx="2571750" cy="120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 name="TextBox 11">
            <a:extLst>
              <a:ext uri="{FF2B5EF4-FFF2-40B4-BE49-F238E27FC236}">
                <a16:creationId xmlns:a16="http://schemas.microsoft.com/office/drawing/2014/main" id="{D0E37439-5671-E815-AAAF-32E2687D1038}"/>
              </a:ext>
            </a:extLst>
          </p:cNvPr>
          <p:cNvSpPr txBox="1"/>
          <p:nvPr/>
        </p:nvSpPr>
        <p:spPr>
          <a:xfrm>
            <a:off x="1916254" y="3758104"/>
            <a:ext cx="857250" cy="261610"/>
          </a:xfrm>
          <a:prstGeom prst="rect">
            <a:avLst/>
          </a:prstGeom>
          <a:noFill/>
        </p:spPr>
        <p:txBody>
          <a:bodyPr wrap="square" rtlCol="0">
            <a:spAutoFit/>
          </a:bodyPr>
          <a:lstStyle/>
          <a:p>
            <a:r>
              <a:rPr lang="en-US" sz="1050" b="1" dirty="0">
                <a:solidFill>
                  <a:schemeClr val="bg1"/>
                </a:solidFill>
              </a:rPr>
              <a:t>XO</a:t>
            </a:r>
          </a:p>
        </p:txBody>
      </p:sp>
      <p:sp>
        <p:nvSpPr>
          <p:cNvPr id="14" name="TextBox 13">
            <a:extLst>
              <a:ext uri="{FF2B5EF4-FFF2-40B4-BE49-F238E27FC236}">
                <a16:creationId xmlns:a16="http://schemas.microsoft.com/office/drawing/2014/main" id="{9F91EBF2-6EEF-9BFD-F925-AC67B79781CB}"/>
              </a:ext>
            </a:extLst>
          </p:cNvPr>
          <p:cNvSpPr txBox="1"/>
          <p:nvPr/>
        </p:nvSpPr>
        <p:spPr>
          <a:xfrm>
            <a:off x="1916254" y="4019714"/>
            <a:ext cx="857250" cy="261610"/>
          </a:xfrm>
          <a:prstGeom prst="rect">
            <a:avLst/>
          </a:prstGeom>
          <a:noFill/>
        </p:spPr>
        <p:txBody>
          <a:bodyPr wrap="square" rtlCol="0">
            <a:spAutoFit/>
          </a:bodyPr>
          <a:lstStyle/>
          <a:p>
            <a:r>
              <a:rPr lang="en-US" sz="1050" b="1" dirty="0">
                <a:solidFill>
                  <a:schemeClr val="bg1"/>
                </a:solidFill>
              </a:rPr>
              <a:t>XO</a:t>
            </a:r>
          </a:p>
        </p:txBody>
      </p:sp>
      <p:sp>
        <p:nvSpPr>
          <p:cNvPr id="15" name="TextBox 14">
            <a:extLst>
              <a:ext uri="{FF2B5EF4-FFF2-40B4-BE49-F238E27FC236}">
                <a16:creationId xmlns:a16="http://schemas.microsoft.com/office/drawing/2014/main" id="{DD93635E-DAB0-6AE6-03F2-ED45F186A664}"/>
              </a:ext>
            </a:extLst>
          </p:cNvPr>
          <p:cNvSpPr txBox="1"/>
          <p:nvPr/>
        </p:nvSpPr>
        <p:spPr>
          <a:xfrm>
            <a:off x="1916254" y="4285456"/>
            <a:ext cx="857250" cy="261610"/>
          </a:xfrm>
          <a:prstGeom prst="rect">
            <a:avLst/>
          </a:prstGeom>
          <a:noFill/>
        </p:spPr>
        <p:txBody>
          <a:bodyPr wrap="square" rtlCol="0">
            <a:spAutoFit/>
          </a:bodyPr>
          <a:lstStyle/>
          <a:p>
            <a:r>
              <a:rPr lang="en-US" sz="1050" b="1" dirty="0">
                <a:solidFill>
                  <a:schemeClr val="bg1"/>
                </a:solidFill>
              </a:rPr>
              <a:t>XO</a:t>
            </a:r>
          </a:p>
        </p:txBody>
      </p:sp>
      <p:sp>
        <p:nvSpPr>
          <p:cNvPr id="16" name="Rectangle 15">
            <a:extLst>
              <a:ext uri="{FF2B5EF4-FFF2-40B4-BE49-F238E27FC236}">
                <a16:creationId xmlns:a16="http://schemas.microsoft.com/office/drawing/2014/main" id="{ACF87834-4860-6A24-FE5F-CFDB6B16DF13}"/>
              </a:ext>
            </a:extLst>
          </p:cNvPr>
          <p:cNvSpPr/>
          <p:nvPr/>
        </p:nvSpPr>
        <p:spPr>
          <a:xfrm>
            <a:off x="11084254" y="3149610"/>
            <a:ext cx="654050" cy="203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XO</a:t>
            </a:r>
          </a:p>
        </p:txBody>
      </p:sp>
      <p:sp>
        <p:nvSpPr>
          <p:cNvPr id="5" name="TextBox 4">
            <a:extLst>
              <a:ext uri="{FF2B5EF4-FFF2-40B4-BE49-F238E27FC236}">
                <a16:creationId xmlns:a16="http://schemas.microsoft.com/office/drawing/2014/main" id="{ECA75127-A866-1B40-312E-1E11F4E82B84}"/>
              </a:ext>
            </a:extLst>
          </p:cNvPr>
          <p:cNvSpPr txBox="1"/>
          <p:nvPr/>
        </p:nvSpPr>
        <p:spPr>
          <a:xfrm>
            <a:off x="8820103" y="4131863"/>
            <a:ext cx="324465" cy="369332"/>
          </a:xfrm>
          <a:prstGeom prst="rect">
            <a:avLst/>
          </a:prstGeom>
          <a:noFill/>
        </p:spPr>
        <p:txBody>
          <a:bodyPr wrap="square">
            <a:spAutoFit/>
          </a:bodyPr>
          <a:lstStyle/>
          <a:p>
            <a:r>
              <a:rPr lang="en-US" dirty="0"/>
              <a:t>ᴪ</a:t>
            </a:r>
          </a:p>
        </p:txBody>
      </p:sp>
    </p:spTree>
    <p:extLst>
      <p:ext uri="{BB962C8B-B14F-4D97-AF65-F5344CB8AC3E}">
        <p14:creationId xmlns:p14="http://schemas.microsoft.com/office/powerpoint/2010/main" val="2450954547"/>
      </p:ext>
    </p:extLst>
  </p:cSld>
  <p:clrMapOvr>
    <a:masterClrMapping/>
  </p:clrMapOvr>
  <mc:AlternateContent xmlns:mc="http://schemas.openxmlformats.org/markup-compatibility/2006" xmlns:p14="http://schemas.microsoft.com/office/powerpoint/2010/main">
    <mc:Choice Requires="p14">
      <p:transition spd="slow" p14:dur="2000" advTm="66845"/>
    </mc:Choice>
    <mc:Fallback xmlns="">
      <p:transition spd="slow" advTm="66845"/>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C8938-65F1-FFE7-6582-3848D324E3D7}"/>
              </a:ext>
            </a:extLst>
          </p:cNvPr>
          <p:cNvSpPr>
            <a:spLocks noGrp="1"/>
          </p:cNvSpPr>
          <p:nvPr>
            <p:ph type="title"/>
          </p:nvPr>
        </p:nvSpPr>
        <p:spPr/>
        <p:txBody>
          <a:bodyPr/>
          <a:lstStyle/>
          <a:p>
            <a:r>
              <a:rPr lang="en-US" dirty="0"/>
              <a:t>AFT model</a:t>
            </a:r>
          </a:p>
        </p:txBody>
      </p:sp>
      <p:sp>
        <p:nvSpPr>
          <p:cNvPr id="3" name="Content Placeholder 2">
            <a:extLst>
              <a:ext uri="{FF2B5EF4-FFF2-40B4-BE49-F238E27FC236}">
                <a16:creationId xmlns:a16="http://schemas.microsoft.com/office/drawing/2014/main" id="{6B7BC242-7305-EBCE-E730-3EAC0A6CEB81}"/>
              </a:ext>
            </a:extLst>
          </p:cNvPr>
          <p:cNvSpPr>
            <a:spLocks noGrp="1"/>
          </p:cNvSpPr>
          <p:nvPr>
            <p:ph idx="1"/>
          </p:nvPr>
        </p:nvSpPr>
        <p:spPr/>
        <p:txBody>
          <a:bodyPr>
            <a:normAutofit lnSpcReduction="10000"/>
          </a:bodyPr>
          <a:lstStyle/>
          <a:p>
            <a:pPr marL="0" indent="0">
              <a:buNone/>
            </a:pPr>
            <a:r>
              <a:rPr lang="en-US" dirty="0"/>
              <a:t>In survival analysis, instead of focusing on the </a:t>
            </a:r>
            <a:r>
              <a:rPr lang="en-US" i="1" dirty="0"/>
              <a:t>hazard function</a:t>
            </a:r>
            <a:r>
              <a:rPr lang="en-US" dirty="0"/>
              <a:t> (like a Cox proportional hazards model), an </a:t>
            </a:r>
            <a:r>
              <a:rPr lang="en-US" b="1" dirty="0"/>
              <a:t>AFT model looks at the </a:t>
            </a:r>
            <a:r>
              <a:rPr lang="en-US" b="1" i="1" dirty="0"/>
              <a:t>time scale</a:t>
            </a:r>
            <a:r>
              <a:rPr lang="en-US" dirty="0"/>
              <a:t> and assumes covariates multiply the survival time.</a:t>
            </a:r>
          </a:p>
          <a:p>
            <a:pPr marL="0" indent="0">
              <a:buNone/>
            </a:pPr>
            <a:endParaRPr lang="en-US" dirty="0"/>
          </a:p>
          <a:p>
            <a:pPr marL="0" indent="0">
              <a:buNone/>
            </a:pPr>
            <a:r>
              <a:rPr lang="en-US" dirty="0"/>
              <a:t>The model assumes the effect of covariates is to </a:t>
            </a:r>
            <a:r>
              <a:rPr lang="en-US" b="1" dirty="0"/>
              <a:t>accelerate or decelerate the life course of the event of interest</a:t>
            </a:r>
            <a:r>
              <a:rPr lang="en-US" dirty="0"/>
              <a:t> (i.e., make the event happen sooner or later).</a:t>
            </a:r>
          </a:p>
          <a:p>
            <a:pPr marL="0" indent="0">
              <a:buNone/>
            </a:pPr>
            <a:endParaRPr lang="en-US" dirty="0"/>
          </a:p>
          <a:p>
            <a:pPr marL="0" indent="0">
              <a:buNone/>
            </a:pPr>
            <a:r>
              <a:rPr lang="en-US" dirty="0"/>
              <a:t>Unlike Cox models, AFT models require you to specify a </a:t>
            </a:r>
            <a:r>
              <a:rPr lang="en-US" b="1" dirty="0"/>
              <a:t>baseline distribution</a:t>
            </a:r>
            <a:r>
              <a:rPr lang="en-US" dirty="0"/>
              <a:t> for survival times</a:t>
            </a:r>
          </a:p>
        </p:txBody>
      </p:sp>
    </p:spTree>
    <p:extLst>
      <p:ext uri="{BB962C8B-B14F-4D97-AF65-F5344CB8AC3E}">
        <p14:creationId xmlns:p14="http://schemas.microsoft.com/office/powerpoint/2010/main" val="3092085700"/>
      </p:ext>
    </p:extLst>
  </p:cSld>
  <p:clrMapOvr>
    <a:masterClrMapping/>
  </p:clrMapOvr>
  <mc:AlternateContent xmlns:mc="http://schemas.openxmlformats.org/markup-compatibility/2006" xmlns:p14="http://schemas.microsoft.com/office/powerpoint/2010/main">
    <mc:Choice Requires="p14">
      <p:transition spd="slow" p14:dur="2000" advTm="59113"/>
    </mc:Choice>
    <mc:Fallback xmlns="">
      <p:transition spd="slow" advTm="5911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21A62-2B52-3BF5-E90E-CF28B0692B2E}"/>
              </a:ext>
            </a:extLst>
          </p:cNvPr>
          <p:cNvSpPr>
            <a:spLocks noGrp="1"/>
          </p:cNvSpPr>
          <p:nvPr>
            <p:ph type="title"/>
          </p:nvPr>
        </p:nvSpPr>
        <p:spPr/>
        <p:txBody>
          <a:bodyPr/>
          <a:lstStyle/>
          <a:p>
            <a:r>
              <a:rPr lang="en-US" dirty="0"/>
              <a:t>Step 3:</a:t>
            </a:r>
          </a:p>
        </p:txBody>
      </p:sp>
      <p:sp>
        <p:nvSpPr>
          <p:cNvPr id="3" name="Content Placeholder 2">
            <a:extLst>
              <a:ext uri="{FF2B5EF4-FFF2-40B4-BE49-F238E27FC236}">
                <a16:creationId xmlns:a16="http://schemas.microsoft.com/office/drawing/2014/main" id="{828EA338-70A6-50DD-C4E4-2F38C0A89033}"/>
              </a:ext>
            </a:extLst>
          </p:cNvPr>
          <p:cNvSpPr>
            <a:spLocks noGrp="1"/>
          </p:cNvSpPr>
          <p:nvPr>
            <p:ph idx="1"/>
          </p:nvPr>
        </p:nvSpPr>
        <p:spPr/>
        <p:txBody>
          <a:bodyPr/>
          <a:lstStyle/>
          <a:p>
            <a:r>
              <a:rPr lang="en-US" dirty="0"/>
              <a:t>Shrink survival times in switchers according to acceleration factor, and compare to experimental group to obtain hazard ratio adjusted for switching</a:t>
            </a:r>
          </a:p>
        </p:txBody>
      </p:sp>
      <p:pic>
        <p:nvPicPr>
          <p:cNvPr id="5" name="Picture 4">
            <a:extLst>
              <a:ext uri="{FF2B5EF4-FFF2-40B4-BE49-F238E27FC236}">
                <a16:creationId xmlns:a16="http://schemas.microsoft.com/office/drawing/2014/main" id="{0D1D52B8-C31B-1D92-FCA0-E9C9B91D0126}"/>
              </a:ext>
            </a:extLst>
          </p:cNvPr>
          <p:cNvPicPr>
            <a:picLocks noChangeAspect="1"/>
          </p:cNvPicPr>
          <p:nvPr/>
        </p:nvPicPr>
        <p:blipFill>
          <a:blip r:embed="rId2"/>
          <a:srcRect t="1" r="689" b="581"/>
          <a:stretch>
            <a:fillRect/>
          </a:stretch>
        </p:blipFill>
        <p:spPr>
          <a:xfrm>
            <a:off x="974258" y="3295367"/>
            <a:ext cx="5903921" cy="2729571"/>
          </a:xfrm>
          <a:prstGeom prst="rect">
            <a:avLst/>
          </a:prstGeom>
        </p:spPr>
      </p:pic>
      <p:pic>
        <p:nvPicPr>
          <p:cNvPr id="7" name="Picture 6">
            <a:extLst>
              <a:ext uri="{FF2B5EF4-FFF2-40B4-BE49-F238E27FC236}">
                <a16:creationId xmlns:a16="http://schemas.microsoft.com/office/drawing/2014/main" id="{BD1B6137-6D29-4513-156C-915BB182D172}"/>
              </a:ext>
            </a:extLst>
          </p:cNvPr>
          <p:cNvPicPr>
            <a:picLocks noChangeAspect="1"/>
          </p:cNvPicPr>
          <p:nvPr/>
        </p:nvPicPr>
        <p:blipFill>
          <a:blip r:embed="rId3"/>
          <a:stretch>
            <a:fillRect/>
          </a:stretch>
        </p:blipFill>
        <p:spPr>
          <a:xfrm>
            <a:off x="7294602" y="2620931"/>
            <a:ext cx="4352625" cy="4078444"/>
          </a:xfrm>
          <a:prstGeom prst="rect">
            <a:avLst/>
          </a:prstGeom>
        </p:spPr>
      </p:pic>
      <p:sp>
        <p:nvSpPr>
          <p:cNvPr id="4" name="Rectangle 3">
            <a:extLst>
              <a:ext uri="{FF2B5EF4-FFF2-40B4-BE49-F238E27FC236}">
                <a16:creationId xmlns:a16="http://schemas.microsoft.com/office/drawing/2014/main" id="{C357732B-7DFF-0D12-19BD-A4D2DC5DF36C}"/>
              </a:ext>
            </a:extLst>
          </p:cNvPr>
          <p:cNvSpPr/>
          <p:nvPr/>
        </p:nvSpPr>
        <p:spPr>
          <a:xfrm>
            <a:off x="3095355" y="3501820"/>
            <a:ext cx="1489708" cy="1110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t>XO</a:t>
            </a:r>
          </a:p>
        </p:txBody>
      </p:sp>
      <p:sp>
        <p:nvSpPr>
          <p:cNvPr id="9" name="Rectangle 8">
            <a:extLst>
              <a:ext uri="{FF2B5EF4-FFF2-40B4-BE49-F238E27FC236}">
                <a16:creationId xmlns:a16="http://schemas.microsoft.com/office/drawing/2014/main" id="{B3B69991-B5E6-D806-C040-9947C1CE5C9C}"/>
              </a:ext>
            </a:extLst>
          </p:cNvPr>
          <p:cNvSpPr/>
          <p:nvPr/>
        </p:nvSpPr>
        <p:spPr>
          <a:xfrm>
            <a:off x="2790554" y="3740286"/>
            <a:ext cx="1402623" cy="1110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t>XO</a:t>
            </a:r>
          </a:p>
        </p:txBody>
      </p:sp>
      <p:sp>
        <p:nvSpPr>
          <p:cNvPr id="10" name="Rectangle 9">
            <a:extLst>
              <a:ext uri="{FF2B5EF4-FFF2-40B4-BE49-F238E27FC236}">
                <a16:creationId xmlns:a16="http://schemas.microsoft.com/office/drawing/2014/main" id="{A43220EB-8E26-8DD8-1A24-43F917093D8C}"/>
              </a:ext>
            </a:extLst>
          </p:cNvPr>
          <p:cNvSpPr/>
          <p:nvPr/>
        </p:nvSpPr>
        <p:spPr>
          <a:xfrm>
            <a:off x="3365090" y="3986259"/>
            <a:ext cx="1402623" cy="1110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t>XO</a:t>
            </a:r>
          </a:p>
        </p:txBody>
      </p:sp>
      <p:sp>
        <p:nvSpPr>
          <p:cNvPr id="11" name="Rectangle 10">
            <a:extLst>
              <a:ext uri="{FF2B5EF4-FFF2-40B4-BE49-F238E27FC236}">
                <a16:creationId xmlns:a16="http://schemas.microsoft.com/office/drawing/2014/main" id="{63A2917D-0C1E-A101-DF0F-2E2B5505F2CB}"/>
              </a:ext>
            </a:extLst>
          </p:cNvPr>
          <p:cNvSpPr/>
          <p:nvPr/>
        </p:nvSpPr>
        <p:spPr>
          <a:xfrm>
            <a:off x="4585063" y="3505781"/>
            <a:ext cx="692331" cy="111036"/>
          </a:xfrm>
          <a:prstGeom prst="rect">
            <a:avLst/>
          </a:prstGeom>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81486C-5BD9-E19D-2DE2-C166CEA2B27B}"/>
              </a:ext>
            </a:extLst>
          </p:cNvPr>
          <p:cNvSpPr/>
          <p:nvPr/>
        </p:nvSpPr>
        <p:spPr>
          <a:xfrm>
            <a:off x="4193177" y="3740286"/>
            <a:ext cx="927463" cy="111036"/>
          </a:xfrm>
          <a:prstGeom prst="rect">
            <a:avLst/>
          </a:prstGeom>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0EA27BA-A9FE-B2A3-7186-8D3F90208417}"/>
              </a:ext>
            </a:extLst>
          </p:cNvPr>
          <p:cNvSpPr/>
          <p:nvPr/>
        </p:nvSpPr>
        <p:spPr>
          <a:xfrm>
            <a:off x="4767713" y="3987224"/>
            <a:ext cx="927463" cy="111036"/>
          </a:xfrm>
          <a:prstGeom prst="rect">
            <a:avLst/>
          </a:prstGeom>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676FAE4F-7015-F5A5-DDD1-98B33437B49D}"/>
              </a:ext>
            </a:extLst>
          </p:cNvPr>
          <p:cNvCxnSpPr>
            <a:endCxn id="11" idx="1"/>
          </p:cNvCxnSpPr>
          <p:nvPr/>
        </p:nvCxnSpPr>
        <p:spPr>
          <a:xfrm flipH="1">
            <a:off x="4715691" y="3557338"/>
            <a:ext cx="404949"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F7D0DD3-63FC-7900-5BA5-729260B48BFE}"/>
              </a:ext>
            </a:extLst>
          </p:cNvPr>
          <p:cNvCxnSpPr>
            <a:cxnSpLocks/>
          </p:cNvCxnSpPr>
          <p:nvPr/>
        </p:nvCxnSpPr>
        <p:spPr>
          <a:xfrm flipH="1">
            <a:off x="4382588" y="3795804"/>
            <a:ext cx="38512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A9A4C7B-FA56-4DFF-C359-DFBDD134575C}"/>
              </a:ext>
            </a:extLst>
          </p:cNvPr>
          <p:cNvCxnSpPr/>
          <p:nvPr/>
        </p:nvCxnSpPr>
        <p:spPr>
          <a:xfrm flipH="1">
            <a:off x="5028969" y="4041777"/>
            <a:ext cx="404949"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7199319"/>
      </p:ext>
    </p:extLst>
  </p:cSld>
  <p:clrMapOvr>
    <a:masterClrMapping/>
  </p:clrMapOvr>
  <mc:AlternateContent xmlns:mc="http://schemas.openxmlformats.org/markup-compatibility/2006" xmlns:p14="http://schemas.microsoft.com/office/powerpoint/2010/main">
    <mc:Choice Requires="p14">
      <p:transition spd="slow" p14:dur="2000" advTm="127610"/>
    </mc:Choice>
    <mc:Fallback xmlns="">
      <p:transition spd="slow" advTm="12761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F73E5-2F4A-8D7B-64C1-139552A92F94}"/>
              </a:ext>
            </a:extLst>
          </p:cNvPr>
          <p:cNvSpPr>
            <a:spLocks noGrp="1"/>
          </p:cNvSpPr>
          <p:nvPr>
            <p:ph type="title"/>
          </p:nvPr>
        </p:nvSpPr>
        <p:spPr/>
        <p:txBody>
          <a:bodyPr>
            <a:normAutofit fontScale="90000"/>
          </a:bodyPr>
          <a:lstStyle/>
          <a:p>
            <a:br>
              <a:rPr lang="en-US" dirty="0"/>
            </a:br>
            <a:r>
              <a:rPr lang="en-US" dirty="0"/>
              <a:t>Accommodating informative censoring</a:t>
            </a:r>
            <a:br>
              <a:rPr lang="en-US" dirty="0"/>
            </a:br>
            <a:endParaRPr lang="en-US" dirty="0"/>
          </a:p>
        </p:txBody>
      </p:sp>
      <p:sp>
        <p:nvSpPr>
          <p:cNvPr id="3" name="Content Placeholder 2">
            <a:extLst>
              <a:ext uri="{FF2B5EF4-FFF2-40B4-BE49-F238E27FC236}">
                <a16:creationId xmlns:a16="http://schemas.microsoft.com/office/drawing/2014/main" id="{B5EC2D38-6734-6152-CB31-2295CBE4B6E3}"/>
              </a:ext>
            </a:extLst>
          </p:cNvPr>
          <p:cNvSpPr>
            <a:spLocks noGrp="1"/>
          </p:cNvSpPr>
          <p:nvPr>
            <p:ph idx="1"/>
          </p:nvPr>
        </p:nvSpPr>
        <p:spPr/>
        <p:txBody>
          <a:bodyPr>
            <a:normAutofit/>
          </a:bodyPr>
          <a:lstStyle/>
          <a:p>
            <a:pPr marL="0" indent="0">
              <a:buNone/>
            </a:pPr>
            <a:r>
              <a:rPr lang="en-US" dirty="0"/>
              <a:t>The TSE method involves adjusting censoring times in switchers, but not in non-switchers. This will result in informative censoring if there is an association between switching and prognosis.</a:t>
            </a:r>
          </a:p>
          <a:p>
            <a:pPr marL="0" indent="0">
              <a:buNone/>
            </a:pPr>
            <a:endParaRPr lang="en-US" dirty="0"/>
          </a:p>
          <a:p>
            <a:pPr marL="0" indent="0">
              <a:buNone/>
            </a:pPr>
            <a:r>
              <a:rPr lang="en-US" dirty="0"/>
              <a:t>Use IPCW Method to accommodate informative censoring.</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561986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4EB23-0548-6A4E-8FA1-B8C1BD98378A}"/>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9E7C4796-8647-4CD3-7B06-02DEAFDC7BE8}"/>
              </a:ext>
            </a:extLst>
          </p:cNvPr>
          <p:cNvSpPr>
            <a:spLocks noGrp="1"/>
          </p:cNvSpPr>
          <p:nvPr>
            <p:ph idx="1"/>
          </p:nvPr>
        </p:nvSpPr>
        <p:spPr/>
        <p:txBody>
          <a:bodyPr/>
          <a:lstStyle/>
          <a:p>
            <a:pPr marL="0" indent="0">
              <a:buNone/>
            </a:pPr>
            <a:r>
              <a:rPr lang="en-US" dirty="0">
                <a:ln w="0"/>
                <a:solidFill>
                  <a:schemeClr val="accent1"/>
                </a:solidFill>
                <a:effectLst>
                  <a:outerShdw blurRad="38100" dist="25400" dir="5400000" algn="ctr" rotWithShape="0">
                    <a:srgbClr val="6E747A">
                      <a:alpha val="43000"/>
                    </a:srgbClr>
                  </a:outerShdw>
                </a:effectLst>
              </a:rPr>
              <a:t>Assumption 1: </a:t>
            </a:r>
          </a:p>
          <a:p>
            <a:pPr marL="0" indent="0">
              <a:buNone/>
            </a:pPr>
            <a:r>
              <a:rPr lang="en-US" dirty="0">
                <a:ln w="0"/>
                <a:solidFill>
                  <a:schemeClr val="accent1"/>
                </a:solidFill>
                <a:effectLst>
                  <a:outerShdw blurRad="38100" dist="25400" dir="5400000" algn="ctr" rotWithShape="0">
                    <a:srgbClr val="6E747A">
                      <a:alpha val="43000"/>
                    </a:srgbClr>
                  </a:outerShdw>
                </a:effectLst>
              </a:rPr>
              <a:t>No unmeasured confounding (at 1st and 2nd baseline)</a:t>
            </a:r>
          </a:p>
          <a:p>
            <a:r>
              <a:rPr lang="en-US" dirty="0"/>
              <a:t>It cannot be precisely true, but measures can be taken to make it ‘approximately true’ at the trial design stage.</a:t>
            </a:r>
          </a:p>
          <a:p>
            <a:r>
              <a:rPr lang="en-US" dirty="0"/>
              <a:t>In the study protocol, devote a section for 1st and 2nd baseline data collection</a:t>
            </a:r>
          </a:p>
          <a:p>
            <a:endParaRPr lang="en-US" dirty="0"/>
          </a:p>
          <a:p>
            <a:endParaRPr lang="en-US" dirty="0"/>
          </a:p>
          <a:p>
            <a:endParaRPr lang="en-US" dirty="0"/>
          </a:p>
          <a:p>
            <a:endParaRPr lang="en-US" dirty="0"/>
          </a:p>
          <a:p>
            <a:pPr marL="0" indent="0">
              <a:buNone/>
            </a:pPr>
            <a:endParaRPr lang="en-US" dirty="0"/>
          </a:p>
          <a:p>
            <a:endParaRPr lang="en-US" dirty="0"/>
          </a:p>
          <a:p>
            <a:endParaRPr lang="en-US" dirty="0"/>
          </a:p>
          <a:p>
            <a:endParaRPr lang="en-US" dirty="0"/>
          </a:p>
          <a:p>
            <a:endParaRPr lang="en-US" dirty="0"/>
          </a:p>
        </p:txBody>
      </p:sp>
      <p:sp>
        <p:nvSpPr>
          <p:cNvPr id="4" name="Rectangle 3">
            <a:extLst>
              <a:ext uri="{FF2B5EF4-FFF2-40B4-BE49-F238E27FC236}">
                <a16:creationId xmlns:a16="http://schemas.microsoft.com/office/drawing/2014/main" id="{00011FEA-89BD-92FC-4123-033B7B1CD090}"/>
              </a:ext>
            </a:extLst>
          </p:cNvPr>
          <p:cNvSpPr/>
          <p:nvPr/>
        </p:nvSpPr>
        <p:spPr>
          <a:xfrm>
            <a:off x="901337" y="2279469"/>
            <a:ext cx="8660674" cy="1051560"/>
          </a:xfrm>
          <a:prstGeom prst="rect">
            <a:avLst/>
          </a:prstGeom>
          <a:noFill/>
          <a:ln>
            <a:noFill/>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Tree>
    <p:extLst>
      <p:ext uri="{BB962C8B-B14F-4D97-AF65-F5344CB8AC3E}">
        <p14:creationId xmlns:p14="http://schemas.microsoft.com/office/powerpoint/2010/main" val="124043623"/>
      </p:ext>
    </p:extLst>
  </p:cSld>
  <p:clrMapOvr>
    <a:masterClrMapping/>
  </p:clrMapOvr>
  <mc:AlternateContent xmlns:mc="http://schemas.openxmlformats.org/markup-compatibility/2006" xmlns:p14="http://schemas.microsoft.com/office/powerpoint/2010/main">
    <mc:Choice Requires="p14">
      <p:transition spd="slow" p14:dur="2000" advTm="61826"/>
    </mc:Choice>
    <mc:Fallback xmlns="">
      <p:transition spd="slow" advTm="61826"/>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803B9-C440-4C0F-DC88-75055C0A9685}"/>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A52A2D10-FF60-D335-87D5-1371F321DAD2}"/>
              </a:ext>
            </a:extLst>
          </p:cNvPr>
          <p:cNvSpPr>
            <a:spLocks noGrp="1"/>
          </p:cNvSpPr>
          <p:nvPr>
            <p:ph idx="1"/>
          </p:nvPr>
        </p:nvSpPr>
        <p:spPr/>
        <p:txBody>
          <a:bodyPr/>
          <a:lstStyle/>
          <a:p>
            <a:pPr marL="0" indent="0">
              <a:buNone/>
            </a:pPr>
            <a:r>
              <a:rPr lang="en-US" dirty="0">
                <a:ln w="0"/>
                <a:solidFill>
                  <a:schemeClr val="accent1"/>
                </a:solidFill>
                <a:effectLst>
                  <a:outerShdw blurRad="38100" dist="25400" dir="5400000" algn="ctr" rotWithShape="0">
                    <a:srgbClr val="6E747A">
                      <a:alpha val="43000"/>
                    </a:srgbClr>
                  </a:outerShdw>
                </a:effectLst>
              </a:rPr>
              <a:t>Assumption 2: </a:t>
            </a:r>
          </a:p>
          <a:p>
            <a:pPr marL="0" indent="0">
              <a:buNone/>
            </a:pPr>
            <a:r>
              <a:rPr lang="en-US" dirty="0">
                <a:ln w="0"/>
                <a:solidFill>
                  <a:schemeClr val="accent1"/>
                </a:solidFill>
                <a:effectLst>
                  <a:outerShdw blurRad="38100" dist="25400" dir="5400000" algn="ctr" rotWithShape="0">
                    <a:srgbClr val="6E747A">
                      <a:alpha val="43000"/>
                    </a:srgbClr>
                  </a:outerShdw>
                </a:effectLst>
              </a:rPr>
              <a:t>OS data follow a parametric distribution</a:t>
            </a:r>
          </a:p>
          <a:p>
            <a:endParaRPr lang="en-US" dirty="0"/>
          </a:p>
          <a:p>
            <a:r>
              <a:rPr lang="en-US" dirty="0"/>
              <a:t>It is not easy to find a parametric distribution which fits observed data perfectly</a:t>
            </a:r>
          </a:p>
          <a:p>
            <a:endParaRPr lang="en-US" dirty="0"/>
          </a:p>
          <a:p>
            <a:pPr marL="0" indent="0">
              <a:buNone/>
            </a:pPr>
            <a:endParaRPr lang="en-US" dirty="0"/>
          </a:p>
        </p:txBody>
      </p:sp>
    </p:spTree>
    <p:extLst>
      <p:ext uri="{BB962C8B-B14F-4D97-AF65-F5344CB8AC3E}">
        <p14:creationId xmlns:p14="http://schemas.microsoft.com/office/powerpoint/2010/main" val="724558992"/>
      </p:ext>
    </p:extLst>
  </p:cSld>
  <p:clrMapOvr>
    <a:masterClrMapping/>
  </p:clrMapOvr>
  <mc:AlternateContent xmlns:mc="http://schemas.openxmlformats.org/markup-compatibility/2006" xmlns:p14="http://schemas.microsoft.com/office/powerpoint/2010/main">
    <mc:Choice Requires="p14">
      <p:transition spd="slow" p14:dur="2000" advTm="21176"/>
    </mc:Choice>
    <mc:Fallback xmlns="">
      <p:transition spd="slow" advTm="21176"/>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8A136-F39C-73A1-5E97-65F57B7382DE}"/>
              </a:ext>
            </a:extLst>
          </p:cNvPr>
          <p:cNvSpPr>
            <a:spLocks noGrp="1"/>
          </p:cNvSpPr>
          <p:nvPr>
            <p:ph type="title"/>
          </p:nvPr>
        </p:nvSpPr>
        <p:spPr/>
        <p:txBody>
          <a:bodyPr>
            <a:normAutofit/>
          </a:bodyPr>
          <a:lstStyle/>
          <a:p>
            <a:r>
              <a:rPr lang="en-US" dirty="0"/>
              <a:t>Limitations</a:t>
            </a:r>
            <a:br>
              <a:rPr lang="en-US" dirty="0"/>
            </a:br>
            <a:endParaRPr lang="en-US" dirty="0"/>
          </a:p>
        </p:txBody>
      </p:sp>
      <p:sp>
        <p:nvSpPr>
          <p:cNvPr id="3" name="Content Placeholder 2">
            <a:extLst>
              <a:ext uri="{FF2B5EF4-FFF2-40B4-BE49-F238E27FC236}">
                <a16:creationId xmlns:a16="http://schemas.microsoft.com/office/drawing/2014/main" id="{EB217259-A662-1089-271D-070E3A899B58}"/>
              </a:ext>
            </a:extLst>
          </p:cNvPr>
          <p:cNvSpPr>
            <a:spLocks noGrp="1"/>
          </p:cNvSpPr>
          <p:nvPr>
            <p:ph idx="1"/>
          </p:nvPr>
        </p:nvSpPr>
        <p:spPr>
          <a:xfrm>
            <a:off x="785948" y="1420677"/>
            <a:ext cx="10515600" cy="4351338"/>
          </a:xfrm>
        </p:spPr>
        <p:txBody>
          <a:bodyPr>
            <a:normAutofit fontScale="92500" lnSpcReduction="20000"/>
          </a:bodyPr>
          <a:lstStyle/>
          <a:p>
            <a:pPr marL="0" indent="0">
              <a:buNone/>
            </a:pPr>
            <a:r>
              <a:rPr lang="en-US" dirty="0">
                <a:ln w="0"/>
                <a:solidFill>
                  <a:schemeClr val="accent1"/>
                </a:solidFill>
                <a:effectLst>
                  <a:outerShdw blurRad="38100" dist="25400" dir="5400000" algn="ctr" rotWithShape="0">
                    <a:srgbClr val="6E747A">
                      <a:alpha val="43000"/>
                    </a:srgbClr>
                  </a:outerShdw>
                </a:effectLst>
              </a:rPr>
              <a:t>Assumption 3: </a:t>
            </a:r>
          </a:p>
          <a:p>
            <a:pPr marL="0" indent="0">
              <a:buNone/>
            </a:pPr>
            <a:r>
              <a:rPr lang="en-US" dirty="0">
                <a:ln w="0"/>
                <a:solidFill>
                  <a:schemeClr val="accent1"/>
                </a:solidFill>
                <a:effectLst>
                  <a:outerShdw blurRad="38100" dist="25400" dir="5400000" algn="ctr" rotWithShape="0">
                    <a:srgbClr val="6E747A">
                      <a:alpha val="43000"/>
                    </a:srgbClr>
                  </a:outerShdw>
                </a:effectLst>
              </a:rPr>
              <a:t>No gap time b/t progression and treatment switch</a:t>
            </a:r>
          </a:p>
          <a:p>
            <a:pPr marL="0" indent="0">
              <a:buNone/>
            </a:pPr>
            <a:endParaRPr lang="en-US" dirty="0">
              <a:ln w="0"/>
              <a:solidFill>
                <a:schemeClr val="accent1"/>
              </a:solidFill>
              <a:effectLst>
                <a:outerShdw blurRad="38100" dist="25400" dir="5400000" algn="ctr" rotWithShape="0">
                  <a:srgbClr val="6E747A">
                    <a:alpha val="43000"/>
                  </a:srgbClr>
                </a:outerShdw>
              </a:effectLst>
            </a:endParaRPr>
          </a:p>
          <a:p>
            <a:r>
              <a:rPr lang="en-US" dirty="0"/>
              <a:t>Gap time often exists in most relapsed patients </a:t>
            </a:r>
          </a:p>
          <a:p>
            <a:r>
              <a:rPr lang="en-US" dirty="0"/>
              <a:t>Negative gap time</a:t>
            </a:r>
          </a:p>
          <a:p>
            <a:endParaRPr lang="en-US" dirty="0"/>
          </a:p>
          <a:p>
            <a:pPr marL="0" indent="0">
              <a:buNone/>
            </a:pPr>
            <a:r>
              <a:rPr lang="en-US" dirty="0">
                <a:ln w="0"/>
                <a:solidFill>
                  <a:schemeClr val="accent1"/>
                </a:solidFill>
                <a:effectLst>
                  <a:outerShdw blurRad="38100" dist="25400" dir="5400000" algn="ctr" rotWithShape="0">
                    <a:srgbClr val="6E747A">
                      <a:alpha val="43000"/>
                    </a:srgbClr>
                  </a:outerShdw>
                </a:effectLst>
              </a:rPr>
              <a:t>Other extreme cases:</a:t>
            </a:r>
          </a:p>
          <a:p>
            <a:r>
              <a:rPr lang="en-US" dirty="0"/>
              <a:t>Almost all relapsed patients experienced treatment switching, which leads to unreliable ᴪ estimate </a:t>
            </a:r>
          </a:p>
          <a:p>
            <a:r>
              <a:rPr lang="en-US" dirty="0"/>
              <a:t>Some patients experienced treatment switching without disease progression, estimated ᴪ may not be applicable to this set of patients</a:t>
            </a:r>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1163668374"/>
      </p:ext>
    </p:extLst>
  </p:cSld>
  <p:clrMapOvr>
    <a:masterClrMapping/>
  </p:clrMapOvr>
  <mc:AlternateContent xmlns:mc="http://schemas.openxmlformats.org/markup-compatibility/2006" xmlns:p14="http://schemas.microsoft.com/office/powerpoint/2010/main">
    <mc:Choice Requires="p14">
      <p:transition spd="slow" p14:dur="2000" advTm="49526"/>
    </mc:Choice>
    <mc:Fallback xmlns="">
      <p:transition spd="slow" advTm="49526"/>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8F2F-8F09-23CF-6824-E40023C057C2}"/>
              </a:ext>
            </a:extLst>
          </p:cNvPr>
          <p:cNvSpPr>
            <a:spLocks noGrp="1"/>
          </p:cNvSpPr>
          <p:nvPr>
            <p:ph type="title"/>
          </p:nvPr>
        </p:nvSpPr>
        <p:spPr/>
        <p:txBody>
          <a:bodyPr/>
          <a:lstStyle/>
          <a:p>
            <a:r>
              <a:rPr lang="en-US" dirty="0"/>
              <a:t>R code</a:t>
            </a:r>
          </a:p>
        </p:txBody>
      </p:sp>
      <p:sp>
        <p:nvSpPr>
          <p:cNvPr id="3" name="Content Placeholder 2">
            <a:extLst>
              <a:ext uri="{FF2B5EF4-FFF2-40B4-BE49-F238E27FC236}">
                <a16:creationId xmlns:a16="http://schemas.microsoft.com/office/drawing/2014/main" id="{97CED357-2106-48D1-362E-95D24FF94809}"/>
              </a:ext>
            </a:extLst>
          </p:cNvPr>
          <p:cNvSpPr>
            <a:spLocks noGrp="1"/>
          </p:cNvSpPr>
          <p:nvPr>
            <p:ph idx="1"/>
          </p:nvPr>
        </p:nvSpPr>
        <p:spPr/>
        <p:txBody>
          <a:bodyPr/>
          <a:lstStyle/>
          <a:p>
            <a:pPr marL="0" indent="0">
              <a:buNone/>
            </a:pPr>
            <a:r>
              <a:rPr lang="en-US" dirty="0"/>
              <a:t>library(</a:t>
            </a:r>
            <a:r>
              <a:rPr lang="en-US" dirty="0" err="1"/>
              <a:t>trtswitch</a:t>
            </a:r>
            <a:r>
              <a:rPr lang="en-US" dirty="0"/>
              <a:t>)</a:t>
            </a:r>
          </a:p>
          <a:p>
            <a:pPr marL="0" indent="0">
              <a:buNone/>
            </a:pPr>
            <a:endParaRPr lang="en-US" dirty="0"/>
          </a:p>
        </p:txBody>
      </p:sp>
      <p:pic>
        <p:nvPicPr>
          <p:cNvPr id="5" name="Picture 4">
            <a:extLst>
              <a:ext uri="{FF2B5EF4-FFF2-40B4-BE49-F238E27FC236}">
                <a16:creationId xmlns:a16="http://schemas.microsoft.com/office/drawing/2014/main" id="{B1E961CF-05A4-EEB2-8DB9-FE51C45B5C66}"/>
              </a:ext>
            </a:extLst>
          </p:cNvPr>
          <p:cNvPicPr>
            <a:picLocks noChangeAspect="1"/>
          </p:cNvPicPr>
          <p:nvPr/>
        </p:nvPicPr>
        <p:blipFill>
          <a:blip r:embed="rId2"/>
          <a:stretch>
            <a:fillRect/>
          </a:stretch>
        </p:blipFill>
        <p:spPr>
          <a:xfrm>
            <a:off x="1485666" y="2357738"/>
            <a:ext cx="8217777" cy="1643556"/>
          </a:xfrm>
          <a:prstGeom prst="rect">
            <a:avLst/>
          </a:prstGeom>
        </p:spPr>
      </p:pic>
      <p:sp>
        <p:nvSpPr>
          <p:cNvPr id="6" name="TextBox 5">
            <a:extLst>
              <a:ext uri="{FF2B5EF4-FFF2-40B4-BE49-F238E27FC236}">
                <a16:creationId xmlns:a16="http://schemas.microsoft.com/office/drawing/2014/main" id="{32E842AF-E25E-D525-AED6-A69CF0EF5C30}"/>
              </a:ext>
            </a:extLst>
          </p:cNvPr>
          <p:cNvSpPr txBox="1"/>
          <p:nvPr/>
        </p:nvSpPr>
        <p:spPr>
          <a:xfrm>
            <a:off x="993058" y="4129548"/>
            <a:ext cx="10815484" cy="2031325"/>
          </a:xfrm>
          <a:prstGeom prst="rect">
            <a:avLst/>
          </a:prstGeom>
          <a:noFill/>
        </p:spPr>
        <p:txBody>
          <a:bodyPr wrap="square" numCol="2" rtlCol="0">
            <a:spAutoFit/>
          </a:bodyPr>
          <a:lstStyle/>
          <a:p>
            <a:r>
              <a:rPr lang="en-US" dirty="0"/>
              <a:t>## </a:t>
            </a:r>
            <a:r>
              <a:rPr lang="en-US" dirty="0" err="1"/>
              <a:t>Bras.f</a:t>
            </a:r>
            <a:r>
              <a:rPr lang="en-US" dirty="0"/>
              <a:t>: randomized treatment arm</a:t>
            </a:r>
          </a:p>
          <a:p>
            <a:endParaRPr lang="en-US" dirty="0"/>
          </a:p>
          <a:p>
            <a:r>
              <a:rPr lang="en-US" dirty="0"/>
              <a:t>## Time dependent covariates</a:t>
            </a:r>
          </a:p>
          <a:p>
            <a:r>
              <a:rPr lang="en-US" dirty="0"/>
              <a:t># </a:t>
            </a:r>
            <a:r>
              <a:rPr lang="en-US" dirty="0" err="1"/>
              <a:t>ps</a:t>
            </a:r>
            <a:r>
              <a:rPr lang="en-US" dirty="0"/>
              <a:t> The </a:t>
            </a:r>
            <a:r>
              <a:rPr lang="en-US" dirty="0" err="1"/>
              <a:t>ECOGperformance</a:t>
            </a:r>
            <a:r>
              <a:rPr lang="en-US" dirty="0"/>
              <a:t> status </a:t>
            </a:r>
          </a:p>
          <a:p>
            <a:r>
              <a:rPr lang="en-US" dirty="0"/>
              <a:t># </a:t>
            </a:r>
            <a:r>
              <a:rPr lang="en-US" dirty="0" err="1"/>
              <a:t>ttc</a:t>
            </a:r>
            <a:r>
              <a:rPr lang="en-US" dirty="0"/>
              <a:t> The presence of concomitant treatments</a:t>
            </a:r>
          </a:p>
          <a:p>
            <a:r>
              <a:rPr lang="en-US" dirty="0"/>
              <a:t># </a:t>
            </a:r>
            <a:r>
              <a:rPr lang="en-US" dirty="0" err="1"/>
              <a:t>tran</a:t>
            </a:r>
            <a:r>
              <a:rPr lang="en-US" dirty="0"/>
              <a:t> The use of platelet transfusions</a:t>
            </a:r>
          </a:p>
          <a:p>
            <a:endParaRPr lang="en-US" dirty="0"/>
          </a:p>
          <a:p>
            <a:r>
              <a:rPr lang="en-US" dirty="0"/>
              <a:t>## </a:t>
            </a:r>
            <a:r>
              <a:rPr lang="en-US" dirty="0" err="1"/>
              <a:t>dpd</a:t>
            </a:r>
            <a:r>
              <a:rPr lang="en-US" dirty="0"/>
              <a:t>: relative day of progression</a:t>
            </a:r>
          </a:p>
          <a:p>
            <a:r>
              <a:rPr lang="en-US" dirty="0"/>
              <a:t>## </a:t>
            </a:r>
            <a:r>
              <a:rPr lang="en-US" dirty="0" err="1"/>
              <a:t>dco</a:t>
            </a:r>
            <a:r>
              <a:rPr lang="en-US" dirty="0"/>
              <a:t> : relative day of treatment switching</a:t>
            </a:r>
          </a:p>
          <a:p>
            <a:r>
              <a:rPr lang="en-US" dirty="0"/>
              <a:t>## </a:t>
            </a:r>
            <a:r>
              <a:rPr lang="en-US" dirty="0" err="1"/>
              <a:t>ady</a:t>
            </a:r>
            <a:r>
              <a:rPr lang="en-US" dirty="0"/>
              <a:t>: relative day of last news/follow-up</a:t>
            </a:r>
          </a:p>
          <a:p>
            <a:r>
              <a:rPr lang="en-US" dirty="0"/>
              <a:t>## pd: indicator for progression</a:t>
            </a:r>
          </a:p>
          <a:p>
            <a:r>
              <a:rPr lang="en-US" dirty="0"/>
              <a:t>## co: indicator for treatment switching </a:t>
            </a:r>
          </a:p>
          <a:p>
            <a:endParaRPr lang="en-US" dirty="0"/>
          </a:p>
        </p:txBody>
      </p:sp>
    </p:spTree>
    <p:extLst>
      <p:ext uri="{BB962C8B-B14F-4D97-AF65-F5344CB8AC3E}">
        <p14:creationId xmlns:p14="http://schemas.microsoft.com/office/powerpoint/2010/main" val="2003655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2524799-904D-E0C9-7365-981ED10602A5}"/>
              </a:ext>
            </a:extLst>
          </p:cNvPr>
          <p:cNvPicPr>
            <a:picLocks noGrp="1" noChangeAspect="1"/>
          </p:cNvPicPr>
          <p:nvPr>
            <p:ph idx="1"/>
          </p:nvPr>
        </p:nvPicPr>
        <p:blipFill>
          <a:blip r:embed="rId2"/>
          <a:stretch>
            <a:fillRect/>
          </a:stretch>
        </p:blipFill>
        <p:spPr>
          <a:xfrm>
            <a:off x="3974690" y="180158"/>
            <a:ext cx="4483895" cy="3731879"/>
          </a:xfrm>
          <a:prstGeom prst="rect">
            <a:avLst/>
          </a:prstGeom>
        </p:spPr>
      </p:pic>
      <p:pic>
        <p:nvPicPr>
          <p:cNvPr id="8" name="Picture 7">
            <a:extLst>
              <a:ext uri="{FF2B5EF4-FFF2-40B4-BE49-F238E27FC236}">
                <a16:creationId xmlns:a16="http://schemas.microsoft.com/office/drawing/2014/main" id="{2CB7C29A-3AF9-27AF-F60D-F94A6E42D94E}"/>
              </a:ext>
            </a:extLst>
          </p:cNvPr>
          <p:cNvPicPr>
            <a:picLocks noChangeAspect="1"/>
          </p:cNvPicPr>
          <p:nvPr/>
        </p:nvPicPr>
        <p:blipFill>
          <a:blip r:embed="rId3"/>
          <a:stretch>
            <a:fillRect/>
          </a:stretch>
        </p:blipFill>
        <p:spPr>
          <a:xfrm>
            <a:off x="2130244" y="4031312"/>
            <a:ext cx="8537757" cy="2461563"/>
          </a:xfrm>
          <a:prstGeom prst="rect">
            <a:avLst/>
          </a:prstGeom>
        </p:spPr>
      </p:pic>
    </p:spTree>
    <p:extLst>
      <p:ext uri="{BB962C8B-B14F-4D97-AF65-F5344CB8AC3E}">
        <p14:creationId xmlns:p14="http://schemas.microsoft.com/office/powerpoint/2010/main" val="4220523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A6E2B8-ABD4-5AC7-3CBA-DA7B9ADBB7B6}"/>
              </a:ext>
            </a:extLst>
          </p:cNvPr>
          <p:cNvSpPr>
            <a:spLocks noGrp="1"/>
          </p:cNvSpPr>
          <p:nvPr>
            <p:ph idx="1"/>
          </p:nvPr>
        </p:nvSpPr>
        <p:spPr>
          <a:xfrm>
            <a:off x="690716" y="390115"/>
            <a:ext cx="10515600" cy="4351338"/>
          </a:xfrm>
        </p:spPr>
        <p:txBody>
          <a:bodyPr>
            <a:normAutofit/>
          </a:bodyPr>
          <a:lstStyle/>
          <a:p>
            <a:pPr marL="0" indent="0">
              <a:buNone/>
            </a:pPr>
            <a:endParaRPr lang="en-US" sz="1800" dirty="0"/>
          </a:p>
          <a:p>
            <a:pPr marL="0" indent="0">
              <a:buNone/>
            </a:pPr>
            <a:endParaRPr lang="en-US" sz="1800" dirty="0"/>
          </a:p>
          <a:p>
            <a:pPr marL="0" indent="0">
              <a:buNone/>
            </a:pPr>
            <a:endParaRPr lang="en-US" sz="1800" dirty="0"/>
          </a:p>
          <a:p>
            <a:pPr marL="0" indent="0">
              <a:buNone/>
            </a:pPr>
            <a:r>
              <a:rPr lang="en-US" sz="1800" dirty="0"/>
              <a:t>fit1 &lt;- </a:t>
            </a:r>
            <a:r>
              <a:rPr lang="en-US" sz="1800" dirty="0" err="1">
                <a:highlight>
                  <a:srgbClr val="FFFF00"/>
                </a:highlight>
              </a:rPr>
              <a:t>tsesimp</a:t>
            </a:r>
            <a:r>
              <a:rPr lang="en-US" sz="1800" dirty="0"/>
              <a:t>(</a:t>
            </a:r>
          </a:p>
          <a:p>
            <a:pPr marL="0" indent="0">
              <a:buNone/>
            </a:pPr>
            <a:r>
              <a:rPr lang="en-US" sz="1800" dirty="0"/>
              <a:t>data = shilong3, id = "id", time = "</a:t>
            </a:r>
            <a:r>
              <a:rPr lang="en-US" sz="1800" dirty="0" err="1"/>
              <a:t>tstop</a:t>
            </a:r>
            <a:r>
              <a:rPr lang="en-US" sz="1800" dirty="0"/>
              <a:t>", event = "event",  </a:t>
            </a:r>
          </a:p>
          <a:p>
            <a:pPr marL="0" indent="0">
              <a:buNone/>
            </a:pPr>
            <a:r>
              <a:rPr lang="en-US" sz="1800" dirty="0"/>
              <a:t>treat = "</a:t>
            </a:r>
            <a:r>
              <a:rPr lang="en-US" sz="1800" dirty="0" err="1"/>
              <a:t>bras.f</a:t>
            </a:r>
            <a:r>
              <a:rPr lang="en-US" sz="1800" dirty="0"/>
              <a:t>", </a:t>
            </a:r>
            <a:r>
              <a:rPr lang="en-US" sz="1800" dirty="0" err="1"/>
              <a:t>censor_time</a:t>
            </a:r>
            <a:r>
              <a:rPr lang="en-US" sz="1800" dirty="0"/>
              <a:t> = "</a:t>
            </a:r>
            <a:r>
              <a:rPr lang="en-US" sz="1800" dirty="0" err="1"/>
              <a:t>dcut</a:t>
            </a:r>
            <a:r>
              <a:rPr lang="en-US" sz="1800" dirty="0"/>
              <a:t>", </a:t>
            </a:r>
          </a:p>
          <a:p>
            <a:pPr marL="0" indent="0">
              <a:buNone/>
            </a:pPr>
            <a:r>
              <a:rPr lang="en-US" sz="1800" dirty="0"/>
              <a:t>pd = "pd",  </a:t>
            </a:r>
            <a:r>
              <a:rPr lang="en-US" sz="1800" dirty="0" err="1"/>
              <a:t>pd_time</a:t>
            </a:r>
            <a:r>
              <a:rPr lang="en-US" sz="1800" dirty="0"/>
              <a:t> = "</a:t>
            </a:r>
            <a:r>
              <a:rPr lang="en-US" sz="1800" dirty="0" err="1"/>
              <a:t>dpd</a:t>
            </a:r>
            <a:r>
              <a:rPr lang="en-US" sz="1800" dirty="0"/>
              <a:t>", </a:t>
            </a:r>
          </a:p>
          <a:p>
            <a:pPr marL="0" indent="0">
              <a:buNone/>
            </a:pPr>
            <a:r>
              <a:rPr lang="en-US" sz="1800" dirty="0" err="1"/>
              <a:t>swtrt</a:t>
            </a:r>
            <a:r>
              <a:rPr lang="en-US" sz="1800" dirty="0"/>
              <a:t> = "co", </a:t>
            </a:r>
            <a:r>
              <a:rPr lang="en-US" sz="1800" dirty="0" err="1"/>
              <a:t>swtrt_time</a:t>
            </a:r>
            <a:r>
              <a:rPr lang="en-US" sz="1800" dirty="0"/>
              <a:t> = "</a:t>
            </a:r>
            <a:r>
              <a:rPr lang="en-US" sz="1800" dirty="0" err="1"/>
              <a:t>dco</a:t>
            </a:r>
            <a:r>
              <a:rPr lang="en-US" sz="1800" dirty="0"/>
              <a:t>",  </a:t>
            </a:r>
          </a:p>
          <a:p>
            <a:pPr marL="0" indent="0">
              <a:buNone/>
            </a:pPr>
            <a:r>
              <a:rPr lang="en-US" sz="1800" dirty="0" err="1">
                <a:highlight>
                  <a:srgbClr val="FFFF00"/>
                </a:highlight>
              </a:rPr>
              <a:t>base_cov</a:t>
            </a:r>
            <a:r>
              <a:rPr lang="en-US" sz="1800" dirty="0"/>
              <a:t> = c("</a:t>
            </a:r>
            <a:r>
              <a:rPr lang="en-US" sz="1800" dirty="0" err="1"/>
              <a:t>agerand</a:t>
            </a:r>
            <a:r>
              <a:rPr lang="en-US" sz="1800" dirty="0"/>
              <a:t>", "</a:t>
            </a:r>
            <a:r>
              <a:rPr lang="en-US" sz="1800" dirty="0" err="1"/>
              <a:t>sex.f</a:t>
            </a:r>
            <a:r>
              <a:rPr lang="en-US" sz="1800" dirty="0"/>
              <a:t>", "</a:t>
            </a:r>
            <a:r>
              <a:rPr lang="en-US" sz="1800" dirty="0" err="1"/>
              <a:t>tt_Lnum</a:t>
            </a:r>
            <a:r>
              <a:rPr lang="en-US" sz="1800" dirty="0"/>
              <a:t>", "</a:t>
            </a:r>
            <a:r>
              <a:rPr lang="en-US" sz="1800" dirty="0" err="1"/>
              <a:t>rmh_alea.c</a:t>
            </a:r>
            <a:r>
              <a:rPr lang="en-US" sz="1800" dirty="0"/>
              <a:t>",  "</a:t>
            </a:r>
            <a:r>
              <a:rPr lang="en-US" sz="1800" dirty="0" err="1"/>
              <a:t>pathway.f</a:t>
            </a:r>
            <a:r>
              <a:rPr lang="en-US" sz="1800" dirty="0"/>
              <a:t>"),  </a:t>
            </a:r>
          </a:p>
          <a:p>
            <a:pPr marL="0" indent="0">
              <a:buNone/>
            </a:pPr>
            <a:r>
              <a:rPr lang="en-US" sz="1800" dirty="0">
                <a:highlight>
                  <a:srgbClr val="FFFF00"/>
                </a:highlight>
              </a:rPr>
              <a:t>base2_cov </a:t>
            </a:r>
            <a:r>
              <a:rPr lang="en-US" sz="1800" dirty="0"/>
              <a:t>= c("</a:t>
            </a:r>
            <a:r>
              <a:rPr lang="en-US" sz="1800" dirty="0" err="1"/>
              <a:t>agerand</a:t>
            </a:r>
            <a:r>
              <a:rPr lang="en-US" sz="1800" dirty="0"/>
              <a:t>", "</a:t>
            </a:r>
            <a:r>
              <a:rPr lang="en-US" sz="1800" dirty="0" err="1"/>
              <a:t>sex.f</a:t>
            </a:r>
            <a:r>
              <a:rPr lang="en-US" sz="1800" dirty="0"/>
              <a:t>", "</a:t>
            </a:r>
            <a:r>
              <a:rPr lang="en-US" sz="1800" dirty="0" err="1"/>
              <a:t>tt_Lnum</a:t>
            </a:r>
            <a:r>
              <a:rPr lang="en-US" sz="1800" dirty="0"/>
              <a:t>", "</a:t>
            </a:r>
            <a:r>
              <a:rPr lang="en-US" sz="1800" dirty="0" err="1"/>
              <a:t>rmh_alea.c</a:t>
            </a:r>
            <a:r>
              <a:rPr lang="en-US" sz="1800" dirty="0"/>
              <a:t>", "</a:t>
            </a:r>
            <a:r>
              <a:rPr lang="en-US" sz="1800" dirty="0" err="1"/>
              <a:t>pathway.f</a:t>
            </a:r>
            <a:r>
              <a:rPr lang="en-US" sz="1800" dirty="0"/>
              <a:t>", </a:t>
            </a:r>
            <a:r>
              <a:rPr lang="en-US" sz="1800" dirty="0">
                <a:highlight>
                  <a:srgbClr val="FFFF00"/>
                </a:highlight>
              </a:rPr>
              <a:t>"</a:t>
            </a:r>
            <a:r>
              <a:rPr lang="en-US" sz="1800" dirty="0" err="1">
                <a:highlight>
                  <a:srgbClr val="FFFF00"/>
                </a:highlight>
              </a:rPr>
              <a:t>ps</a:t>
            </a:r>
            <a:r>
              <a:rPr lang="en-US" sz="1800" dirty="0">
                <a:highlight>
                  <a:srgbClr val="FFFF00"/>
                </a:highlight>
              </a:rPr>
              <a:t>", "</a:t>
            </a:r>
            <a:r>
              <a:rPr lang="en-US" sz="1800" dirty="0" err="1">
                <a:highlight>
                  <a:srgbClr val="FFFF00"/>
                </a:highlight>
              </a:rPr>
              <a:t>ttc</a:t>
            </a:r>
            <a:r>
              <a:rPr lang="en-US" sz="1800" dirty="0">
                <a:highlight>
                  <a:srgbClr val="FFFF00"/>
                </a:highlight>
              </a:rPr>
              <a:t>", "</a:t>
            </a:r>
            <a:r>
              <a:rPr lang="en-US" sz="1800" dirty="0" err="1">
                <a:highlight>
                  <a:srgbClr val="FFFF00"/>
                </a:highlight>
              </a:rPr>
              <a:t>tran</a:t>
            </a:r>
            <a:r>
              <a:rPr lang="en-US" sz="1800" dirty="0">
                <a:highlight>
                  <a:srgbClr val="FFFF00"/>
                </a:highlight>
              </a:rPr>
              <a:t>"</a:t>
            </a:r>
            <a:r>
              <a:rPr lang="en-US" sz="1800" dirty="0"/>
              <a:t>),  </a:t>
            </a:r>
          </a:p>
          <a:p>
            <a:pPr marL="0" indent="0">
              <a:buNone/>
            </a:pPr>
            <a:r>
              <a:rPr lang="en-US" sz="1800" dirty="0" err="1">
                <a:highlight>
                  <a:srgbClr val="FFFF00"/>
                </a:highlight>
              </a:rPr>
              <a:t>aft_dist</a:t>
            </a:r>
            <a:r>
              <a:rPr lang="en-US" sz="1800" dirty="0">
                <a:highlight>
                  <a:srgbClr val="FFFF00"/>
                </a:highlight>
              </a:rPr>
              <a:t> = "</a:t>
            </a:r>
            <a:r>
              <a:rPr lang="en-US" sz="1800" dirty="0" err="1">
                <a:highlight>
                  <a:srgbClr val="FFFF00"/>
                </a:highlight>
              </a:rPr>
              <a:t>weibull</a:t>
            </a:r>
            <a:r>
              <a:rPr lang="en-US" sz="1800" dirty="0">
                <a:highlight>
                  <a:srgbClr val="FFFF00"/>
                </a:highlight>
              </a:rPr>
              <a:t>"</a:t>
            </a:r>
            <a:r>
              <a:rPr lang="en-US" sz="1800" dirty="0"/>
              <a:t>, alpha = 0.05,  </a:t>
            </a:r>
            <a:r>
              <a:rPr lang="en-US" sz="1800" dirty="0" err="1"/>
              <a:t>recensor</a:t>
            </a:r>
            <a:r>
              <a:rPr lang="en-US" sz="1800" dirty="0"/>
              <a:t> = TRUE, </a:t>
            </a:r>
            <a:r>
              <a:rPr lang="en-US" sz="1800" dirty="0" err="1"/>
              <a:t>swtrt_control_only</a:t>
            </a:r>
            <a:r>
              <a:rPr lang="en-US" sz="1800" dirty="0"/>
              <a:t> = FALSE, offset = 1,  boot = FALSE)</a:t>
            </a:r>
          </a:p>
        </p:txBody>
      </p:sp>
    </p:spTree>
    <p:extLst>
      <p:ext uri="{BB962C8B-B14F-4D97-AF65-F5344CB8AC3E}">
        <p14:creationId xmlns:p14="http://schemas.microsoft.com/office/powerpoint/2010/main" val="8385855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25B68A-9517-ABA6-7645-5F2331DF2FD3}"/>
              </a:ext>
            </a:extLst>
          </p:cNvPr>
          <p:cNvPicPr>
            <a:picLocks noChangeAspect="1"/>
          </p:cNvPicPr>
          <p:nvPr/>
        </p:nvPicPr>
        <p:blipFill>
          <a:blip r:embed="rId2"/>
          <a:stretch>
            <a:fillRect/>
          </a:stretch>
        </p:blipFill>
        <p:spPr>
          <a:xfrm>
            <a:off x="3512573" y="816078"/>
            <a:ext cx="5645579" cy="5062512"/>
          </a:xfrm>
          <a:prstGeom prst="rect">
            <a:avLst/>
          </a:prstGeom>
        </p:spPr>
      </p:pic>
    </p:spTree>
    <p:extLst>
      <p:ext uri="{BB962C8B-B14F-4D97-AF65-F5344CB8AC3E}">
        <p14:creationId xmlns:p14="http://schemas.microsoft.com/office/powerpoint/2010/main" val="2400476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52721AE-7748-4D5B-F8BA-52A77EFD9A35}"/>
              </a:ext>
            </a:extLst>
          </p:cNvPr>
          <p:cNvPicPr>
            <a:picLocks noChangeAspect="1"/>
          </p:cNvPicPr>
          <p:nvPr/>
        </p:nvPicPr>
        <p:blipFill>
          <a:blip r:embed="rId2"/>
          <a:stretch>
            <a:fillRect/>
          </a:stretch>
        </p:blipFill>
        <p:spPr>
          <a:xfrm>
            <a:off x="1557511" y="1582993"/>
            <a:ext cx="9267117" cy="2772697"/>
          </a:xfrm>
          <a:prstGeom prst="rect">
            <a:avLst/>
          </a:prstGeom>
        </p:spPr>
      </p:pic>
    </p:spTree>
    <p:extLst>
      <p:ext uri="{BB962C8B-B14F-4D97-AF65-F5344CB8AC3E}">
        <p14:creationId xmlns:p14="http://schemas.microsoft.com/office/powerpoint/2010/main" val="3298063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A30309-CBED-B56C-8F8B-D7446BFE0ABA}"/>
              </a:ext>
            </a:extLst>
          </p:cNvPr>
          <p:cNvPicPr>
            <a:picLocks noChangeAspect="1"/>
          </p:cNvPicPr>
          <p:nvPr/>
        </p:nvPicPr>
        <p:blipFill>
          <a:blip r:embed="rId2"/>
          <a:stretch>
            <a:fillRect/>
          </a:stretch>
        </p:blipFill>
        <p:spPr>
          <a:xfrm>
            <a:off x="1860245" y="1629696"/>
            <a:ext cx="8471509" cy="2379407"/>
          </a:xfrm>
          <a:prstGeom prst="rect">
            <a:avLst/>
          </a:prstGeom>
        </p:spPr>
      </p:pic>
    </p:spTree>
    <p:extLst>
      <p:ext uri="{BB962C8B-B14F-4D97-AF65-F5344CB8AC3E}">
        <p14:creationId xmlns:p14="http://schemas.microsoft.com/office/powerpoint/2010/main" val="17981857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C345F-5EFD-AEE0-8099-39291DF54026}"/>
              </a:ext>
            </a:extLst>
          </p:cNvPr>
          <p:cNvSpPr>
            <a:spLocks noGrp="1"/>
          </p:cNvSpPr>
          <p:nvPr>
            <p:ph type="title"/>
          </p:nvPr>
        </p:nvSpPr>
        <p:spPr/>
        <p:txBody>
          <a:bodyPr/>
          <a:lstStyle/>
          <a:p>
            <a:r>
              <a:rPr lang="en-US" dirty="0"/>
              <a:t>SAS</a:t>
            </a:r>
          </a:p>
        </p:txBody>
      </p:sp>
      <p:sp>
        <p:nvSpPr>
          <p:cNvPr id="3" name="Content Placeholder 2">
            <a:extLst>
              <a:ext uri="{FF2B5EF4-FFF2-40B4-BE49-F238E27FC236}">
                <a16:creationId xmlns:a16="http://schemas.microsoft.com/office/drawing/2014/main" id="{4D4A7A33-F04E-DBD2-87DE-8344FF5E0AA0}"/>
              </a:ext>
            </a:extLst>
          </p:cNvPr>
          <p:cNvSpPr>
            <a:spLocks noGrp="1"/>
          </p:cNvSpPr>
          <p:nvPr>
            <p:ph idx="1"/>
          </p:nvPr>
        </p:nvSpPr>
        <p:spPr/>
        <p:txBody>
          <a:bodyPr>
            <a:normAutofit/>
          </a:bodyPr>
          <a:lstStyle/>
          <a:p>
            <a:pPr marL="0" indent="0">
              <a:buNone/>
            </a:pPr>
            <a:r>
              <a:rPr lang="en-US" dirty="0"/>
              <a:t>Data process: </a:t>
            </a:r>
          </a:p>
          <a:p>
            <a:pPr marL="0" indent="0">
              <a:buNone/>
            </a:pPr>
            <a:endParaRPr lang="en-US" dirty="0"/>
          </a:p>
          <a:p>
            <a:pPr marL="0" indent="0">
              <a:buNone/>
            </a:pPr>
            <a:r>
              <a:rPr lang="en-US" dirty="0"/>
              <a:t>From longitudinal long data format to one record per row for AFT modeling.</a:t>
            </a:r>
          </a:p>
        </p:txBody>
      </p:sp>
    </p:spTree>
    <p:extLst>
      <p:ext uri="{BB962C8B-B14F-4D97-AF65-F5344CB8AC3E}">
        <p14:creationId xmlns:p14="http://schemas.microsoft.com/office/powerpoint/2010/main" val="35985139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E7E6EBF-15D5-C23A-7575-A4E3849915B3}"/>
              </a:ext>
            </a:extLst>
          </p:cNvPr>
          <p:cNvPicPr>
            <a:picLocks noChangeAspect="1"/>
          </p:cNvPicPr>
          <p:nvPr/>
        </p:nvPicPr>
        <p:blipFill>
          <a:blip r:embed="rId2"/>
          <a:stretch>
            <a:fillRect/>
          </a:stretch>
        </p:blipFill>
        <p:spPr>
          <a:xfrm>
            <a:off x="807606" y="1516156"/>
            <a:ext cx="9801262" cy="3331148"/>
          </a:xfrm>
          <a:prstGeom prst="rect">
            <a:avLst/>
          </a:prstGeom>
        </p:spPr>
      </p:pic>
      <p:sp>
        <p:nvSpPr>
          <p:cNvPr id="6" name="TextBox 5">
            <a:extLst>
              <a:ext uri="{FF2B5EF4-FFF2-40B4-BE49-F238E27FC236}">
                <a16:creationId xmlns:a16="http://schemas.microsoft.com/office/drawing/2014/main" id="{5136A527-6DC2-46CC-4F70-C2DE60496123}"/>
              </a:ext>
            </a:extLst>
          </p:cNvPr>
          <p:cNvSpPr txBox="1"/>
          <p:nvPr/>
        </p:nvSpPr>
        <p:spPr>
          <a:xfrm>
            <a:off x="630625" y="747253"/>
            <a:ext cx="3135130" cy="523220"/>
          </a:xfrm>
          <a:prstGeom prst="rect">
            <a:avLst/>
          </a:prstGeom>
          <a:noFill/>
        </p:spPr>
        <p:txBody>
          <a:bodyPr wrap="square" rtlCol="0">
            <a:spAutoFit/>
          </a:bodyPr>
          <a:lstStyle/>
          <a:p>
            <a:r>
              <a:rPr lang="en-US" sz="2800" dirty="0"/>
              <a:t>Derive phi</a:t>
            </a:r>
          </a:p>
        </p:txBody>
      </p:sp>
      <p:sp>
        <p:nvSpPr>
          <p:cNvPr id="7" name="TextBox 6">
            <a:extLst>
              <a:ext uri="{FF2B5EF4-FFF2-40B4-BE49-F238E27FC236}">
                <a16:creationId xmlns:a16="http://schemas.microsoft.com/office/drawing/2014/main" id="{AF7336A7-53BB-A12B-48BB-B799AE06B0E7}"/>
              </a:ext>
            </a:extLst>
          </p:cNvPr>
          <p:cNvSpPr txBox="1"/>
          <p:nvPr/>
        </p:nvSpPr>
        <p:spPr>
          <a:xfrm>
            <a:off x="6695769" y="4847304"/>
            <a:ext cx="5663380" cy="646331"/>
          </a:xfrm>
          <a:prstGeom prst="rect">
            <a:avLst/>
          </a:prstGeom>
          <a:noFill/>
        </p:spPr>
        <p:txBody>
          <a:bodyPr wrap="square" rtlCol="0">
            <a:spAutoFit/>
          </a:bodyPr>
          <a:lstStyle/>
          <a:p>
            <a:r>
              <a:rPr lang="en-US" dirty="0"/>
              <a:t>Use AIC/BIC to pick which parametric distribution fits better</a:t>
            </a:r>
          </a:p>
        </p:txBody>
      </p:sp>
    </p:spTree>
    <p:extLst>
      <p:ext uri="{BB962C8B-B14F-4D97-AF65-F5344CB8AC3E}">
        <p14:creationId xmlns:p14="http://schemas.microsoft.com/office/powerpoint/2010/main" val="3586662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F016E1-F97E-BEB9-1AC7-8BF9B2C3A3FE}"/>
              </a:ext>
            </a:extLst>
          </p:cNvPr>
          <p:cNvPicPr>
            <a:picLocks noGrp="1" noChangeAspect="1"/>
          </p:cNvPicPr>
          <p:nvPr>
            <p:ph idx="1"/>
          </p:nvPr>
        </p:nvPicPr>
        <p:blipFill>
          <a:blip r:embed="rId2"/>
          <a:stretch>
            <a:fillRect/>
          </a:stretch>
        </p:blipFill>
        <p:spPr>
          <a:xfrm>
            <a:off x="3600894" y="491613"/>
            <a:ext cx="5445852" cy="5508369"/>
          </a:xfrm>
          <a:prstGeom prst="rect">
            <a:avLst/>
          </a:prstGeom>
        </p:spPr>
      </p:pic>
    </p:spTree>
    <p:extLst>
      <p:ext uri="{BB962C8B-B14F-4D97-AF65-F5344CB8AC3E}">
        <p14:creationId xmlns:p14="http://schemas.microsoft.com/office/powerpoint/2010/main" val="37549346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AD433-E390-B6F1-1673-D7158B64D6D8}"/>
              </a:ext>
            </a:extLst>
          </p:cNvPr>
          <p:cNvSpPr>
            <a:spLocks noGrp="1"/>
          </p:cNvSpPr>
          <p:nvPr>
            <p:ph type="title"/>
          </p:nvPr>
        </p:nvSpPr>
        <p:spPr>
          <a:xfrm>
            <a:off x="501445" y="365125"/>
            <a:ext cx="10852355" cy="2083107"/>
          </a:xfrm>
        </p:spPr>
        <p:txBody>
          <a:bodyPr>
            <a:normAutofit/>
          </a:bodyPr>
          <a:lstStyle/>
          <a:p>
            <a:r>
              <a:rPr lang="en-US" sz="4000" dirty="0"/>
              <a:t>For switchers, after treatment switch, recompute survival time as U = Tc + Ta/exp(phi), phi is from AFT model </a:t>
            </a:r>
          </a:p>
        </p:txBody>
      </p:sp>
      <p:pic>
        <p:nvPicPr>
          <p:cNvPr id="5" name="Content Placeholder 4">
            <a:extLst>
              <a:ext uri="{FF2B5EF4-FFF2-40B4-BE49-F238E27FC236}">
                <a16:creationId xmlns:a16="http://schemas.microsoft.com/office/drawing/2014/main" id="{47937FC7-182B-62A6-FEF1-2EADA8BB429A}"/>
              </a:ext>
            </a:extLst>
          </p:cNvPr>
          <p:cNvPicPr>
            <a:picLocks noGrp="1" noChangeAspect="1"/>
          </p:cNvPicPr>
          <p:nvPr>
            <p:ph idx="1"/>
          </p:nvPr>
        </p:nvPicPr>
        <p:blipFill>
          <a:blip r:embed="rId2"/>
          <a:stretch>
            <a:fillRect/>
          </a:stretch>
        </p:blipFill>
        <p:spPr>
          <a:xfrm>
            <a:off x="2411823" y="2759282"/>
            <a:ext cx="7849628" cy="2083107"/>
          </a:xfrm>
          <a:prstGeom prst="rect">
            <a:avLst/>
          </a:prstGeom>
        </p:spPr>
      </p:pic>
    </p:spTree>
    <p:extLst>
      <p:ext uri="{BB962C8B-B14F-4D97-AF65-F5344CB8AC3E}">
        <p14:creationId xmlns:p14="http://schemas.microsoft.com/office/powerpoint/2010/main" val="15914754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0FACF-C77F-6CC0-4EF6-7F4D64C64946}"/>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F14B87C2-01CD-8D33-9F53-194CD764DF7C}"/>
              </a:ext>
            </a:extLst>
          </p:cNvPr>
          <p:cNvPicPr>
            <a:picLocks noGrp="1" noChangeAspect="1"/>
          </p:cNvPicPr>
          <p:nvPr>
            <p:ph idx="1"/>
          </p:nvPr>
        </p:nvPicPr>
        <p:blipFill>
          <a:blip r:embed="rId2"/>
          <a:stretch>
            <a:fillRect/>
          </a:stretch>
        </p:blipFill>
        <p:spPr>
          <a:xfrm>
            <a:off x="1748052" y="2385912"/>
            <a:ext cx="8216843" cy="1798899"/>
          </a:xfrm>
          <a:prstGeom prst="rect">
            <a:avLst/>
          </a:prstGeom>
        </p:spPr>
      </p:pic>
    </p:spTree>
    <p:extLst>
      <p:ext uri="{BB962C8B-B14F-4D97-AF65-F5344CB8AC3E}">
        <p14:creationId xmlns:p14="http://schemas.microsoft.com/office/powerpoint/2010/main" val="6680402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755402B-A167-839C-9FE8-17892F5DFBDF}"/>
              </a:ext>
            </a:extLst>
          </p:cNvPr>
          <p:cNvPicPr>
            <a:picLocks noGrp="1" noChangeAspect="1"/>
          </p:cNvPicPr>
          <p:nvPr>
            <p:ph idx="1"/>
          </p:nvPr>
        </p:nvPicPr>
        <p:blipFill>
          <a:blip r:embed="rId2"/>
          <a:srcRect r="1444" b="-539"/>
          <a:stretch>
            <a:fillRect/>
          </a:stretch>
        </p:blipFill>
        <p:spPr>
          <a:xfrm>
            <a:off x="2274070" y="1789419"/>
            <a:ext cx="7381207" cy="2743252"/>
          </a:xfrm>
          <a:prstGeom prst="rect">
            <a:avLst/>
          </a:prstGeom>
        </p:spPr>
      </p:pic>
    </p:spTree>
    <p:extLst>
      <p:ext uri="{BB962C8B-B14F-4D97-AF65-F5344CB8AC3E}">
        <p14:creationId xmlns:p14="http://schemas.microsoft.com/office/powerpoint/2010/main" val="2788867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19D7F-9064-EC92-A3E3-10624E7AE047}"/>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29427B82-F17D-7FCD-7181-B35948029866}"/>
              </a:ext>
            </a:extLst>
          </p:cNvPr>
          <p:cNvSpPr>
            <a:spLocks noGrp="1"/>
          </p:cNvSpPr>
          <p:nvPr>
            <p:ph idx="1"/>
          </p:nvPr>
        </p:nvSpPr>
        <p:spPr/>
        <p:txBody>
          <a:bodyPr/>
          <a:lstStyle/>
          <a:p>
            <a:pPr marL="0" indent="0">
              <a:buNone/>
            </a:pPr>
            <a:r>
              <a:rPr lang="en-US" dirty="0"/>
              <a:t>Treatment switching complicates survival analyses because standard ITT can underestimate effects.</a:t>
            </a:r>
          </a:p>
          <a:p>
            <a:pPr marL="0" indent="0">
              <a:buNone/>
            </a:pPr>
            <a:endParaRPr lang="en-US" dirty="0"/>
          </a:p>
          <a:p>
            <a:pPr>
              <a:buFontTx/>
              <a:buChar char="-"/>
            </a:pPr>
            <a:r>
              <a:rPr lang="en-US" dirty="0"/>
              <a:t>MSM/IPCW re-weights data to adjust for the informative censoring due to switching.</a:t>
            </a:r>
          </a:p>
          <a:p>
            <a:pPr>
              <a:buFontTx/>
              <a:buChar char="-"/>
            </a:pPr>
            <a:r>
              <a:rPr lang="en-US" dirty="0"/>
              <a:t>RPSFTM re-scales survival times assuming a constant effect across switchers and non-switchers.</a:t>
            </a:r>
          </a:p>
          <a:p>
            <a:pPr>
              <a:buFontTx/>
              <a:buChar char="-"/>
            </a:pPr>
            <a:r>
              <a:rPr lang="en-US" dirty="0"/>
              <a:t>TSE uses an AFT model in two stages to construct adjusted survival times. </a:t>
            </a:r>
          </a:p>
        </p:txBody>
      </p:sp>
    </p:spTree>
    <p:extLst>
      <p:ext uri="{BB962C8B-B14F-4D97-AF65-F5344CB8AC3E}">
        <p14:creationId xmlns:p14="http://schemas.microsoft.com/office/powerpoint/2010/main" val="42936733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D4A78C-B0F6-C971-6565-18B74AE0341E}"/>
              </a:ext>
            </a:extLst>
          </p:cNvPr>
          <p:cNvPicPr>
            <a:picLocks noChangeAspect="1"/>
          </p:cNvPicPr>
          <p:nvPr/>
        </p:nvPicPr>
        <p:blipFill>
          <a:blip r:embed="rId2"/>
          <a:srcRect t="11341" r="1151"/>
          <a:stretch>
            <a:fillRect/>
          </a:stretch>
        </p:blipFill>
        <p:spPr>
          <a:xfrm>
            <a:off x="339464" y="475487"/>
            <a:ext cx="11513071" cy="5726069"/>
          </a:xfrm>
          <a:prstGeom prst="rect">
            <a:avLst/>
          </a:prstGeom>
        </p:spPr>
      </p:pic>
    </p:spTree>
    <p:extLst>
      <p:ext uri="{BB962C8B-B14F-4D97-AF65-F5344CB8AC3E}">
        <p14:creationId xmlns:p14="http://schemas.microsoft.com/office/powerpoint/2010/main" val="1313725497"/>
      </p:ext>
    </p:extLst>
  </p:cSld>
  <p:clrMapOvr>
    <a:masterClrMapping/>
  </p:clrMapOvr>
  <mc:AlternateContent xmlns:mc="http://schemas.openxmlformats.org/markup-compatibility/2006" xmlns:p14="http://schemas.microsoft.com/office/powerpoint/2010/main">
    <mc:Choice Requires="p14">
      <p:transition spd="slow" p14:dur="2000" advTm="2448"/>
    </mc:Choice>
    <mc:Fallback xmlns="">
      <p:transition spd="slow" advTm="2448"/>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7B6C6E-39D9-AD8F-BB44-719AF861ED28}"/>
              </a:ext>
            </a:extLst>
          </p:cNvPr>
          <p:cNvPicPr>
            <a:picLocks noChangeAspect="1"/>
          </p:cNvPicPr>
          <p:nvPr/>
        </p:nvPicPr>
        <p:blipFill>
          <a:blip r:embed="rId2"/>
          <a:stretch>
            <a:fillRect/>
          </a:stretch>
        </p:blipFill>
        <p:spPr>
          <a:xfrm>
            <a:off x="491992" y="727586"/>
            <a:ext cx="10719502" cy="5604387"/>
          </a:xfrm>
          <a:prstGeom prst="rect">
            <a:avLst/>
          </a:prstGeom>
        </p:spPr>
      </p:pic>
    </p:spTree>
    <p:extLst>
      <p:ext uri="{BB962C8B-B14F-4D97-AF65-F5344CB8AC3E}">
        <p14:creationId xmlns:p14="http://schemas.microsoft.com/office/powerpoint/2010/main" val="1875358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B95C543-7E8E-B664-60B6-8CADD8F40544}"/>
              </a:ext>
            </a:extLst>
          </p:cNvPr>
          <p:cNvSpPr>
            <a:spLocks noGrp="1"/>
          </p:cNvSpPr>
          <p:nvPr>
            <p:ph type="title"/>
          </p:nvPr>
        </p:nvSpPr>
        <p:spPr/>
        <p:txBody>
          <a:bodyPr>
            <a:normAutofit fontScale="90000"/>
          </a:bodyPr>
          <a:lstStyle/>
          <a:p>
            <a:br>
              <a:rPr lang="en-US" dirty="0"/>
            </a:br>
            <a:r>
              <a:rPr lang="en-US" dirty="0"/>
              <a:t>Best practice recommendation</a:t>
            </a:r>
            <a:br>
              <a:rPr lang="en-US" dirty="0"/>
            </a:br>
            <a:endParaRPr lang="en-US" dirty="0"/>
          </a:p>
        </p:txBody>
      </p:sp>
      <p:sp>
        <p:nvSpPr>
          <p:cNvPr id="3" name="Content Placeholder 2">
            <a:extLst>
              <a:ext uri="{FF2B5EF4-FFF2-40B4-BE49-F238E27FC236}">
                <a16:creationId xmlns:a16="http://schemas.microsoft.com/office/drawing/2014/main" id="{43D02722-4179-09D3-73F4-451F5CE82170}"/>
              </a:ext>
            </a:extLst>
          </p:cNvPr>
          <p:cNvSpPr>
            <a:spLocks noGrp="1"/>
          </p:cNvSpPr>
          <p:nvPr>
            <p:ph idx="1"/>
          </p:nvPr>
        </p:nvSpPr>
        <p:spPr>
          <a:xfrm>
            <a:off x="838200" y="1542161"/>
            <a:ext cx="10515600" cy="4351338"/>
          </a:xfrm>
        </p:spPr>
        <p:txBody>
          <a:bodyPr>
            <a:normAutofit/>
          </a:bodyPr>
          <a:lstStyle/>
          <a:p>
            <a:r>
              <a:rPr lang="en-US" dirty="0"/>
              <a:t>Up front planning </a:t>
            </a:r>
          </a:p>
          <a:p>
            <a:r>
              <a:rPr lang="en-US" dirty="0"/>
              <a:t>Pre-specify analysis details in the SAP, including a complete list of confounding covariates and variable selection method, etc.</a:t>
            </a:r>
          </a:p>
          <a:p>
            <a:r>
              <a:rPr lang="en-US" dirty="0"/>
              <a:t>Early engagement with regulatory agencies</a:t>
            </a:r>
          </a:p>
          <a:p>
            <a:r>
              <a:rPr lang="en-US" dirty="0"/>
              <a:t>Number and percentage of patients with treatment crossover or subsequent therapy need to be summarized by treatment arm</a:t>
            </a:r>
          </a:p>
          <a:p>
            <a:r>
              <a:rPr lang="en-US" dirty="0"/>
              <a:t>More than one method (better if belonging to different classes) needs to be used to demonstrate the robustness of the causal OS treatment benefit, e.g., TSE and MSM</a:t>
            </a:r>
          </a:p>
          <a:p>
            <a:endParaRPr lang="en-US" dirty="0"/>
          </a:p>
          <a:p>
            <a:pPr marL="0" indent="0">
              <a:buNone/>
            </a:pPr>
            <a:endParaRPr lang="en-US" dirty="0"/>
          </a:p>
        </p:txBody>
      </p:sp>
    </p:spTree>
    <p:extLst>
      <p:ext uri="{BB962C8B-B14F-4D97-AF65-F5344CB8AC3E}">
        <p14:creationId xmlns:p14="http://schemas.microsoft.com/office/powerpoint/2010/main" val="18914057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27A1ADC-7B01-4A78-8934-4FC94451AF6A}">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5589</TotalTime>
  <Words>2102</Words>
  <Application>Microsoft Office PowerPoint</Application>
  <PresentationFormat>Widescreen</PresentationFormat>
  <Paragraphs>258</Paragraphs>
  <Slides>41</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Aptos</vt:lpstr>
      <vt:lpstr>Aptos Display</vt:lpstr>
      <vt:lpstr>Arial</vt:lpstr>
      <vt:lpstr>Cambria Math</vt:lpstr>
      <vt:lpstr>Office Theme</vt:lpstr>
      <vt:lpstr>Survival Analysis Methods Correcting  for Treatment Switching Effects in  RCTs: Theory and SAS/R Code (Part II)</vt:lpstr>
      <vt:lpstr>Recap Why Treatment-Switching Is a Problem</vt:lpstr>
      <vt:lpstr>PowerPoint Presentation</vt:lpstr>
      <vt:lpstr>Recap Weighting Methods</vt:lpstr>
      <vt:lpstr>Rank Preserving Structure Failure Time Model (RPSFTM) Conceptually </vt:lpstr>
      <vt:lpstr>Rank Preserving Structure Failure Time Model (RPSFTM) Mathematical Formulation</vt:lpstr>
      <vt:lpstr>Rank Preserving Structure Failure Time Model (RPSFTM) Re-censoring</vt:lpstr>
      <vt:lpstr>Rank Preserving Structure Failure Time Model (RPSFTM) How Is ψ Estimated</vt:lpstr>
      <vt:lpstr>Rank Preserving Structure Failure Time Model (RPSFTM) How Is ψ Estimated – G-estimation</vt:lpstr>
      <vt:lpstr>Rank Preserving Structure Failure Time Model (RPSFTM) Assumptions</vt:lpstr>
      <vt:lpstr>Rank Preserving Structure Failure Time Model (RPSFTM) R Code -  rpsftm package</vt:lpstr>
      <vt:lpstr>Rank Preserving Structure Failure Time Model (RPSFTM) R Code -  ITT analysis</vt:lpstr>
      <vt:lpstr>Rank Preserving Structure Failure Time Model (RPSFTM) R Code -  RPSFTM </vt:lpstr>
      <vt:lpstr>Rank Preserving Structure Failure Time Model (RPSFTM) SAS Code</vt:lpstr>
      <vt:lpstr>Rank Preserving Structure Failure Time Model (RPSFTM) Pros and Cons</vt:lpstr>
      <vt:lpstr>Two Stage Estimation </vt:lpstr>
      <vt:lpstr>Two Stage Estimation </vt:lpstr>
      <vt:lpstr>Step 1: </vt:lpstr>
      <vt:lpstr>Step 2: </vt:lpstr>
      <vt:lpstr>AFT model</vt:lpstr>
      <vt:lpstr>Step 3:</vt:lpstr>
      <vt:lpstr> Accommodating informative censoring </vt:lpstr>
      <vt:lpstr>Limitations</vt:lpstr>
      <vt:lpstr>Limitations</vt:lpstr>
      <vt:lpstr>Limitations </vt:lpstr>
      <vt:lpstr>R code</vt:lpstr>
      <vt:lpstr>PowerPoint Presentation</vt:lpstr>
      <vt:lpstr>PowerPoint Presentation</vt:lpstr>
      <vt:lpstr>PowerPoint Presentation</vt:lpstr>
      <vt:lpstr>PowerPoint Presentation</vt:lpstr>
      <vt:lpstr>PowerPoint Presentation</vt:lpstr>
      <vt:lpstr>SAS</vt:lpstr>
      <vt:lpstr>PowerPoint Presentation</vt:lpstr>
      <vt:lpstr>PowerPoint Presentation</vt:lpstr>
      <vt:lpstr>For switchers, after treatment switch, recompute survival time as U = Tc + Ta/exp(phi), phi is from AFT model </vt:lpstr>
      <vt:lpstr>PowerPoint Presentation</vt:lpstr>
      <vt:lpstr>PowerPoint Presentation</vt:lpstr>
      <vt:lpstr>Summary</vt:lpstr>
      <vt:lpstr>PowerPoint Presentation</vt:lpstr>
      <vt:lpstr>PowerPoint Presentation</vt:lpstr>
      <vt:lpstr> Best practice recommendation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Cao, Biwei</dc:creator>
  <cp:lastModifiedBy>Cao, Biwei</cp:lastModifiedBy>
  <cp:revision>5</cp:revision>
  <dcterms:created xsi:type="dcterms:W3CDTF">2025-12-09T15:30:18Z</dcterms:created>
  <dcterms:modified xsi:type="dcterms:W3CDTF">2026-01-21T21:19:26Z</dcterms:modified>
</cp:coreProperties>
</file>